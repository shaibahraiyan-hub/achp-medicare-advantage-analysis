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Roboto Bold" charset="1" panose="02000000000000000000"/>
      <p:regular r:id="rId34"/>
    </p:embeddedFont>
    <p:embeddedFont>
      <p:font typeface="League Spartan" charset="1" panose="00000800000000000000"/>
      <p:regular r:id="rId35"/>
    </p:embeddedFont>
    <p:embeddedFont>
      <p:font typeface="Poppins" charset="1" panose="00000500000000000000"/>
      <p:regular r:id="rId36"/>
    </p:embeddedFont>
    <p:embeddedFont>
      <p:font typeface="Poppins Bold" charset="1" panose="00000800000000000000"/>
      <p:regular r:id="rId37"/>
    </p:embeddedFont>
    <p:embeddedFont>
      <p:font typeface="Archivo Black" charset="1" panose="020B0A03020202020B04"/>
      <p:regular r:id="rId38"/>
    </p:embeddedFont>
    <p:embeddedFont>
      <p:font typeface="Open Sauce" charset="1" panose="00000500000000000000"/>
      <p:regular r:id="rId39"/>
    </p:embeddedFont>
    <p:embeddedFont>
      <p:font typeface="Arial MT Pro Bold" charset="1" panose="020B0802020202020204"/>
      <p:regular r:id="rId40"/>
    </p:embeddedFont>
    <p:embeddedFont>
      <p:font typeface="Times New Roman MT Bold" charset="1" panose="02030802070405020303"/>
      <p:regular r:id="rId41"/>
    </p:embeddedFont>
    <p:embeddedFont>
      <p:font typeface="Times New Roman MT" charset="1" panose="02030502070405020303"/>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cms.gov/data-research/statistics-trends-and-reports/medicare-advantagepart-d-contract-and-enrollment-data/ma-state/county-penetration?utm"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colab.research.google.com/drive/1wcI2N_RI7Ywe7S5g4nAe8xIknR65TBnv?usp=sharing"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148" r="0" b="-9148"/>
            </a:stretch>
          </a:blipFill>
        </p:spPr>
      </p:sp>
      <p:grpSp>
        <p:nvGrpSpPr>
          <p:cNvPr name="Group 3" id="3"/>
          <p:cNvGrpSpPr/>
          <p:nvPr/>
        </p:nvGrpSpPr>
        <p:grpSpPr>
          <a:xfrm rot="0">
            <a:off x="1717675" y="0"/>
            <a:ext cx="805519" cy="2673350"/>
            <a:chOff x="0" y="0"/>
            <a:chExt cx="212153" cy="704092"/>
          </a:xfrm>
        </p:grpSpPr>
        <p:sp>
          <p:nvSpPr>
            <p:cNvPr name="Freeform 4" id="4"/>
            <p:cNvSpPr/>
            <p:nvPr/>
          </p:nvSpPr>
          <p:spPr>
            <a:xfrm flipH="false" flipV="false" rot="0">
              <a:off x="0" y="0"/>
              <a:ext cx="212153" cy="704092"/>
            </a:xfrm>
            <a:custGeom>
              <a:avLst/>
              <a:gdLst/>
              <a:ahLst/>
              <a:cxnLst/>
              <a:rect r="r" b="b" t="t" l="l"/>
              <a:pathLst>
                <a:path h="704092" w="212153">
                  <a:moveTo>
                    <a:pt x="0" y="0"/>
                  </a:moveTo>
                  <a:lnTo>
                    <a:pt x="212153" y="0"/>
                  </a:lnTo>
                  <a:lnTo>
                    <a:pt x="212153" y="704092"/>
                  </a:lnTo>
                  <a:lnTo>
                    <a:pt x="0" y="704092"/>
                  </a:lnTo>
                  <a:close/>
                </a:path>
              </a:pathLst>
            </a:custGeom>
            <a:solidFill>
              <a:srgbClr val="EDC254"/>
            </a:solidFill>
          </p:spPr>
        </p:sp>
        <p:sp>
          <p:nvSpPr>
            <p:cNvPr name="TextBox 5" id="5"/>
            <p:cNvSpPr txBox="true"/>
            <p:nvPr/>
          </p:nvSpPr>
          <p:spPr>
            <a:xfrm>
              <a:off x="0" y="-47625"/>
              <a:ext cx="212153" cy="75171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17675" y="7613650"/>
            <a:ext cx="805519" cy="2673350"/>
            <a:chOff x="0" y="0"/>
            <a:chExt cx="212153" cy="704092"/>
          </a:xfrm>
        </p:grpSpPr>
        <p:sp>
          <p:nvSpPr>
            <p:cNvPr name="Freeform 7" id="7"/>
            <p:cNvSpPr/>
            <p:nvPr/>
          </p:nvSpPr>
          <p:spPr>
            <a:xfrm flipH="false" flipV="false" rot="0">
              <a:off x="0" y="0"/>
              <a:ext cx="212153" cy="704092"/>
            </a:xfrm>
            <a:custGeom>
              <a:avLst/>
              <a:gdLst/>
              <a:ahLst/>
              <a:cxnLst/>
              <a:rect r="r" b="b" t="t" l="l"/>
              <a:pathLst>
                <a:path h="704092" w="212153">
                  <a:moveTo>
                    <a:pt x="0" y="0"/>
                  </a:moveTo>
                  <a:lnTo>
                    <a:pt x="212153" y="0"/>
                  </a:lnTo>
                  <a:lnTo>
                    <a:pt x="212153" y="704092"/>
                  </a:lnTo>
                  <a:lnTo>
                    <a:pt x="0" y="704092"/>
                  </a:lnTo>
                  <a:close/>
                </a:path>
              </a:pathLst>
            </a:custGeom>
            <a:solidFill>
              <a:srgbClr val="EDC254"/>
            </a:solidFill>
          </p:spPr>
        </p:sp>
        <p:sp>
          <p:nvSpPr>
            <p:cNvPr name="TextBox 8" id="8"/>
            <p:cNvSpPr txBox="true"/>
            <p:nvPr/>
          </p:nvSpPr>
          <p:spPr>
            <a:xfrm>
              <a:off x="0" y="-47625"/>
              <a:ext cx="212153" cy="75171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300200" y="3190875"/>
            <a:ext cx="2546350" cy="7410450"/>
            <a:chOff x="0" y="0"/>
            <a:chExt cx="670644" cy="1951723"/>
          </a:xfrm>
        </p:grpSpPr>
        <p:sp>
          <p:nvSpPr>
            <p:cNvPr name="Freeform 10" id="10"/>
            <p:cNvSpPr/>
            <p:nvPr/>
          </p:nvSpPr>
          <p:spPr>
            <a:xfrm flipH="false" flipV="false" rot="0">
              <a:off x="0" y="0"/>
              <a:ext cx="670644" cy="1951724"/>
            </a:xfrm>
            <a:custGeom>
              <a:avLst/>
              <a:gdLst/>
              <a:ahLst/>
              <a:cxnLst/>
              <a:rect r="r" b="b" t="t" l="l"/>
              <a:pathLst>
                <a:path h="1951724" w="670644">
                  <a:moveTo>
                    <a:pt x="155060" y="0"/>
                  </a:moveTo>
                  <a:lnTo>
                    <a:pt x="515583" y="0"/>
                  </a:lnTo>
                  <a:cubicBezTo>
                    <a:pt x="601221" y="0"/>
                    <a:pt x="670644" y="69423"/>
                    <a:pt x="670644" y="155060"/>
                  </a:cubicBezTo>
                  <a:lnTo>
                    <a:pt x="670644" y="1796663"/>
                  </a:lnTo>
                  <a:cubicBezTo>
                    <a:pt x="670644" y="1882301"/>
                    <a:pt x="601221" y="1951724"/>
                    <a:pt x="515583" y="1951724"/>
                  </a:cubicBezTo>
                  <a:lnTo>
                    <a:pt x="155060" y="1951724"/>
                  </a:lnTo>
                  <a:cubicBezTo>
                    <a:pt x="113936" y="1951724"/>
                    <a:pt x="74496" y="1935387"/>
                    <a:pt x="45416" y="1906307"/>
                  </a:cubicBezTo>
                  <a:cubicBezTo>
                    <a:pt x="16337" y="1877228"/>
                    <a:pt x="0" y="1837788"/>
                    <a:pt x="0" y="1796663"/>
                  </a:cubicBezTo>
                  <a:lnTo>
                    <a:pt x="0" y="155060"/>
                  </a:lnTo>
                  <a:cubicBezTo>
                    <a:pt x="0" y="69423"/>
                    <a:pt x="69423" y="0"/>
                    <a:pt x="155060" y="0"/>
                  </a:cubicBezTo>
                  <a:close/>
                </a:path>
              </a:pathLst>
            </a:custGeom>
            <a:solidFill>
              <a:srgbClr val="EDC254"/>
            </a:solidFill>
          </p:spPr>
        </p:sp>
        <p:sp>
          <p:nvSpPr>
            <p:cNvPr name="TextBox 11" id="11"/>
            <p:cNvSpPr txBox="true"/>
            <p:nvPr/>
          </p:nvSpPr>
          <p:spPr>
            <a:xfrm>
              <a:off x="0" y="-47625"/>
              <a:ext cx="670644" cy="199934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17675" y="3238271"/>
            <a:ext cx="5118304" cy="980101"/>
          </a:xfrm>
          <a:prstGeom prst="rect">
            <a:avLst/>
          </a:prstGeom>
        </p:spPr>
        <p:txBody>
          <a:bodyPr anchor="t" rtlCol="false" tIns="0" lIns="0" bIns="0" rIns="0">
            <a:spAutoFit/>
          </a:bodyPr>
          <a:lstStyle/>
          <a:p>
            <a:pPr algn="l">
              <a:lnSpc>
                <a:spcPts val="7928"/>
              </a:lnSpc>
              <a:spcBef>
                <a:spcPct val="0"/>
              </a:spcBef>
            </a:pPr>
            <a:r>
              <a:rPr lang="en-US" b="true" sz="5663">
                <a:solidFill>
                  <a:srgbClr val="000000"/>
                </a:solidFill>
                <a:latin typeface="Roboto Bold"/>
                <a:ea typeface="Roboto Bold"/>
                <a:cs typeface="Roboto Bold"/>
                <a:sym typeface="Roboto Bold"/>
              </a:rPr>
              <a:t>TEAM3</a:t>
            </a:r>
          </a:p>
        </p:txBody>
      </p:sp>
      <p:sp>
        <p:nvSpPr>
          <p:cNvPr name="TextBox 13" id="13"/>
          <p:cNvSpPr txBox="true"/>
          <p:nvPr/>
        </p:nvSpPr>
        <p:spPr>
          <a:xfrm rot="0">
            <a:off x="1717675" y="4102084"/>
            <a:ext cx="12382965" cy="1350142"/>
          </a:xfrm>
          <a:prstGeom prst="rect">
            <a:avLst/>
          </a:prstGeom>
        </p:spPr>
        <p:txBody>
          <a:bodyPr anchor="t" rtlCol="false" tIns="0" lIns="0" bIns="0" rIns="0">
            <a:spAutoFit/>
          </a:bodyPr>
          <a:lstStyle/>
          <a:p>
            <a:pPr algn="l">
              <a:lnSpc>
                <a:spcPts val="11216"/>
              </a:lnSpc>
              <a:spcBef>
                <a:spcPct val="0"/>
              </a:spcBef>
            </a:pPr>
            <a:r>
              <a:rPr lang="en-US" sz="8011">
                <a:solidFill>
                  <a:srgbClr val="000000"/>
                </a:solidFill>
                <a:latin typeface="League Spartan"/>
                <a:ea typeface="League Spartan"/>
                <a:cs typeface="League Spartan"/>
                <a:sym typeface="League Spartan"/>
              </a:rPr>
              <a:t>FINAL STATUS REPORT </a:t>
            </a:r>
          </a:p>
        </p:txBody>
      </p:sp>
      <p:sp>
        <p:nvSpPr>
          <p:cNvPr name="TextBox 14" id="14"/>
          <p:cNvSpPr txBox="true"/>
          <p:nvPr/>
        </p:nvSpPr>
        <p:spPr>
          <a:xfrm rot="0">
            <a:off x="1717675" y="5376026"/>
            <a:ext cx="9204044" cy="1032972"/>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Pinxi Lyu, Ananya Jhamb, Shaibah Raiyan, Friedemann Schmidt，Dixin Guo, Yifu Huang</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9300" y="-2057400"/>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EDC25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9791700"/>
            <a:ext cx="6959600" cy="990600"/>
            <a:chOff x="0" y="0"/>
            <a:chExt cx="1832981" cy="260899"/>
          </a:xfrm>
        </p:grpSpPr>
        <p:sp>
          <p:nvSpPr>
            <p:cNvPr name="Freeform 6" id="6"/>
            <p:cNvSpPr/>
            <p:nvPr/>
          </p:nvSpPr>
          <p:spPr>
            <a:xfrm flipH="false" flipV="false" rot="0">
              <a:off x="0" y="0"/>
              <a:ext cx="1832981" cy="260899"/>
            </a:xfrm>
            <a:custGeom>
              <a:avLst/>
              <a:gdLst/>
              <a:ahLst/>
              <a:cxnLst/>
              <a:rect r="r" b="b" t="t" l="l"/>
              <a:pathLst>
                <a:path h="260899" w="1832981">
                  <a:moveTo>
                    <a:pt x="0" y="0"/>
                  </a:moveTo>
                  <a:lnTo>
                    <a:pt x="1832981" y="0"/>
                  </a:lnTo>
                  <a:lnTo>
                    <a:pt x="1832981" y="260899"/>
                  </a:lnTo>
                  <a:lnTo>
                    <a:pt x="0" y="260899"/>
                  </a:lnTo>
                  <a:close/>
                </a:path>
              </a:pathLst>
            </a:custGeom>
            <a:solidFill>
              <a:srgbClr val="EDC254"/>
            </a:solidFill>
          </p:spPr>
        </p:sp>
        <p:sp>
          <p:nvSpPr>
            <p:cNvPr name="TextBox 7" id="7"/>
            <p:cNvSpPr txBox="true"/>
            <p:nvPr/>
          </p:nvSpPr>
          <p:spPr>
            <a:xfrm>
              <a:off x="0" y="-47625"/>
              <a:ext cx="1832981" cy="30852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549900" y="-2353537"/>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C254"/>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86553" y="775490"/>
            <a:ext cx="7991148" cy="980608"/>
          </a:xfrm>
          <a:prstGeom prst="rect">
            <a:avLst/>
          </a:prstGeom>
        </p:spPr>
        <p:txBody>
          <a:bodyPr anchor="t" rtlCol="false" tIns="0" lIns="0" bIns="0" rIns="0">
            <a:spAutoFit/>
          </a:bodyPr>
          <a:lstStyle/>
          <a:p>
            <a:pPr algn="l">
              <a:lnSpc>
                <a:spcPts val="8137"/>
              </a:lnSpc>
              <a:spcBef>
                <a:spcPct val="0"/>
              </a:spcBef>
            </a:pPr>
            <a:r>
              <a:rPr lang="en-US" sz="5812">
                <a:solidFill>
                  <a:srgbClr val="000000"/>
                </a:solidFill>
                <a:latin typeface="League Spartan"/>
                <a:ea typeface="League Spartan"/>
                <a:cs typeface="League Spartan"/>
                <a:sym typeface="League Spartan"/>
              </a:rPr>
              <a:t>DATA PREPARATION</a:t>
            </a:r>
          </a:p>
        </p:txBody>
      </p:sp>
      <p:sp>
        <p:nvSpPr>
          <p:cNvPr name="TextBox 12" id="12"/>
          <p:cNvSpPr txBox="true"/>
          <p:nvPr/>
        </p:nvSpPr>
        <p:spPr>
          <a:xfrm rot="0">
            <a:off x="422615" y="1851347"/>
            <a:ext cx="17442771" cy="1737360"/>
          </a:xfrm>
          <a:prstGeom prst="rect">
            <a:avLst/>
          </a:prstGeom>
        </p:spPr>
        <p:txBody>
          <a:bodyPr anchor="t" rtlCol="false" tIns="0" lIns="0" bIns="0" rIns="0">
            <a:spAutoFit/>
          </a:bodyPr>
          <a:lstStyle/>
          <a:p>
            <a:pPr algn="l">
              <a:lnSpc>
                <a:spcPts val="3219"/>
              </a:lnSpc>
            </a:pPr>
            <a:r>
              <a:rPr lang="en-US" sz="2299">
                <a:solidFill>
                  <a:srgbClr val="000000"/>
                </a:solidFill>
                <a:latin typeface="Poppins"/>
                <a:ea typeface="Poppins"/>
                <a:cs typeface="Poppins"/>
                <a:sym typeface="Poppins"/>
              </a:rPr>
              <a:t>1</a:t>
            </a:r>
            <a:r>
              <a:rPr lang="en-US" b="true" sz="2299">
                <a:solidFill>
                  <a:srgbClr val="000000"/>
                </a:solidFill>
                <a:latin typeface="Poppins Bold"/>
                <a:ea typeface="Poppins Bold"/>
                <a:cs typeface="Poppins Bold"/>
                <a:sym typeface="Poppins Bold"/>
              </a:rPr>
              <a:t>. Data sources</a:t>
            </a:r>
          </a:p>
          <a:p>
            <a:pPr algn="l" marL="410209" indent="-205105" lvl="1">
              <a:lnSpc>
                <a:spcPts val="2659"/>
              </a:lnSpc>
              <a:buFont typeface="Arial"/>
              <a:buChar char="•"/>
            </a:pPr>
            <a:r>
              <a:rPr lang="en-US" sz="1899">
                <a:solidFill>
                  <a:srgbClr val="000000"/>
                </a:solidFill>
                <a:latin typeface="Poppins"/>
                <a:ea typeface="Poppins"/>
                <a:cs typeface="Poppins"/>
                <a:sym typeface="Poppins"/>
              </a:rPr>
              <a:t>CMS Medicare Advantage Landscape files (CY2025 and CY2026) were used to identify plan presence, parent organizations, plan characteristics, premiums, MOOP, and star ratings.</a:t>
            </a:r>
          </a:p>
          <a:p>
            <a:pPr algn="l" marL="410209" indent="-205105" lvl="1">
              <a:lnSpc>
                <a:spcPts val="2659"/>
              </a:lnSpc>
              <a:buFont typeface="Arial"/>
              <a:buChar char="•"/>
            </a:pPr>
            <a:r>
              <a:rPr lang="en-US" sz="1899">
                <a:solidFill>
                  <a:srgbClr val="000000"/>
                </a:solidFill>
                <a:latin typeface="Poppins"/>
                <a:ea typeface="Poppins"/>
                <a:cs typeface="Poppins"/>
                <a:sym typeface="Poppins"/>
              </a:rPr>
              <a:t>CMS monthly enrollment files (2025-01 to 2026-03) were used to construct county-level ACHP enrollment trends over time.</a:t>
            </a:r>
          </a:p>
          <a:p>
            <a:pPr algn="l" marL="410209" indent="-205105" lvl="1">
              <a:lnSpc>
                <a:spcPts val="2659"/>
              </a:lnSpc>
              <a:buFont typeface="Arial"/>
              <a:buChar char="•"/>
            </a:pPr>
            <a:r>
              <a:rPr lang="en-US" sz="1899">
                <a:solidFill>
                  <a:srgbClr val="000000"/>
                </a:solidFill>
                <a:latin typeface="Poppins"/>
                <a:ea typeface="Poppins"/>
                <a:cs typeface="Poppins"/>
                <a:sym typeface="Poppins"/>
              </a:rPr>
              <a:t>ACHP member crosswalk files (2025 and 2026) were used to identify which contracts belonged to ACHP member plans.</a:t>
            </a:r>
          </a:p>
        </p:txBody>
      </p:sp>
      <p:sp>
        <p:nvSpPr>
          <p:cNvPr name="TextBox 13" id="13"/>
          <p:cNvSpPr txBox="true"/>
          <p:nvPr/>
        </p:nvSpPr>
        <p:spPr>
          <a:xfrm rot="0">
            <a:off x="422615" y="3683957"/>
            <a:ext cx="17442771" cy="1711325"/>
          </a:xfrm>
          <a:prstGeom prst="rect">
            <a:avLst/>
          </a:prstGeom>
        </p:spPr>
        <p:txBody>
          <a:bodyPr anchor="t" rtlCol="false" tIns="0" lIns="0" bIns="0" rIns="0">
            <a:spAutoFit/>
          </a:bodyPr>
          <a:lstStyle/>
          <a:p>
            <a:pPr algn="l">
              <a:lnSpc>
                <a:spcPts val="2939"/>
              </a:lnSpc>
            </a:pPr>
            <a:r>
              <a:rPr lang="en-US" b="true" sz="2099">
                <a:solidFill>
                  <a:srgbClr val="000000"/>
                </a:solidFill>
                <a:latin typeface="Poppins Bold"/>
                <a:ea typeface="Poppins Bold"/>
                <a:cs typeface="Poppins Bold"/>
                <a:sym typeface="Poppins Bold"/>
              </a:rPr>
              <a:t>2. Cleaning and standardization</a:t>
            </a:r>
          </a:p>
          <a:p>
            <a:pPr algn="l" marL="410209" indent="-205105" lvl="1">
              <a:lnSpc>
                <a:spcPts val="2659"/>
              </a:lnSpc>
              <a:buFont typeface="Arial"/>
              <a:buChar char="•"/>
            </a:pPr>
            <a:r>
              <a:rPr lang="en-US" sz="1899">
                <a:solidFill>
                  <a:srgbClr val="000000"/>
                </a:solidFill>
                <a:latin typeface="Poppins"/>
                <a:ea typeface="Poppins"/>
                <a:cs typeface="Poppins"/>
                <a:sym typeface="Poppins"/>
              </a:rPr>
              <a:t>Standardized state, county, parent organization, and contract identifiers across files using uppercase conversion, trimming, and whitespace normalization.</a:t>
            </a:r>
          </a:p>
          <a:p>
            <a:pPr algn="l" marL="410209" indent="-205105" lvl="1">
              <a:lnSpc>
                <a:spcPts val="2659"/>
              </a:lnSpc>
              <a:buFont typeface="Arial"/>
              <a:buChar char="•"/>
            </a:pPr>
            <a:r>
              <a:rPr lang="en-US" sz="1899">
                <a:solidFill>
                  <a:srgbClr val="000000"/>
                </a:solidFill>
                <a:latin typeface="Poppins"/>
                <a:ea typeface="Poppins"/>
                <a:cs typeface="Poppins"/>
                <a:sym typeface="Poppins"/>
              </a:rPr>
              <a:t>Harmonized year-specific column names in the Landscape files to make 2025 and 2026 records comparable.</a:t>
            </a:r>
          </a:p>
          <a:p>
            <a:pPr algn="l" marL="410209" indent="-205105" lvl="1">
              <a:lnSpc>
                <a:spcPts val="2659"/>
              </a:lnSpc>
              <a:buFont typeface="Arial"/>
              <a:buChar char="•"/>
            </a:pPr>
            <a:r>
              <a:rPr lang="en-US" sz="1899">
                <a:solidFill>
                  <a:srgbClr val="000000"/>
                </a:solidFill>
                <a:latin typeface="Poppins"/>
                <a:ea typeface="Poppins"/>
                <a:cs typeface="Poppins"/>
                <a:sym typeface="Poppins"/>
              </a:rPr>
              <a:t>Normalized county names to reduce inconsistencies across datasets and improve county-level matching accuracy.</a:t>
            </a:r>
          </a:p>
        </p:txBody>
      </p:sp>
      <p:sp>
        <p:nvSpPr>
          <p:cNvPr name="TextBox 14" id="14"/>
          <p:cNvSpPr txBox="true"/>
          <p:nvPr/>
        </p:nvSpPr>
        <p:spPr>
          <a:xfrm rot="0">
            <a:off x="514350" y="5490533"/>
            <a:ext cx="17773650" cy="1711325"/>
          </a:xfrm>
          <a:prstGeom prst="rect">
            <a:avLst/>
          </a:prstGeom>
        </p:spPr>
        <p:txBody>
          <a:bodyPr anchor="t" rtlCol="false" tIns="0" lIns="0" bIns="0" rIns="0">
            <a:spAutoFit/>
          </a:bodyPr>
          <a:lstStyle/>
          <a:p>
            <a:pPr algn="l">
              <a:lnSpc>
                <a:spcPts val="2939"/>
              </a:lnSpc>
              <a:spcBef>
                <a:spcPct val="0"/>
              </a:spcBef>
            </a:pPr>
            <a:r>
              <a:rPr lang="en-US" b="true" sz="2099">
                <a:solidFill>
                  <a:srgbClr val="000000"/>
                </a:solidFill>
                <a:latin typeface="Poppins Bold"/>
                <a:ea typeface="Poppins Bold"/>
                <a:cs typeface="Poppins Bold"/>
                <a:sym typeface="Poppins Bold"/>
              </a:rPr>
              <a:t>3. Missing value handling</a:t>
            </a:r>
          </a:p>
          <a:p>
            <a:pPr algn="l" marL="410209" indent="-205105" lvl="1">
              <a:lnSpc>
                <a:spcPts val="2659"/>
              </a:lnSpc>
              <a:buFont typeface="Arial"/>
              <a:buChar char="•"/>
            </a:pPr>
            <a:r>
              <a:rPr lang="en-US" sz="1899">
                <a:solidFill>
                  <a:srgbClr val="000000"/>
                </a:solidFill>
                <a:latin typeface="Poppins"/>
                <a:ea typeface="Poppins"/>
                <a:cs typeface="Poppins"/>
                <a:sym typeface="Poppins"/>
              </a:rPr>
              <a:t>Converted enrollment fields to numeric and treated blank values as 0 when building the monthly enrollment panel.</a:t>
            </a:r>
          </a:p>
          <a:p>
            <a:pPr algn="l" marL="410209" indent="-205105" lvl="1">
              <a:lnSpc>
                <a:spcPts val="2659"/>
              </a:lnSpc>
              <a:buFont typeface="Arial"/>
              <a:buChar char="•"/>
            </a:pPr>
            <a:r>
              <a:rPr lang="en-US" sz="1899">
                <a:solidFill>
                  <a:srgbClr val="000000"/>
                </a:solidFill>
                <a:latin typeface="Poppins"/>
                <a:ea typeface="Poppins"/>
                <a:cs typeface="Poppins"/>
                <a:sym typeface="Poppins"/>
              </a:rPr>
              <a:t>Treated non-numeric placeholders such as “Not Applicable” or “Not Available” in premium, MOOP, and star rating fields as missing values in downstream feature analysis.</a:t>
            </a:r>
          </a:p>
          <a:p>
            <a:pPr algn="l" marL="410209" indent="-205105" lvl="1">
              <a:lnSpc>
                <a:spcPts val="2659"/>
              </a:lnSpc>
              <a:buFont typeface="Arial"/>
              <a:buChar char="•"/>
            </a:pPr>
            <a:r>
              <a:rPr lang="en-US" sz="1899">
                <a:solidFill>
                  <a:srgbClr val="000000"/>
                </a:solidFill>
                <a:latin typeface="Poppins"/>
                <a:ea typeface="Poppins"/>
                <a:cs typeface="Poppins"/>
                <a:sym typeface="Poppins"/>
              </a:rPr>
              <a:t>Retained missingness where appropriate rather than forcing imputation for plan characteristics.</a:t>
            </a:r>
          </a:p>
        </p:txBody>
      </p:sp>
      <p:sp>
        <p:nvSpPr>
          <p:cNvPr name="TextBox 15" id="15"/>
          <p:cNvSpPr txBox="true"/>
          <p:nvPr/>
        </p:nvSpPr>
        <p:spPr>
          <a:xfrm rot="0">
            <a:off x="560218" y="7297108"/>
            <a:ext cx="17681915" cy="2009140"/>
          </a:xfrm>
          <a:prstGeom prst="rect">
            <a:avLst/>
          </a:prstGeom>
        </p:spPr>
        <p:txBody>
          <a:bodyPr anchor="t" rtlCol="false" tIns="0" lIns="0" bIns="0" rIns="0">
            <a:spAutoFit/>
          </a:bodyPr>
          <a:lstStyle/>
          <a:p>
            <a:pPr algn="l">
              <a:lnSpc>
                <a:spcPts val="2659"/>
              </a:lnSpc>
              <a:spcBef>
                <a:spcPct val="0"/>
              </a:spcBef>
            </a:pPr>
            <a:r>
              <a:rPr lang="en-US" b="true" sz="1899">
                <a:solidFill>
                  <a:srgbClr val="000000"/>
                </a:solidFill>
                <a:latin typeface="Poppins Bold"/>
                <a:ea typeface="Poppins Bold"/>
                <a:cs typeface="Poppins Bold"/>
                <a:sym typeface="Poppins Bold"/>
              </a:rPr>
              <a:t>4. Feature engineering and aggregation</a:t>
            </a:r>
          </a:p>
          <a:p>
            <a:pPr algn="l" marL="410209" indent="-205105" lvl="1">
              <a:lnSpc>
                <a:spcPts val="2659"/>
              </a:lnSpc>
              <a:buFont typeface="Arial"/>
              <a:buChar char="•"/>
            </a:pPr>
            <a:r>
              <a:rPr lang="en-US" sz="1899">
                <a:solidFill>
                  <a:srgbClr val="000000"/>
                </a:solidFill>
                <a:latin typeface="Poppins"/>
                <a:ea typeface="Poppins"/>
                <a:cs typeface="Poppins"/>
                <a:sym typeface="Poppins"/>
              </a:rPr>
              <a:t>Constructed ContractPlanID by combining contract and plan identifiers.</a:t>
            </a:r>
          </a:p>
          <a:p>
            <a:pPr algn="l" marL="410209" indent="-205105" lvl="1">
              <a:lnSpc>
                <a:spcPts val="2659"/>
              </a:lnSpc>
              <a:buFont typeface="Arial"/>
              <a:buChar char="•"/>
            </a:pPr>
            <a:r>
              <a:rPr lang="en-US" sz="1899">
                <a:solidFill>
                  <a:srgbClr val="000000"/>
                </a:solidFill>
                <a:latin typeface="Poppins"/>
                <a:ea typeface="Poppins"/>
                <a:cs typeface="Poppins"/>
                <a:sym typeface="Poppins"/>
              </a:rPr>
              <a:t>Defined exit exposure at the county–parent organization level, identifying markets present in 2025 but absent in 2026.</a:t>
            </a:r>
          </a:p>
          <a:p>
            <a:pPr algn="l" marL="410209" indent="-205105" lvl="1">
              <a:lnSpc>
                <a:spcPts val="2659"/>
              </a:lnSpc>
              <a:buFont typeface="Arial"/>
              <a:buChar char="•"/>
            </a:pPr>
            <a:r>
              <a:rPr lang="en-US" sz="1899">
                <a:solidFill>
                  <a:srgbClr val="000000"/>
                </a:solidFill>
                <a:latin typeface="Poppins"/>
                <a:ea typeface="Poppins"/>
                <a:cs typeface="Poppins"/>
                <a:sym typeface="Poppins"/>
              </a:rPr>
              <a:t>Created analytical features including is_achp, is_exit_county, and num_exiting_carriers.</a:t>
            </a:r>
          </a:p>
          <a:p>
            <a:pPr algn="l" marL="410209" indent="-205105" lvl="1">
              <a:lnSpc>
                <a:spcPts val="2659"/>
              </a:lnSpc>
              <a:buFont typeface="Arial"/>
              <a:buChar char="•"/>
            </a:pPr>
            <a:r>
              <a:rPr lang="en-US" sz="1899">
                <a:solidFill>
                  <a:srgbClr val="000000"/>
                </a:solidFill>
                <a:latin typeface="Poppins"/>
                <a:ea typeface="Poppins"/>
                <a:cs typeface="Poppins"/>
                <a:sym typeface="Poppins"/>
              </a:rPr>
              <a:t>Aggregated matched data into county-level and monthly trend datasets, and computed key outcome metrics: achp_share, achp_delta, and share_delta.</a:t>
            </a:r>
          </a:p>
        </p:txBody>
      </p:sp>
      <p:sp>
        <p:nvSpPr>
          <p:cNvPr name="TextBox 16" id="16"/>
          <p:cNvSpPr txBox="true"/>
          <p:nvPr/>
        </p:nvSpPr>
        <p:spPr>
          <a:xfrm rot="0">
            <a:off x="14445762" y="9468729"/>
            <a:ext cx="4020465"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Pinxi Lyu，Dixin Guo</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9300" y="-2057400"/>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EDC25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9791700"/>
            <a:ext cx="6959600" cy="990600"/>
            <a:chOff x="0" y="0"/>
            <a:chExt cx="1832981" cy="260899"/>
          </a:xfrm>
        </p:grpSpPr>
        <p:sp>
          <p:nvSpPr>
            <p:cNvPr name="Freeform 6" id="6"/>
            <p:cNvSpPr/>
            <p:nvPr/>
          </p:nvSpPr>
          <p:spPr>
            <a:xfrm flipH="false" flipV="false" rot="0">
              <a:off x="0" y="0"/>
              <a:ext cx="1832981" cy="260899"/>
            </a:xfrm>
            <a:custGeom>
              <a:avLst/>
              <a:gdLst/>
              <a:ahLst/>
              <a:cxnLst/>
              <a:rect r="r" b="b" t="t" l="l"/>
              <a:pathLst>
                <a:path h="260899" w="1832981">
                  <a:moveTo>
                    <a:pt x="0" y="0"/>
                  </a:moveTo>
                  <a:lnTo>
                    <a:pt x="1832981" y="0"/>
                  </a:lnTo>
                  <a:lnTo>
                    <a:pt x="1832981" y="260899"/>
                  </a:lnTo>
                  <a:lnTo>
                    <a:pt x="0" y="260899"/>
                  </a:lnTo>
                  <a:close/>
                </a:path>
              </a:pathLst>
            </a:custGeom>
            <a:solidFill>
              <a:srgbClr val="EDC254"/>
            </a:solidFill>
          </p:spPr>
        </p:sp>
        <p:sp>
          <p:nvSpPr>
            <p:cNvPr name="TextBox 7" id="7"/>
            <p:cNvSpPr txBox="true"/>
            <p:nvPr/>
          </p:nvSpPr>
          <p:spPr>
            <a:xfrm>
              <a:off x="0" y="-47625"/>
              <a:ext cx="1832981" cy="30852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549900" y="-2353537"/>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C254"/>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86553" y="775490"/>
            <a:ext cx="7991148" cy="980608"/>
          </a:xfrm>
          <a:prstGeom prst="rect">
            <a:avLst/>
          </a:prstGeom>
        </p:spPr>
        <p:txBody>
          <a:bodyPr anchor="t" rtlCol="false" tIns="0" lIns="0" bIns="0" rIns="0">
            <a:spAutoFit/>
          </a:bodyPr>
          <a:lstStyle/>
          <a:p>
            <a:pPr algn="l">
              <a:lnSpc>
                <a:spcPts val="8137"/>
              </a:lnSpc>
              <a:spcBef>
                <a:spcPct val="0"/>
              </a:spcBef>
            </a:pPr>
            <a:r>
              <a:rPr lang="en-US" sz="5812">
                <a:solidFill>
                  <a:srgbClr val="000000"/>
                </a:solidFill>
                <a:latin typeface="League Spartan"/>
                <a:ea typeface="League Spartan"/>
                <a:cs typeface="League Spartan"/>
                <a:sym typeface="League Spartan"/>
              </a:rPr>
              <a:t>LITERATURE REVIEW</a:t>
            </a:r>
          </a:p>
        </p:txBody>
      </p:sp>
      <p:sp>
        <p:nvSpPr>
          <p:cNvPr name="TextBox 12" id="12"/>
          <p:cNvSpPr txBox="true"/>
          <p:nvPr/>
        </p:nvSpPr>
        <p:spPr>
          <a:xfrm rot="0">
            <a:off x="386553" y="1813247"/>
            <a:ext cx="5962265" cy="551791"/>
          </a:xfrm>
          <a:prstGeom prst="rect">
            <a:avLst/>
          </a:prstGeom>
        </p:spPr>
        <p:txBody>
          <a:bodyPr anchor="t" rtlCol="false" tIns="0" lIns="0" bIns="0" rIns="0">
            <a:spAutoFit/>
          </a:bodyPr>
          <a:lstStyle/>
          <a:p>
            <a:pPr algn="l">
              <a:lnSpc>
                <a:spcPts val="4236"/>
              </a:lnSpc>
              <a:spcBef>
                <a:spcPct val="0"/>
              </a:spcBef>
            </a:pPr>
            <a:r>
              <a:rPr lang="en-US" sz="3025" b="true">
                <a:solidFill>
                  <a:srgbClr val="000000"/>
                </a:solidFill>
                <a:latin typeface="Poppins Bold"/>
                <a:ea typeface="Poppins Bold"/>
                <a:cs typeface="Poppins Bold"/>
                <a:sym typeface="Poppins Bold"/>
              </a:rPr>
              <a:t>Market Structure &amp; Scale</a:t>
            </a:r>
          </a:p>
        </p:txBody>
      </p:sp>
      <p:sp>
        <p:nvSpPr>
          <p:cNvPr name="TextBox 13" id="13"/>
          <p:cNvSpPr txBox="true"/>
          <p:nvPr/>
        </p:nvSpPr>
        <p:spPr>
          <a:xfrm rot="0">
            <a:off x="386553" y="2892928"/>
            <a:ext cx="7696995" cy="5283615"/>
          </a:xfrm>
          <a:prstGeom prst="rect">
            <a:avLst/>
          </a:prstGeom>
        </p:spPr>
        <p:txBody>
          <a:bodyPr anchor="t" rtlCol="false" tIns="0" lIns="0" bIns="0" rIns="0">
            <a:spAutoFit/>
          </a:bodyPr>
          <a:lstStyle/>
          <a:p>
            <a:pPr algn="l">
              <a:lnSpc>
                <a:spcPts val="3221"/>
              </a:lnSpc>
            </a:pPr>
            <a:r>
              <a:rPr lang="en-US" sz="2300" b="true">
                <a:solidFill>
                  <a:srgbClr val="000000"/>
                </a:solidFill>
                <a:latin typeface="Poppins Bold"/>
                <a:ea typeface="Poppins Bold"/>
                <a:cs typeface="Poppins Bold"/>
                <a:sym typeface="Poppins Bold"/>
              </a:rPr>
              <a:t>Enrollment</a:t>
            </a:r>
          </a:p>
          <a:p>
            <a:pPr algn="l" marL="496768" indent="-248384" lvl="1">
              <a:lnSpc>
                <a:spcPts val="3221"/>
              </a:lnSpc>
              <a:spcBef>
                <a:spcPct val="0"/>
              </a:spcBef>
              <a:buFont typeface="Arial"/>
              <a:buChar char="•"/>
            </a:pPr>
            <a:r>
              <a:rPr lang="en-US" sz="2300" strike="noStrike" u="none">
                <a:solidFill>
                  <a:srgbClr val="000000"/>
                </a:solidFill>
                <a:latin typeface="Poppins"/>
                <a:ea typeface="Poppins"/>
                <a:cs typeface="Poppins"/>
                <a:sym typeface="Poppins"/>
              </a:rPr>
              <a:t>MA enrollment reached 35.4M beneficiaries in 2026, now covering 51% of all Medicare-eligible individuals</a:t>
            </a:r>
          </a:p>
          <a:p>
            <a:pPr algn="l" marL="993536" indent="-331179" lvl="2">
              <a:lnSpc>
                <a:spcPts val="3221"/>
              </a:lnSpc>
              <a:spcBef>
                <a:spcPct val="0"/>
              </a:spcBef>
              <a:buFont typeface="Arial"/>
              <a:buChar char="⚬"/>
            </a:pPr>
            <a:r>
              <a:rPr lang="en-US" sz="2300" strike="noStrike" u="none">
                <a:solidFill>
                  <a:srgbClr val="000000"/>
                </a:solidFill>
                <a:latin typeface="Poppins"/>
                <a:ea typeface="Poppins"/>
                <a:cs typeface="Poppins"/>
                <a:sym typeface="Poppins"/>
              </a:rPr>
              <a:t> 5-fold increase since 2004</a:t>
            </a:r>
          </a:p>
          <a:p>
            <a:pPr algn="l" marL="496768" indent="-248384" lvl="1">
              <a:lnSpc>
                <a:spcPts val="3221"/>
              </a:lnSpc>
              <a:spcBef>
                <a:spcPct val="0"/>
              </a:spcBef>
              <a:buFont typeface="Arial"/>
              <a:buChar char="•"/>
            </a:pPr>
            <a:r>
              <a:rPr lang="en-US" sz="2300" strike="noStrike" u="none">
                <a:solidFill>
                  <a:srgbClr val="000000"/>
                </a:solidFill>
                <a:latin typeface="Poppins"/>
                <a:ea typeface="Poppins"/>
                <a:cs typeface="Poppins"/>
                <a:sym typeface="Poppins"/>
              </a:rPr>
              <a:t>Slowdown in growth over recent years</a:t>
            </a:r>
          </a:p>
          <a:p>
            <a:pPr algn="l" marL="993536" indent="-331179" lvl="2">
              <a:lnSpc>
                <a:spcPts val="3221"/>
              </a:lnSpc>
              <a:spcBef>
                <a:spcPct val="0"/>
              </a:spcBef>
              <a:buFont typeface="Arial"/>
              <a:buChar char="⚬"/>
            </a:pPr>
            <a:r>
              <a:rPr lang="en-US" sz="2300" strike="noStrike" u="none">
                <a:solidFill>
                  <a:srgbClr val="000000"/>
                </a:solidFill>
                <a:latin typeface="Poppins"/>
                <a:ea typeface="Poppins"/>
                <a:cs typeface="Poppins"/>
                <a:sym typeface="Poppins"/>
              </a:rPr>
              <a:t>2.5% YoY in 2026 vs. 7–10% annual growth in the early 2020s</a:t>
            </a:r>
          </a:p>
          <a:p>
            <a:pPr algn="l" marL="496768" indent="-248384" lvl="1">
              <a:lnSpc>
                <a:spcPts val="3221"/>
              </a:lnSpc>
              <a:spcBef>
                <a:spcPct val="0"/>
              </a:spcBef>
              <a:buFont typeface="Arial"/>
              <a:buChar char="•"/>
            </a:pPr>
            <a:r>
              <a:rPr lang="en-US" sz="2300" strike="noStrike" u="none">
                <a:solidFill>
                  <a:srgbClr val="000000"/>
                </a:solidFill>
                <a:latin typeface="Poppins"/>
                <a:ea typeface="Poppins"/>
                <a:cs typeface="Poppins"/>
                <a:sym typeface="Poppins"/>
              </a:rPr>
              <a:t>Penetration highly geography-dependent</a:t>
            </a:r>
          </a:p>
          <a:p>
            <a:pPr algn="l" marL="993536" indent="-331179" lvl="2">
              <a:lnSpc>
                <a:spcPts val="3221"/>
              </a:lnSpc>
              <a:spcBef>
                <a:spcPct val="0"/>
              </a:spcBef>
              <a:buFont typeface="Arial"/>
              <a:buChar char="⚬"/>
            </a:pPr>
            <a:r>
              <a:rPr lang="en-US" sz="2300" strike="noStrike" u="none">
                <a:solidFill>
                  <a:srgbClr val="000000"/>
                </a:solidFill>
                <a:latin typeface="Poppins"/>
                <a:ea typeface="Poppins"/>
                <a:cs typeface="Poppins"/>
                <a:sym typeface="Poppins"/>
              </a:rPr>
              <a:t>Florida, California, Texas, Pennsylvania, and New York, account for approximately 37%</a:t>
            </a:r>
          </a:p>
          <a:p>
            <a:pPr algn="l" marL="993536" indent="-331179" lvl="2">
              <a:lnSpc>
                <a:spcPts val="3221"/>
              </a:lnSpc>
              <a:spcBef>
                <a:spcPct val="0"/>
              </a:spcBef>
              <a:buFont typeface="Arial"/>
              <a:buChar char="⚬"/>
            </a:pPr>
            <a:r>
              <a:rPr lang="en-US" sz="2300" strike="noStrike" u="none">
                <a:solidFill>
                  <a:srgbClr val="000000"/>
                </a:solidFill>
                <a:latin typeface="Poppins"/>
                <a:ea typeface="Poppins"/>
                <a:cs typeface="Poppins"/>
                <a:sym typeface="Poppins"/>
              </a:rPr>
              <a:t>Few offerings in rural states (i.e. Alaska, Wyoming, Vermont)</a:t>
            </a:r>
          </a:p>
        </p:txBody>
      </p:sp>
      <p:sp>
        <p:nvSpPr>
          <p:cNvPr name="TextBox 14" id="14"/>
          <p:cNvSpPr txBox="true"/>
          <p:nvPr/>
        </p:nvSpPr>
        <p:spPr>
          <a:xfrm rot="0">
            <a:off x="9144000" y="2670623"/>
            <a:ext cx="8115300" cy="6055030"/>
          </a:xfrm>
          <a:prstGeom prst="rect">
            <a:avLst/>
          </a:prstGeom>
        </p:spPr>
        <p:txBody>
          <a:bodyPr anchor="t" rtlCol="false" tIns="0" lIns="0" bIns="0" rIns="0">
            <a:spAutoFit/>
          </a:bodyPr>
          <a:lstStyle/>
          <a:p>
            <a:pPr algn="l">
              <a:lnSpc>
                <a:spcPts val="3220"/>
              </a:lnSpc>
            </a:pPr>
            <a:r>
              <a:rPr lang="en-US" sz="2300" b="true">
                <a:solidFill>
                  <a:srgbClr val="000000"/>
                </a:solidFill>
                <a:latin typeface="Poppins Bold"/>
                <a:ea typeface="Poppins Bold"/>
                <a:cs typeface="Poppins Bold"/>
                <a:sym typeface="Poppins Bold"/>
              </a:rPr>
              <a:t>Market Players &amp; Plans </a:t>
            </a:r>
          </a:p>
          <a:p>
            <a:pPr algn="l">
              <a:lnSpc>
                <a:spcPts val="3220"/>
              </a:lnSpc>
            </a:pPr>
          </a:p>
          <a:p>
            <a:pPr algn="l" marL="496571" indent="-248285" lvl="1">
              <a:lnSpc>
                <a:spcPts val="3220"/>
              </a:lnSpc>
              <a:buFont typeface="Arial"/>
              <a:buChar char="•"/>
            </a:pPr>
            <a:r>
              <a:rPr lang="en-US" sz="2300">
                <a:solidFill>
                  <a:srgbClr val="000000"/>
                </a:solidFill>
                <a:latin typeface="Poppins"/>
                <a:ea typeface="Poppins"/>
                <a:cs typeface="Poppins"/>
                <a:sym typeface="Poppins"/>
              </a:rPr>
              <a:t>Market is highly concentrated</a:t>
            </a:r>
          </a:p>
          <a:p>
            <a:pPr algn="l" marL="993141" indent="-331047" lvl="2">
              <a:lnSpc>
                <a:spcPts val="3220"/>
              </a:lnSpc>
              <a:buFont typeface="Arial"/>
              <a:buChar char="⚬"/>
            </a:pPr>
            <a:r>
              <a:rPr lang="en-US" sz="2300">
                <a:solidFill>
                  <a:srgbClr val="000000"/>
                </a:solidFill>
                <a:latin typeface="Poppins"/>
                <a:ea typeface="Poppins"/>
                <a:cs typeface="Poppins"/>
                <a:sym typeface="Poppins"/>
              </a:rPr>
              <a:t>National insurances</a:t>
            </a:r>
            <a:r>
              <a:rPr lang="en-US" sz="2300">
                <a:solidFill>
                  <a:srgbClr val="000000"/>
                </a:solidFill>
                <a:latin typeface="Poppins"/>
                <a:ea typeface="Poppins"/>
                <a:cs typeface="Poppins"/>
                <a:sym typeface="Poppins"/>
              </a:rPr>
              <a:t> dominate, though all are exiting counties and trimming plan offerings</a:t>
            </a:r>
          </a:p>
          <a:p>
            <a:pPr algn="l" marL="496571" indent="-248285" lvl="1">
              <a:lnSpc>
                <a:spcPts val="3220"/>
              </a:lnSpc>
              <a:buFont typeface="Arial"/>
              <a:buChar char="•"/>
            </a:pPr>
            <a:r>
              <a:rPr lang="en-US" sz="2300">
                <a:solidFill>
                  <a:srgbClr val="000000"/>
                </a:solidFill>
                <a:latin typeface="Poppins"/>
                <a:ea typeface="Poppins"/>
                <a:cs typeface="Poppins"/>
                <a:sym typeface="Poppins"/>
              </a:rPr>
              <a:t>Sizabeal reduction in number of plans offered</a:t>
            </a:r>
          </a:p>
          <a:p>
            <a:pPr algn="l" marL="993141" indent="-331047" lvl="2">
              <a:lnSpc>
                <a:spcPts val="3220"/>
              </a:lnSpc>
              <a:buFont typeface="Arial"/>
              <a:buChar char="⚬"/>
            </a:pPr>
            <a:r>
              <a:rPr lang="en-US" sz="2300">
                <a:solidFill>
                  <a:srgbClr val="000000"/>
                </a:solidFill>
                <a:latin typeface="Poppins"/>
                <a:ea typeface="Poppins"/>
                <a:cs typeface="Poppins"/>
                <a:sym typeface="Poppins"/>
              </a:rPr>
              <a:t>Non-SNP </a:t>
            </a:r>
            <a:r>
              <a:rPr lang="en-US" sz="2300">
                <a:solidFill>
                  <a:srgbClr val="000000"/>
                </a:solidFill>
                <a:latin typeface="Poppins"/>
                <a:ea typeface="Poppins"/>
                <a:cs typeface="Poppins"/>
                <a:sym typeface="Poppins"/>
              </a:rPr>
              <a:t>plan count fell 10% YoY</a:t>
            </a:r>
          </a:p>
          <a:p>
            <a:pPr algn="l" marL="993141" indent="-331047" lvl="2">
              <a:lnSpc>
                <a:spcPts val="3220"/>
              </a:lnSpc>
              <a:buFont typeface="Arial"/>
              <a:buChar char="⚬"/>
            </a:pPr>
            <a:r>
              <a:rPr lang="en-US" sz="2300">
                <a:solidFill>
                  <a:srgbClr val="000000"/>
                </a:solidFill>
                <a:latin typeface="Poppins"/>
                <a:ea typeface="Poppins"/>
                <a:cs typeface="Poppins"/>
                <a:sym typeface="Poppins"/>
              </a:rPr>
              <a:t>C</a:t>
            </a:r>
            <a:r>
              <a:rPr lang="en-US" sz="2300">
                <a:solidFill>
                  <a:srgbClr val="000000"/>
                </a:solidFill>
                <a:latin typeface="Poppins"/>
                <a:ea typeface="Poppins"/>
                <a:cs typeface="Poppins"/>
                <a:sym typeface="Poppins"/>
              </a:rPr>
              <a:t>ounties with only one insurer rose to 171 (from 139 in 2024)</a:t>
            </a:r>
          </a:p>
          <a:p>
            <a:pPr algn="l" marL="496571" indent="-248285" lvl="1">
              <a:lnSpc>
                <a:spcPts val="3220"/>
              </a:lnSpc>
              <a:buFont typeface="Arial"/>
              <a:buChar char="•"/>
            </a:pPr>
            <a:r>
              <a:rPr lang="en-US" sz="2300">
                <a:solidFill>
                  <a:srgbClr val="000000"/>
                </a:solidFill>
                <a:latin typeface="Poppins"/>
                <a:ea typeface="Poppins"/>
                <a:cs typeface="Poppins"/>
                <a:sym typeface="Poppins"/>
              </a:rPr>
              <a:t>Special Needs Plans (D-SNPs, C-SNPs) are the primary growth vector, with C-SNP offerings up 47%</a:t>
            </a:r>
          </a:p>
          <a:p>
            <a:pPr algn="l" marL="496571" indent="-248285" lvl="1">
              <a:lnSpc>
                <a:spcPts val="3220"/>
              </a:lnSpc>
              <a:buFont typeface="Arial"/>
              <a:buChar char="•"/>
            </a:pPr>
            <a:r>
              <a:rPr lang="en-US" sz="2300">
                <a:solidFill>
                  <a:srgbClr val="000000"/>
                </a:solidFill>
                <a:latin typeface="Poppins"/>
                <a:ea typeface="Poppins"/>
                <a:cs typeface="Poppins"/>
                <a:sym typeface="Poppins"/>
              </a:rPr>
              <a:t>Average of 8 plan options &amp; 32 different presicription plans (down from 36 in 2024)</a:t>
            </a:r>
          </a:p>
          <a:p>
            <a:pPr algn="l">
              <a:lnSpc>
                <a:spcPts val="3396"/>
              </a:lnSpc>
            </a:pPr>
          </a:p>
          <a:p>
            <a:pPr algn="l">
              <a:lnSpc>
                <a:spcPts val="3396"/>
              </a:lnSpc>
              <a:spcBef>
                <a:spcPct val="0"/>
              </a:spcBef>
            </a:pPr>
          </a:p>
        </p:txBody>
      </p:sp>
      <p:sp>
        <p:nvSpPr>
          <p:cNvPr name="TextBox 15" id="15"/>
          <p:cNvSpPr txBox="true"/>
          <p:nvPr/>
        </p:nvSpPr>
        <p:spPr>
          <a:xfrm rot="0">
            <a:off x="1286917" y="8631504"/>
            <a:ext cx="3539770" cy="433680"/>
          </a:xfrm>
          <a:prstGeom prst="rect">
            <a:avLst/>
          </a:prstGeom>
        </p:spPr>
        <p:txBody>
          <a:bodyPr anchor="t" rtlCol="false" tIns="0" lIns="0" bIns="0" rIns="0">
            <a:spAutoFit/>
          </a:bodyPr>
          <a:lstStyle/>
          <a:p>
            <a:pPr algn="l">
              <a:lnSpc>
                <a:spcPts val="3396"/>
              </a:lnSpc>
              <a:spcBef>
                <a:spcPct val="0"/>
              </a:spcBef>
            </a:pPr>
            <a:r>
              <a:rPr lang="en-US" sz="2425" b="true">
                <a:solidFill>
                  <a:srgbClr val="000000"/>
                </a:solidFill>
                <a:latin typeface="Poppins Bold"/>
                <a:ea typeface="Poppins Bold"/>
                <a:cs typeface="Poppins Bold"/>
                <a:sym typeface="Poppins Bold"/>
              </a:rPr>
              <a:t>Friedemann Schmidt</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9300" y="-2057400"/>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EDC25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9791700"/>
            <a:ext cx="6959600" cy="990600"/>
            <a:chOff x="0" y="0"/>
            <a:chExt cx="1832981" cy="260899"/>
          </a:xfrm>
        </p:grpSpPr>
        <p:sp>
          <p:nvSpPr>
            <p:cNvPr name="Freeform 6" id="6"/>
            <p:cNvSpPr/>
            <p:nvPr/>
          </p:nvSpPr>
          <p:spPr>
            <a:xfrm flipH="false" flipV="false" rot="0">
              <a:off x="0" y="0"/>
              <a:ext cx="1832981" cy="260899"/>
            </a:xfrm>
            <a:custGeom>
              <a:avLst/>
              <a:gdLst/>
              <a:ahLst/>
              <a:cxnLst/>
              <a:rect r="r" b="b" t="t" l="l"/>
              <a:pathLst>
                <a:path h="260899" w="1832981">
                  <a:moveTo>
                    <a:pt x="0" y="0"/>
                  </a:moveTo>
                  <a:lnTo>
                    <a:pt x="1832981" y="0"/>
                  </a:lnTo>
                  <a:lnTo>
                    <a:pt x="1832981" y="260899"/>
                  </a:lnTo>
                  <a:lnTo>
                    <a:pt x="0" y="260899"/>
                  </a:lnTo>
                  <a:close/>
                </a:path>
              </a:pathLst>
            </a:custGeom>
            <a:solidFill>
              <a:srgbClr val="EDC254"/>
            </a:solidFill>
          </p:spPr>
        </p:sp>
        <p:sp>
          <p:nvSpPr>
            <p:cNvPr name="TextBox 7" id="7"/>
            <p:cNvSpPr txBox="true"/>
            <p:nvPr/>
          </p:nvSpPr>
          <p:spPr>
            <a:xfrm>
              <a:off x="0" y="-47625"/>
              <a:ext cx="1832981" cy="30852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549900" y="-2353537"/>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C254"/>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86553" y="775490"/>
            <a:ext cx="7991148" cy="980608"/>
          </a:xfrm>
          <a:prstGeom prst="rect">
            <a:avLst/>
          </a:prstGeom>
        </p:spPr>
        <p:txBody>
          <a:bodyPr anchor="t" rtlCol="false" tIns="0" lIns="0" bIns="0" rIns="0">
            <a:spAutoFit/>
          </a:bodyPr>
          <a:lstStyle/>
          <a:p>
            <a:pPr algn="l">
              <a:lnSpc>
                <a:spcPts val="8137"/>
              </a:lnSpc>
              <a:spcBef>
                <a:spcPct val="0"/>
              </a:spcBef>
            </a:pPr>
            <a:r>
              <a:rPr lang="en-US" sz="5812">
                <a:solidFill>
                  <a:srgbClr val="000000"/>
                </a:solidFill>
                <a:latin typeface="League Spartan"/>
                <a:ea typeface="League Spartan"/>
                <a:cs typeface="League Spartan"/>
                <a:sym typeface="League Spartan"/>
              </a:rPr>
              <a:t>LITERATURE REVIEW</a:t>
            </a:r>
          </a:p>
        </p:txBody>
      </p:sp>
      <p:sp>
        <p:nvSpPr>
          <p:cNvPr name="TextBox 12" id="12"/>
          <p:cNvSpPr txBox="true"/>
          <p:nvPr/>
        </p:nvSpPr>
        <p:spPr>
          <a:xfrm rot="0">
            <a:off x="1208202" y="8821923"/>
            <a:ext cx="3539770" cy="433680"/>
          </a:xfrm>
          <a:prstGeom prst="rect">
            <a:avLst/>
          </a:prstGeom>
        </p:spPr>
        <p:txBody>
          <a:bodyPr anchor="t" rtlCol="false" tIns="0" lIns="0" bIns="0" rIns="0">
            <a:spAutoFit/>
          </a:bodyPr>
          <a:lstStyle/>
          <a:p>
            <a:pPr algn="l">
              <a:lnSpc>
                <a:spcPts val="3396"/>
              </a:lnSpc>
              <a:spcBef>
                <a:spcPct val="0"/>
              </a:spcBef>
            </a:pPr>
            <a:r>
              <a:rPr lang="en-US" sz="2425" b="true">
                <a:solidFill>
                  <a:srgbClr val="000000"/>
                </a:solidFill>
                <a:latin typeface="Poppins Bold"/>
                <a:ea typeface="Poppins Bold"/>
                <a:cs typeface="Poppins Bold"/>
                <a:sym typeface="Poppins Bold"/>
              </a:rPr>
              <a:t>Friedemann Schmidt</a:t>
            </a:r>
          </a:p>
        </p:txBody>
      </p:sp>
      <p:sp>
        <p:nvSpPr>
          <p:cNvPr name="TextBox 13" id="13"/>
          <p:cNvSpPr txBox="true"/>
          <p:nvPr/>
        </p:nvSpPr>
        <p:spPr>
          <a:xfrm rot="0">
            <a:off x="386553" y="2029567"/>
            <a:ext cx="7293979" cy="551791"/>
          </a:xfrm>
          <a:prstGeom prst="rect">
            <a:avLst/>
          </a:prstGeom>
        </p:spPr>
        <p:txBody>
          <a:bodyPr anchor="t" rtlCol="false" tIns="0" lIns="0" bIns="0" rIns="0">
            <a:spAutoFit/>
          </a:bodyPr>
          <a:lstStyle/>
          <a:p>
            <a:pPr algn="l">
              <a:lnSpc>
                <a:spcPts val="4236"/>
              </a:lnSpc>
              <a:spcBef>
                <a:spcPct val="0"/>
              </a:spcBef>
            </a:pPr>
            <a:r>
              <a:rPr lang="en-US" sz="3025" b="true">
                <a:solidFill>
                  <a:srgbClr val="000000"/>
                </a:solidFill>
                <a:latin typeface="Poppins Bold"/>
                <a:ea typeface="Poppins Bold"/>
                <a:cs typeface="Poppins Bold"/>
                <a:sym typeface="Poppins Bold"/>
              </a:rPr>
              <a:t>Financial &amp; Economic Pressures</a:t>
            </a:r>
          </a:p>
        </p:txBody>
      </p:sp>
      <p:sp>
        <p:nvSpPr>
          <p:cNvPr name="TextBox 14" id="14"/>
          <p:cNvSpPr txBox="true"/>
          <p:nvPr/>
        </p:nvSpPr>
        <p:spPr>
          <a:xfrm rot="0">
            <a:off x="386553" y="2973769"/>
            <a:ext cx="7745970" cy="5724410"/>
          </a:xfrm>
          <a:prstGeom prst="rect">
            <a:avLst/>
          </a:prstGeom>
        </p:spPr>
        <p:txBody>
          <a:bodyPr anchor="t" rtlCol="false" tIns="0" lIns="0" bIns="0" rIns="0">
            <a:spAutoFit/>
          </a:bodyPr>
          <a:lstStyle/>
          <a:p>
            <a:pPr algn="l" marL="466146" indent="-233073" lvl="1">
              <a:lnSpc>
                <a:spcPts val="3022"/>
              </a:lnSpc>
              <a:spcBef>
                <a:spcPct val="0"/>
              </a:spcBef>
              <a:buFont typeface="Arial"/>
              <a:buChar char="•"/>
            </a:pPr>
            <a:r>
              <a:rPr lang="en-US" sz="2159" strike="noStrike" u="none">
                <a:solidFill>
                  <a:srgbClr val="000000"/>
                </a:solidFill>
                <a:latin typeface="Poppins"/>
                <a:ea typeface="Poppins"/>
                <a:cs typeface="Poppins"/>
                <a:sym typeface="Poppins"/>
              </a:rPr>
              <a:t>MA plans collectively posted a $5.7B underwriting loss in 2024</a:t>
            </a:r>
          </a:p>
          <a:p>
            <a:pPr algn="l" marL="932292" indent="-310764" lvl="2">
              <a:lnSpc>
                <a:spcPts val="3022"/>
              </a:lnSpc>
              <a:spcBef>
                <a:spcPct val="0"/>
              </a:spcBef>
              <a:buFont typeface="Arial"/>
              <a:buChar char="⚬"/>
            </a:pPr>
            <a:r>
              <a:rPr lang="en-US" sz="2159" strike="noStrike" u="none">
                <a:solidFill>
                  <a:srgbClr val="000000"/>
                </a:solidFill>
                <a:latin typeface="Poppins"/>
                <a:ea typeface="Poppins"/>
                <a:cs typeface="Poppins"/>
                <a:sym typeface="Poppins"/>
              </a:rPr>
              <a:t> nearly three-quarters of MA-concentrated companies reported losses</a:t>
            </a:r>
          </a:p>
          <a:p>
            <a:pPr algn="l" marL="466146" indent="-233073" lvl="1">
              <a:lnSpc>
                <a:spcPts val="3022"/>
              </a:lnSpc>
              <a:spcBef>
                <a:spcPct val="0"/>
              </a:spcBef>
              <a:buFont typeface="Arial"/>
              <a:buChar char="•"/>
            </a:pPr>
            <a:r>
              <a:rPr lang="en-US" sz="2159" strike="noStrike" u="none">
                <a:solidFill>
                  <a:srgbClr val="000000"/>
                </a:solidFill>
                <a:latin typeface="Poppins"/>
                <a:ea typeface="Poppins"/>
                <a:cs typeface="Poppins"/>
                <a:sym typeface="Poppins"/>
              </a:rPr>
              <a:t>Elevated utilization (outpatient, orthopedic, specialty drug) driven by post-COVID pent-up demand and Baby Boomer aging-in</a:t>
            </a:r>
          </a:p>
          <a:p>
            <a:pPr algn="l" marL="466146" indent="-233073" lvl="1">
              <a:lnSpc>
                <a:spcPts val="3022"/>
              </a:lnSpc>
              <a:spcBef>
                <a:spcPct val="0"/>
              </a:spcBef>
              <a:buFont typeface="Arial"/>
              <a:buChar char="•"/>
            </a:pPr>
            <a:r>
              <a:rPr lang="en-US" sz="2159" strike="noStrike" u="none">
                <a:solidFill>
                  <a:srgbClr val="000000"/>
                </a:solidFill>
                <a:latin typeface="Poppins"/>
                <a:ea typeface="Poppins"/>
                <a:cs typeface="Poppins"/>
                <a:sym typeface="Poppins"/>
              </a:rPr>
              <a:t>Benefit generosity is declining for the first time in a decade: suppl</a:t>
            </a:r>
            <a:r>
              <a:rPr lang="en-US" sz="2159" strike="noStrike" u="none">
                <a:solidFill>
                  <a:srgbClr val="000000"/>
                </a:solidFill>
                <a:latin typeface="Poppins"/>
                <a:ea typeface="Poppins"/>
                <a:cs typeface="Poppins"/>
                <a:sym typeface="Poppins"/>
              </a:rPr>
              <a:t>eme</a:t>
            </a:r>
            <a:r>
              <a:rPr lang="en-US" sz="2159" strike="noStrike" u="none">
                <a:solidFill>
                  <a:srgbClr val="000000"/>
                </a:solidFill>
                <a:latin typeface="Poppins"/>
                <a:ea typeface="Poppins"/>
                <a:cs typeface="Poppins"/>
                <a:sym typeface="Poppins"/>
              </a:rPr>
              <a:t>n</a:t>
            </a:r>
            <a:r>
              <a:rPr lang="en-US" sz="2159" strike="noStrike" u="none">
                <a:solidFill>
                  <a:srgbClr val="000000"/>
                </a:solidFill>
                <a:latin typeface="Poppins"/>
                <a:ea typeface="Poppins"/>
                <a:cs typeface="Poppins"/>
                <a:sym typeface="Poppins"/>
              </a:rPr>
              <a:t>tal</a:t>
            </a:r>
            <a:r>
              <a:rPr lang="en-US" sz="2159" strike="noStrike" u="none">
                <a:solidFill>
                  <a:srgbClr val="000000"/>
                </a:solidFill>
                <a:latin typeface="Poppins"/>
                <a:ea typeface="Poppins"/>
                <a:cs typeface="Poppins"/>
                <a:sym typeface="Poppins"/>
              </a:rPr>
              <a:t> </a:t>
            </a:r>
            <a:r>
              <a:rPr lang="en-US" sz="2159" strike="noStrike" u="none">
                <a:solidFill>
                  <a:srgbClr val="000000"/>
                </a:solidFill>
                <a:latin typeface="Poppins"/>
                <a:ea typeface="Poppins"/>
                <a:cs typeface="Poppins"/>
                <a:sym typeface="Poppins"/>
              </a:rPr>
              <a:t>benef</a:t>
            </a:r>
            <a:r>
              <a:rPr lang="en-US" sz="2159" strike="noStrike" u="none">
                <a:solidFill>
                  <a:srgbClr val="000000"/>
                </a:solidFill>
                <a:latin typeface="Poppins"/>
                <a:ea typeface="Poppins"/>
                <a:cs typeface="Poppins"/>
                <a:sym typeface="Poppins"/>
              </a:rPr>
              <a:t>i</a:t>
            </a:r>
            <a:r>
              <a:rPr lang="en-US" sz="2159" strike="noStrike" u="none">
                <a:solidFill>
                  <a:srgbClr val="000000"/>
                </a:solidFill>
                <a:latin typeface="Poppins"/>
                <a:ea typeface="Poppins"/>
                <a:cs typeface="Poppins"/>
                <a:sym typeface="Poppins"/>
              </a:rPr>
              <a:t>t value</a:t>
            </a:r>
            <a:r>
              <a:rPr lang="en-US" sz="2159" strike="noStrike" u="none">
                <a:solidFill>
                  <a:srgbClr val="000000"/>
                </a:solidFill>
                <a:latin typeface="Poppins"/>
                <a:ea typeface="Poppins"/>
                <a:cs typeface="Poppins"/>
                <a:sym typeface="Poppins"/>
              </a:rPr>
              <a:t> </a:t>
            </a:r>
            <a:r>
              <a:rPr lang="en-US" sz="2159" strike="noStrike" u="none">
                <a:solidFill>
                  <a:srgbClr val="000000"/>
                </a:solidFill>
                <a:latin typeface="Poppins"/>
                <a:ea typeface="Poppins"/>
                <a:cs typeface="Poppins"/>
                <a:sym typeface="Poppins"/>
              </a:rPr>
              <a:t>d</a:t>
            </a:r>
            <a:r>
              <a:rPr lang="en-US" sz="2159" strike="noStrike" u="none">
                <a:solidFill>
                  <a:srgbClr val="000000"/>
                </a:solidFill>
                <a:latin typeface="Poppins"/>
                <a:ea typeface="Poppins"/>
                <a:cs typeface="Poppins"/>
                <a:sym typeface="Poppins"/>
              </a:rPr>
              <a:t>ro</a:t>
            </a:r>
            <a:r>
              <a:rPr lang="en-US" sz="2159" strike="noStrike" u="none">
                <a:solidFill>
                  <a:srgbClr val="000000"/>
                </a:solidFill>
                <a:latin typeface="Poppins"/>
                <a:ea typeface="Poppins"/>
                <a:cs typeface="Poppins"/>
                <a:sym typeface="Poppins"/>
              </a:rPr>
              <a:t>pped</a:t>
            </a:r>
          </a:p>
          <a:p>
            <a:pPr algn="l" marL="932292" indent="-310764" lvl="2">
              <a:lnSpc>
                <a:spcPts val="3022"/>
              </a:lnSpc>
              <a:spcBef>
                <a:spcPct val="0"/>
              </a:spcBef>
              <a:buFont typeface="Arial"/>
              <a:buChar char="⚬"/>
            </a:pPr>
            <a:r>
              <a:rPr lang="en-US" sz="2159" strike="noStrike" u="none">
                <a:solidFill>
                  <a:srgbClr val="000000"/>
                </a:solidFill>
                <a:latin typeface="Poppins"/>
                <a:ea typeface="Poppins"/>
                <a:cs typeface="Poppins"/>
                <a:sym typeface="Poppins"/>
              </a:rPr>
              <a:t>~$7 PMPM for general enrollment plans, ~$30 PMPM for D-SNPs</a:t>
            </a:r>
          </a:p>
          <a:p>
            <a:pPr algn="l" marL="466146" indent="-233073" lvl="1">
              <a:lnSpc>
                <a:spcPts val="3022"/>
              </a:lnSpc>
              <a:spcBef>
                <a:spcPct val="0"/>
              </a:spcBef>
              <a:buFont typeface="Arial"/>
              <a:buChar char="•"/>
            </a:pPr>
            <a:r>
              <a:rPr lang="en-US" sz="2159" strike="noStrike" u="none">
                <a:solidFill>
                  <a:srgbClr val="000000"/>
                </a:solidFill>
                <a:latin typeface="Poppins"/>
                <a:ea typeface="Poppins"/>
                <a:cs typeface="Poppins"/>
                <a:sym typeface="Poppins"/>
              </a:rPr>
              <a:t>C</a:t>
            </a:r>
            <a:r>
              <a:rPr lang="en-US" sz="2159" strike="noStrike" u="none">
                <a:solidFill>
                  <a:srgbClr val="000000"/>
                </a:solidFill>
                <a:latin typeface="Poppins"/>
                <a:ea typeface="Poppins"/>
                <a:cs typeface="Poppins"/>
                <a:sym typeface="Poppins"/>
              </a:rPr>
              <a:t>Y 2026 </a:t>
            </a:r>
            <a:r>
              <a:rPr lang="en-US" sz="2159" strike="noStrike" u="none">
                <a:solidFill>
                  <a:srgbClr val="000000"/>
                </a:solidFill>
                <a:latin typeface="Poppins"/>
                <a:ea typeface="Poppins"/>
                <a:cs typeface="Poppins"/>
                <a:sym typeface="Poppins"/>
              </a:rPr>
              <a:t>rate update wa</a:t>
            </a:r>
            <a:r>
              <a:rPr lang="en-US" sz="2159" strike="noStrike" u="none">
                <a:solidFill>
                  <a:srgbClr val="000000"/>
                </a:solidFill>
                <a:latin typeface="Poppins"/>
                <a:ea typeface="Poppins"/>
                <a:cs typeface="Poppins"/>
                <a:sym typeface="Poppins"/>
              </a:rPr>
              <a:t>s</a:t>
            </a:r>
            <a:r>
              <a:rPr lang="en-US" sz="2159" strike="noStrike" u="none">
                <a:solidFill>
                  <a:srgbClr val="000000"/>
                </a:solidFill>
                <a:latin typeface="Poppins"/>
                <a:ea typeface="Poppins"/>
                <a:cs typeface="Poppins"/>
                <a:sym typeface="Poppins"/>
              </a:rPr>
              <a:t> generous</a:t>
            </a:r>
            <a:r>
              <a:rPr lang="en-US" sz="2159" strike="noStrike" u="none">
                <a:solidFill>
                  <a:srgbClr val="000000"/>
                </a:solidFill>
                <a:latin typeface="Poppins"/>
                <a:ea typeface="Poppins"/>
                <a:cs typeface="Poppins"/>
                <a:sym typeface="Poppins"/>
              </a:rPr>
              <a:t> </a:t>
            </a:r>
            <a:r>
              <a:rPr lang="en-US" sz="2159" strike="noStrike" u="none">
                <a:solidFill>
                  <a:srgbClr val="000000"/>
                </a:solidFill>
                <a:latin typeface="Poppins"/>
                <a:ea typeface="Poppins"/>
                <a:cs typeface="Poppins"/>
                <a:sym typeface="Poppins"/>
              </a:rPr>
              <a:t>at +5.</a:t>
            </a:r>
            <a:r>
              <a:rPr lang="en-US" sz="2159" strike="noStrike" u="none">
                <a:solidFill>
                  <a:srgbClr val="000000"/>
                </a:solidFill>
                <a:latin typeface="Poppins"/>
                <a:ea typeface="Poppins"/>
                <a:cs typeface="Poppins"/>
                <a:sym typeface="Poppins"/>
              </a:rPr>
              <a:t>0</a:t>
            </a:r>
            <a:r>
              <a:rPr lang="en-US" sz="2159" strike="noStrike" u="none">
                <a:solidFill>
                  <a:srgbClr val="000000"/>
                </a:solidFill>
                <a:latin typeface="Poppins"/>
                <a:ea typeface="Poppins"/>
                <a:cs typeface="Poppins"/>
                <a:sym typeface="Poppins"/>
              </a:rPr>
              <a:t>6</a:t>
            </a:r>
            <a:r>
              <a:rPr lang="en-US" sz="2159" strike="noStrike" u="none">
                <a:solidFill>
                  <a:srgbClr val="000000"/>
                </a:solidFill>
                <a:latin typeface="Poppins"/>
                <a:ea typeface="Poppins"/>
                <a:cs typeface="Poppins"/>
                <a:sym typeface="Poppins"/>
              </a:rPr>
              <a:t>%</a:t>
            </a:r>
            <a:r>
              <a:rPr lang="en-US" sz="2159" strike="noStrike" u="none">
                <a:solidFill>
                  <a:srgbClr val="000000"/>
                </a:solidFill>
                <a:latin typeface="Poppins"/>
                <a:ea typeface="Poppins"/>
                <a:cs typeface="Poppins"/>
                <a:sym typeface="Poppins"/>
              </a:rPr>
              <a:t>,</a:t>
            </a:r>
            <a:r>
              <a:rPr lang="en-US" sz="2159" strike="noStrike" u="none">
                <a:solidFill>
                  <a:srgbClr val="000000"/>
                </a:solidFill>
                <a:latin typeface="Poppins"/>
                <a:ea typeface="Poppins"/>
                <a:cs typeface="Poppins"/>
                <a:sym typeface="Poppins"/>
              </a:rPr>
              <a:t> </a:t>
            </a:r>
            <a:r>
              <a:rPr lang="en-US" sz="2159" strike="noStrike" u="none">
                <a:solidFill>
                  <a:srgbClr val="000000"/>
                </a:solidFill>
                <a:latin typeface="Poppins"/>
                <a:ea typeface="Poppins"/>
                <a:cs typeface="Poppins"/>
                <a:sym typeface="Poppins"/>
              </a:rPr>
              <a:t>b</a:t>
            </a:r>
            <a:r>
              <a:rPr lang="en-US" sz="2159" strike="noStrike" u="none">
                <a:solidFill>
                  <a:srgbClr val="000000"/>
                </a:solidFill>
                <a:latin typeface="Poppins"/>
                <a:ea typeface="Poppins"/>
                <a:cs typeface="Poppins"/>
                <a:sym typeface="Poppins"/>
              </a:rPr>
              <a:t>u</a:t>
            </a:r>
            <a:r>
              <a:rPr lang="en-US" sz="2159" strike="noStrike" u="none">
                <a:solidFill>
                  <a:srgbClr val="000000"/>
                </a:solidFill>
                <a:latin typeface="Poppins"/>
                <a:ea typeface="Poppins"/>
                <a:cs typeface="Poppins"/>
                <a:sym typeface="Poppins"/>
              </a:rPr>
              <a:t>t CY 2027</a:t>
            </a:r>
            <a:r>
              <a:rPr lang="en-US" sz="2159" strike="noStrike" u="none">
                <a:solidFill>
                  <a:srgbClr val="000000"/>
                </a:solidFill>
                <a:latin typeface="Poppins"/>
                <a:ea typeface="Poppins"/>
                <a:cs typeface="Poppins"/>
                <a:sym typeface="Poppins"/>
              </a:rPr>
              <a:t> </a:t>
            </a:r>
            <a:r>
              <a:rPr lang="en-US" sz="2159" strike="noStrike" u="none">
                <a:solidFill>
                  <a:srgbClr val="000000"/>
                </a:solidFill>
                <a:latin typeface="Poppins"/>
                <a:ea typeface="Poppins"/>
                <a:cs typeface="Poppins"/>
                <a:sym typeface="Poppins"/>
              </a:rPr>
              <a:t>p</a:t>
            </a:r>
            <a:r>
              <a:rPr lang="en-US" sz="2159" strike="noStrike" u="none">
                <a:solidFill>
                  <a:srgbClr val="000000"/>
                </a:solidFill>
                <a:latin typeface="Poppins"/>
                <a:ea typeface="Poppins"/>
                <a:cs typeface="Poppins"/>
                <a:sym typeface="Poppins"/>
              </a:rPr>
              <a:t>ro</a:t>
            </a:r>
            <a:r>
              <a:rPr lang="en-US" sz="2159" strike="noStrike" u="none">
                <a:solidFill>
                  <a:srgbClr val="000000"/>
                </a:solidFill>
                <a:latin typeface="Poppins"/>
                <a:ea typeface="Poppins"/>
                <a:cs typeface="Poppins"/>
                <a:sym typeface="Poppins"/>
              </a:rPr>
              <a:t>posed a</a:t>
            </a:r>
            <a:r>
              <a:rPr lang="en-US" sz="2159" strike="noStrike" u="none">
                <a:solidFill>
                  <a:srgbClr val="000000"/>
                </a:solidFill>
                <a:latin typeface="Poppins"/>
                <a:ea typeface="Poppins"/>
                <a:cs typeface="Poppins"/>
                <a:sym typeface="Poppins"/>
              </a:rPr>
              <a:t>t </a:t>
            </a:r>
            <a:r>
              <a:rPr lang="en-US" sz="2159" strike="noStrike" u="none">
                <a:solidFill>
                  <a:srgbClr val="000000"/>
                </a:solidFill>
                <a:latin typeface="Poppins"/>
                <a:ea typeface="Poppins"/>
                <a:cs typeface="Poppins"/>
                <a:sym typeface="Poppins"/>
              </a:rPr>
              <a:t>o</a:t>
            </a:r>
            <a:r>
              <a:rPr lang="en-US" sz="2159" strike="noStrike" u="none">
                <a:solidFill>
                  <a:srgbClr val="000000"/>
                </a:solidFill>
                <a:latin typeface="Poppins"/>
                <a:ea typeface="Poppins"/>
                <a:cs typeface="Poppins"/>
                <a:sym typeface="Poppins"/>
              </a:rPr>
              <a:t>n</a:t>
            </a:r>
            <a:r>
              <a:rPr lang="en-US" sz="2159" strike="noStrike" u="none">
                <a:solidFill>
                  <a:srgbClr val="000000"/>
                </a:solidFill>
                <a:latin typeface="Poppins"/>
                <a:ea typeface="Poppins"/>
                <a:cs typeface="Poppins"/>
                <a:sym typeface="Poppins"/>
              </a:rPr>
              <a:t>ly +0.09% — well below</a:t>
            </a:r>
            <a:r>
              <a:rPr lang="en-US" sz="2159" strike="noStrike" u="none">
                <a:solidFill>
                  <a:srgbClr val="000000"/>
                </a:solidFill>
                <a:latin typeface="Poppins"/>
                <a:ea typeface="Poppins"/>
                <a:cs typeface="Poppins"/>
                <a:sym typeface="Poppins"/>
              </a:rPr>
              <a:t> the </a:t>
            </a:r>
            <a:r>
              <a:rPr lang="en-US" sz="2159" strike="noStrike" u="none">
                <a:solidFill>
                  <a:srgbClr val="000000"/>
                </a:solidFill>
                <a:latin typeface="Poppins"/>
                <a:ea typeface="Poppins"/>
                <a:cs typeface="Poppins"/>
                <a:sym typeface="Poppins"/>
              </a:rPr>
              <a:t>d</a:t>
            </a:r>
            <a:r>
              <a:rPr lang="en-US" sz="2159" strike="noStrike" u="none">
                <a:solidFill>
                  <a:srgbClr val="000000"/>
                </a:solidFill>
                <a:latin typeface="Poppins"/>
                <a:ea typeface="Poppins"/>
                <a:cs typeface="Poppins"/>
                <a:sym typeface="Poppins"/>
              </a:rPr>
              <a:t>e</a:t>
            </a:r>
            <a:r>
              <a:rPr lang="en-US" sz="2159" strike="noStrike" u="none">
                <a:solidFill>
                  <a:srgbClr val="000000"/>
                </a:solidFill>
                <a:latin typeface="Poppins"/>
                <a:ea typeface="Poppins"/>
                <a:cs typeface="Poppins"/>
                <a:sym typeface="Poppins"/>
              </a:rPr>
              <a:t>c</a:t>
            </a:r>
            <a:r>
              <a:rPr lang="en-US" sz="2159" strike="noStrike" u="none">
                <a:solidFill>
                  <a:srgbClr val="000000"/>
                </a:solidFill>
                <a:latin typeface="Poppins"/>
                <a:ea typeface="Poppins"/>
                <a:cs typeface="Poppins"/>
                <a:sym typeface="Poppins"/>
              </a:rPr>
              <a:t>a</a:t>
            </a:r>
            <a:r>
              <a:rPr lang="en-US" sz="2159" strike="noStrike" u="none">
                <a:solidFill>
                  <a:srgbClr val="000000"/>
                </a:solidFill>
                <a:latin typeface="Poppins"/>
                <a:ea typeface="Poppins"/>
                <a:cs typeface="Poppins"/>
                <a:sym typeface="Poppins"/>
              </a:rPr>
              <a:t>de ave</a:t>
            </a:r>
            <a:r>
              <a:rPr lang="en-US" sz="2159" strike="noStrike" u="none">
                <a:solidFill>
                  <a:srgbClr val="000000"/>
                </a:solidFill>
                <a:latin typeface="Poppins"/>
                <a:ea typeface="Poppins"/>
                <a:cs typeface="Poppins"/>
                <a:sym typeface="Poppins"/>
              </a:rPr>
              <a:t>r</a:t>
            </a:r>
            <a:r>
              <a:rPr lang="en-US" sz="2159" strike="noStrike" u="none">
                <a:solidFill>
                  <a:srgbClr val="000000"/>
                </a:solidFill>
                <a:latin typeface="Poppins"/>
                <a:ea typeface="Poppins"/>
                <a:cs typeface="Poppins"/>
                <a:sym typeface="Poppins"/>
              </a:rPr>
              <a:t>age</a:t>
            </a:r>
            <a:r>
              <a:rPr lang="en-US" sz="2159" strike="noStrike" u="none">
                <a:solidFill>
                  <a:srgbClr val="000000"/>
                </a:solidFill>
                <a:latin typeface="Poppins"/>
                <a:ea typeface="Poppins"/>
                <a:cs typeface="Poppins"/>
                <a:sym typeface="Poppins"/>
              </a:rPr>
              <a:t> </a:t>
            </a:r>
            <a:r>
              <a:rPr lang="en-US" sz="2159" strike="noStrike" u="none">
                <a:solidFill>
                  <a:srgbClr val="000000"/>
                </a:solidFill>
                <a:latin typeface="Poppins"/>
                <a:ea typeface="Poppins"/>
                <a:cs typeface="Poppins"/>
                <a:sym typeface="Poppins"/>
              </a:rPr>
              <a:t>of 3.88%</a:t>
            </a:r>
          </a:p>
          <a:p>
            <a:pPr algn="l" marL="932292" indent="-310764" lvl="2">
              <a:lnSpc>
                <a:spcPts val="3022"/>
              </a:lnSpc>
              <a:spcBef>
                <a:spcPct val="0"/>
              </a:spcBef>
              <a:buFont typeface="Arial"/>
              <a:buChar char="⚬"/>
            </a:pPr>
          </a:p>
        </p:txBody>
      </p:sp>
      <p:sp>
        <p:nvSpPr>
          <p:cNvPr name="TextBox 15" id="15"/>
          <p:cNvSpPr txBox="true"/>
          <p:nvPr/>
        </p:nvSpPr>
        <p:spPr>
          <a:xfrm rot="0">
            <a:off x="9965321" y="1995636"/>
            <a:ext cx="7293979" cy="551791"/>
          </a:xfrm>
          <a:prstGeom prst="rect">
            <a:avLst/>
          </a:prstGeom>
        </p:spPr>
        <p:txBody>
          <a:bodyPr anchor="t" rtlCol="false" tIns="0" lIns="0" bIns="0" rIns="0">
            <a:spAutoFit/>
          </a:bodyPr>
          <a:lstStyle/>
          <a:p>
            <a:pPr algn="l">
              <a:lnSpc>
                <a:spcPts val="4236"/>
              </a:lnSpc>
              <a:spcBef>
                <a:spcPct val="0"/>
              </a:spcBef>
            </a:pPr>
            <a:r>
              <a:rPr lang="en-US" sz="3025" b="true">
                <a:solidFill>
                  <a:srgbClr val="000000"/>
                </a:solidFill>
                <a:latin typeface="Poppins Bold"/>
                <a:ea typeface="Poppins Bold"/>
                <a:cs typeface="Poppins Bold"/>
                <a:sym typeface="Poppins Bold"/>
              </a:rPr>
              <a:t>Regulatory Tailwinds &amp; Outlook</a:t>
            </a:r>
          </a:p>
        </p:txBody>
      </p:sp>
      <p:sp>
        <p:nvSpPr>
          <p:cNvPr name="TextBox 16" id="16"/>
          <p:cNvSpPr txBox="true"/>
          <p:nvPr/>
        </p:nvSpPr>
        <p:spPr>
          <a:xfrm rot="0">
            <a:off x="9785892" y="2783350"/>
            <a:ext cx="7745970" cy="6105248"/>
          </a:xfrm>
          <a:prstGeom prst="rect">
            <a:avLst/>
          </a:prstGeom>
        </p:spPr>
        <p:txBody>
          <a:bodyPr anchor="t" rtlCol="false" tIns="0" lIns="0" bIns="0" rIns="0">
            <a:spAutoFit/>
          </a:bodyPr>
          <a:lstStyle/>
          <a:p>
            <a:pPr algn="l" marL="466146" indent="-233073" lvl="1">
              <a:lnSpc>
                <a:spcPts val="3022"/>
              </a:lnSpc>
              <a:spcBef>
                <a:spcPct val="0"/>
              </a:spcBef>
              <a:buFont typeface="Arial"/>
              <a:buChar char="•"/>
            </a:pPr>
            <a:r>
              <a:rPr lang="en-US" sz="2159">
                <a:solidFill>
                  <a:srgbClr val="000000"/>
                </a:solidFill>
                <a:latin typeface="Poppins"/>
                <a:ea typeface="Poppins"/>
                <a:cs typeface="Poppins"/>
                <a:sym typeface="Poppins"/>
              </a:rPr>
              <a:t>Full</a:t>
            </a:r>
            <a:r>
              <a:rPr lang="en-US" sz="2159" strike="noStrike" u="none">
                <a:solidFill>
                  <a:srgbClr val="000000"/>
                </a:solidFill>
                <a:latin typeface="Poppins"/>
                <a:ea typeface="Poppins"/>
                <a:cs typeface="Poppins"/>
                <a:sym typeface="Poppins"/>
              </a:rPr>
              <a:t> transition to CMS-HCC V28 risk model completed in 2026 — projected to reduce average risk scores by 3.12%</a:t>
            </a:r>
          </a:p>
          <a:p>
            <a:pPr algn="l" marL="932292" indent="-310764" lvl="2">
              <a:lnSpc>
                <a:spcPts val="3022"/>
              </a:lnSpc>
              <a:spcBef>
                <a:spcPct val="0"/>
              </a:spcBef>
              <a:buFont typeface="Arial"/>
              <a:buChar char="⚬"/>
            </a:pPr>
            <a:r>
              <a:rPr lang="en-US" sz="2159" strike="noStrike" u="none">
                <a:solidFill>
                  <a:srgbClr val="000000"/>
                </a:solidFill>
                <a:latin typeface="Poppins"/>
                <a:ea typeface="Poppins"/>
                <a:cs typeface="Poppins"/>
                <a:sym typeface="Poppins"/>
              </a:rPr>
              <a:t>~$11B in Medicare savings</a:t>
            </a:r>
          </a:p>
          <a:p>
            <a:pPr algn="l" marL="466146" indent="-233073" lvl="1">
              <a:lnSpc>
                <a:spcPts val="3022"/>
              </a:lnSpc>
              <a:spcBef>
                <a:spcPct val="0"/>
              </a:spcBef>
              <a:buFont typeface="Arial"/>
              <a:buChar char="•"/>
            </a:pPr>
            <a:r>
              <a:rPr lang="en-US" sz="2159" strike="noStrike" u="none">
                <a:solidFill>
                  <a:srgbClr val="000000"/>
                </a:solidFill>
                <a:latin typeface="Poppins"/>
                <a:ea typeface="Poppins"/>
                <a:cs typeface="Poppins"/>
                <a:sym typeface="Poppins"/>
              </a:rPr>
              <a:t>CMS proposes excluding unlinked chart reviews from risk scoring in 2027, targeting</a:t>
            </a:r>
          </a:p>
          <a:p>
            <a:pPr algn="l" marL="932292" indent="-310764" lvl="2">
              <a:lnSpc>
                <a:spcPts val="3022"/>
              </a:lnSpc>
              <a:spcBef>
                <a:spcPct val="0"/>
              </a:spcBef>
              <a:buFont typeface="Arial"/>
              <a:buChar char="⚬"/>
            </a:pPr>
            <a:r>
              <a:rPr lang="en-US" sz="2159" strike="noStrike" u="none">
                <a:solidFill>
                  <a:srgbClr val="000000"/>
                </a:solidFill>
                <a:latin typeface="Poppins"/>
                <a:ea typeface="Poppins"/>
                <a:cs typeface="Poppins"/>
                <a:sym typeface="Poppins"/>
              </a:rPr>
              <a:t>$7B in estimated overpayments</a:t>
            </a:r>
          </a:p>
          <a:p>
            <a:pPr algn="l" marL="466146" indent="-233073" lvl="1">
              <a:lnSpc>
                <a:spcPts val="3022"/>
              </a:lnSpc>
              <a:spcBef>
                <a:spcPct val="0"/>
              </a:spcBef>
              <a:buFont typeface="Arial"/>
              <a:buChar char="•"/>
            </a:pPr>
            <a:r>
              <a:rPr lang="en-US" sz="2159" strike="noStrike" u="none">
                <a:solidFill>
                  <a:srgbClr val="000000"/>
                </a:solidFill>
                <a:latin typeface="Poppins"/>
                <a:ea typeface="Poppins"/>
                <a:cs typeface="Poppins"/>
                <a:sym typeface="Poppins"/>
              </a:rPr>
              <a:t>Star Ratings tightening: 4+ star contracts declined 25% between 2022–2025, directly reducing quality bonus payments and rebate pe</a:t>
            </a:r>
            <a:r>
              <a:rPr lang="en-US" sz="2159" strike="noStrike" u="none">
                <a:solidFill>
                  <a:srgbClr val="000000"/>
                </a:solidFill>
                <a:latin typeface="Poppins"/>
                <a:ea typeface="Poppins"/>
                <a:cs typeface="Poppins"/>
                <a:sym typeface="Poppins"/>
              </a:rPr>
              <a:t>rc</a:t>
            </a:r>
            <a:r>
              <a:rPr lang="en-US" sz="2159" strike="noStrike" u="none">
                <a:solidFill>
                  <a:srgbClr val="000000"/>
                </a:solidFill>
                <a:latin typeface="Poppins"/>
                <a:ea typeface="Poppins"/>
                <a:cs typeface="Poppins"/>
                <a:sym typeface="Poppins"/>
              </a:rPr>
              <a:t>enta</a:t>
            </a:r>
            <a:r>
              <a:rPr lang="en-US" sz="2159" strike="noStrike" u="none">
                <a:solidFill>
                  <a:srgbClr val="000000"/>
                </a:solidFill>
                <a:latin typeface="Poppins"/>
                <a:ea typeface="Poppins"/>
                <a:cs typeface="Poppins"/>
                <a:sym typeface="Poppins"/>
              </a:rPr>
              <a:t>g</a:t>
            </a:r>
            <a:r>
              <a:rPr lang="en-US" sz="2159" strike="noStrike" u="none">
                <a:solidFill>
                  <a:srgbClr val="000000"/>
                </a:solidFill>
                <a:latin typeface="Poppins"/>
                <a:ea typeface="Poppins"/>
                <a:cs typeface="Poppins"/>
                <a:sym typeface="Poppins"/>
              </a:rPr>
              <a:t>e</a:t>
            </a:r>
            <a:r>
              <a:rPr lang="en-US" sz="2159" strike="noStrike" u="none">
                <a:solidFill>
                  <a:srgbClr val="000000"/>
                </a:solidFill>
                <a:latin typeface="Poppins"/>
                <a:ea typeface="Poppins"/>
                <a:cs typeface="Poppins"/>
                <a:sym typeface="Poppins"/>
              </a:rPr>
              <a:t>s</a:t>
            </a:r>
          </a:p>
          <a:p>
            <a:pPr algn="l" marL="466146" indent="-233073" lvl="1">
              <a:lnSpc>
                <a:spcPts val="3022"/>
              </a:lnSpc>
              <a:spcBef>
                <a:spcPct val="0"/>
              </a:spcBef>
              <a:buFont typeface="Arial"/>
              <a:buChar char="•"/>
            </a:pPr>
            <a:r>
              <a:rPr lang="en-US" sz="2159" strike="noStrike" u="none">
                <a:solidFill>
                  <a:srgbClr val="000000"/>
                </a:solidFill>
                <a:latin typeface="Poppins"/>
                <a:ea typeface="Poppins"/>
                <a:cs typeface="Poppins"/>
                <a:sym typeface="Poppins"/>
              </a:rPr>
              <a:t>Lo</a:t>
            </a:r>
            <a:r>
              <a:rPr lang="en-US" sz="2159" strike="noStrike" u="none">
                <a:solidFill>
                  <a:srgbClr val="000000"/>
                </a:solidFill>
                <a:latin typeface="Poppins"/>
                <a:ea typeface="Poppins"/>
                <a:cs typeface="Poppins"/>
                <a:sym typeface="Poppins"/>
              </a:rPr>
              <a:t>n</a:t>
            </a:r>
            <a:r>
              <a:rPr lang="en-US" sz="2159" strike="noStrike" u="none">
                <a:solidFill>
                  <a:srgbClr val="000000"/>
                </a:solidFill>
                <a:latin typeface="Poppins"/>
                <a:ea typeface="Poppins"/>
                <a:cs typeface="Poppins"/>
                <a:sym typeface="Poppins"/>
              </a:rPr>
              <a:t>g-</a:t>
            </a:r>
            <a:r>
              <a:rPr lang="en-US" sz="2159" strike="noStrike" u="none">
                <a:solidFill>
                  <a:srgbClr val="000000"/>
                </a:solidFill>
                <a:latin typeface="Poppins"/>
                <a:ea typeface="Poppins"/>
                <a:cs typeface="Poppins"/>
                <a:sym typeface="Poppins"/>
              </a:rPr>
              <a:t>te</a:t>
            </a:r>
            <a:r>
              <a:rPr lang="en-US" sz="2159" strike="noStrike" u="none">
                <a:solidFill>
                  <a:srgbClr val="000000"/>
                </a:solidFill>
                <a:latin typeface="Poppins"/>
                <a:ea typeface="Poppins"/>
                <a:cs typeface="Poppins"/>
                <a:sym typeface="Poppins"/>
              </a:rPr>
              <a:t>rm</a:t>
            </a:r>
            <a:r>
              <a:rPr lang="en-US" sz="2159" strike="noStrike" u="none">
                <a:solidFill>
                  <a:srgbClr val="000000"/>
                </a:solidFill>
                <a:latin typeface="Poppins"/>
                <a:ea typeface="Poppins"/>
                <a:cs typeface="Poppins"/>
                <a:sym typeface="Poppins"/>
              </a:rPr>
              <a:t> d</a:t>
            </a:r>
            <a:r>
              <a:rPr lang="en-US" sz="2159" strike="noStrike" u="none">
                <a:solidFill>
                  <a:srgbClr val="000000"/>
                </a:solidFill>
                <a:latin typeface="Poppins"/>
                <a:ea typeface="Poppins"/>
                <a:cs typeface="Poppins"/>
                <a:sym typeface="Poppins"/>
              </a:rPr>
              <a:t>emog</a:t>
            </a:r>
            <a:r>
              <a:rPr lang="en-US" sz="2159" strike="noStrike" u="none">
                <a:solidFill>
                  <a:srgbClr val="000000"/>
                </a:solidFill>
                <a:latin typeface="Poppins"/>
                <a:ea typeface="Poppins"/>
                <a:cs typeface="Poppins"/>
                <a:sym typeface="Poppins"/>
              </a:rPr>
              <a:t>rap</a:t>
            </a:r>
            <a:r>
              <a:rPr lang="en-US" sz="2159" strike="noStrike" u="none">
                <a:solidFill>
                  <a:srgbClr val="000000"/>
                </a:solidFill>
                <a:latin typeface="Poppins"/>
                <a:ea typeface="Poppins"/>
                <a:cs typeface="Poppins"/>
                <a:sym typeface="Poppins"/>
              </a:rPr>
              <a:t>hic tailwin</a:t>
            </a:r>
            <a:r>
              <a:rPr lang="en-US" sz="2159" strike="noStrike" u="none">
                <a:solidFill>
                  <a:srgbClr val="000000"/>
                </a:solidFill>
                <a:latin typeface="Poppins"/>
                <a:ea typeface="Poppins"/>
                <a:cs typeface="Poppins"/>
                <a:sym typeface="Poppins"/>
              </a:rPr>
              <a:t>d intact</a:t>
            </a:r>
          </a:p>
          <a:p>
            <a:pPr algn="l" marL="932292" indent="-310764" lvl="2">
              <a:lnSpc>
                <a:spcPts val="3022"/>
              </a:lnSpc>
              <a:spcBef>
                <a:spcPct val="0"/>
              </a:spcBef>
              <a:buFont typeface="Arial"/>
              <a:buChar char="⚬"/>
            </a:pPr>
            <a:r>
              <a:rPr lang="en-US" sz="2159" strike="noStrike" u="none">
                <a:solidFill>
                  <a:srgbClr val="000000"/>
                </a:solidFill>
                <a:latin typeface="Poppins"/>
                <a:ea typeface="Poppins"/>
                <a:cs typeface="Poppins"/>
                <a:sym typeface="Poppins"/>
              </a:rPr>
              <a:t>Baby Boomers aging in through mid-2030s</a:t>
            </a:r>
          </a:p>
          <a:p>
            <a:pPr algn="l" marL="932292" indent="-310764" lvl="2">
              <a:lnSpc>
                <a:spcPts val="3022"/>
              </a:lnSpc>
              <a:spcBef>
                <a:spcPct val="0"/>
              </a:spcBef>
              <a:buFont typeface="Arial"/>
              <a:buChar char="⚬"/>
            </a:pPr>
            <a:r>
              <a:rPr lang="en-US" sz="2159" strike="noStrike" u="none">
                <a:solidFill>
                  <a:srgbClr val="000000"/>
                </a:solidFill>
                <a:latin typeface="Poppins"/>
                <a:ea typeface="Poppins"/>
                <a:cs typeface="Poppins"/>
                <a:sym typeface="Poppins"/>
              </a:rPr>
              <a:t>P</a:t>
            </a:r>
            <a:r>
              <a:rPr lang="en-US" sz="2159" strike="noStrike" u="none">
                <a:solidFill>
                  <a:srgbClr val="000000"/>
                </a:solidFill>
                <a:latin typeface="Poppins"/>
                <a:ea typeface="Poppins"/>
                <a:cs typeface="Poppins"/>
                <a:sym typeface="Poppins"/>
              </a:rPr>
              <a:t>lans must shift from coding-dr</a:t>
            </a:r>
            <a:r>
              <a:rPr lang="en-US" sz="2159" strike="noStrike" u="none">
                <a:solidFill>
                  <a:srgbClr val="000000"/>
                </a:solidFill>
                <a:latin typeface="Poppins"/>
                <a:ea typeface="Poppins"/>
                <a:cs typeface="Poppins"/>
                <a:sym typeface="Poppins"/>
              </a:rPr>
              <a:t>iv</a:t>
            </a:r>
            <a:r>
              <a:rPr lang="en-US" sz="2159" strike="noStrike" u="none">
                <a:solidFill>
                  <a:srgbClr val="000000"/>
                </a:solidFill>
                <a:latin typeface="Poppins"/>
                <a:ea typeface="Poppins"/>
                <a:cs typeface="Poppins"/>
                <a:sym typeface="Poppins"/>
              </a:rPr>
              <a:t>e</a:t>
            </a:r>
            <a:r>
              <a:rPr lang="en-US" sz="2159" strike="noStrike" u="none">
                <a:solidFill>
                  <a:srgbClr val="000000"/>
                </a:solidFill>
                <a:latin typeface="Poppins"/>
                <a:ea typeface="Poppins"/>
                <a:cs typeface="Poppins"/>
                <a:sym typeface="Poppins"/>
              </a:rPr>
              <a:t>n</a:t>
            </a:r>
            <a:r>
              <a:rPr lang="en-US" sz="2159" strike="noStrike" u="none">
                <a:solidFill>
                  <a:srgbClr val="000000"/>
                </a:solidFill>
                <a:latin typeface="Poppins"/>
                <a:ea typeface="Poppins"/>
                <a:cs typeface="Poppins"/>
                <a:sym typeface="Poppins"/>
              </a:rPr>
              <a:t> </a:t>
            </a:r>
            <a:r>
              <a:rPr lang="en-US" sz="2159" strike="noStrike" u="none">
                <a:solidFill>
                  <a:srgbClr val="000000"/>
                </a:solidFill>
                <a:latin typeface="Poppins"/>
                <a:ea typeface="Poppins"/>
                <a:cs typeface="Poppins"/>
                <a:sym typeface="Poppins"/>
              </a:rPr>
              <a:t>m</a:t>
            </a:r>
            <a:r>
              <a:rPr lang="en-US" sz="2159" strike="noStrike" u="none">
                <a:solidFill>
                  <a:srgbClr val="000000"/>
                </a:solidFill>
                <a:latin typeface="Poppins"/>
                <a:ea typeface="Poppins"/>
                <a:cs typeface="Poppins"/>
                <a:sym typeface="Poppins"/>
              </a:rPr>
              <a:t>a</a:t>
            </a:r>
            <a:r>
              <a:rPr lang="en-US" sz="2159" strike="noStrike" u="none">
                <a:solidFill>
                  <a:srgbClr val="000000"/>
                </a:solidFill>
                <a:latin typeface="Poppins"/>
                <a:ea typeface="Poppins"/>
                <a:cs typeface="Poppins"/>
                <a:sym typeface="Poppins"/>
              </a:rPr>
              <a:t>r</a:t>
            </a:r>
            <a:r>
              <a:rPr lang="en-US" sz="2159" strike="noStrike" u="none">
                <a:solidFill>
                  <a:srgbClr val="000000"/>
                </a:solidFill>
                <a:latin typeface="Poppins"/>
                <a:ea typeface="Poppins"/>
                <a:cs typeface="Poppins"/>
                <a:sym typeface="Poppins"/>
              </a:rPr>
              <a:t>g</a:t>
            </a:r>
            <a:r>
              <a:rPr lang="en-US" sz="2159" strike="noStrike" u="none">
                <a:solidFill>
                  <a:srgbClr val="000000"/>
                </a:solidFill>
                <a:latin typeface="Poppins"/>
                <a:ea typeface="Poppins"/>
                <a:cs typeface="Poppins"/>
                <a:sym typeface="Poppins"/>
              </a:rPr>
              <a:t>i</a:t>
            </a:r>
            <a:r>
              <a:rPr lang="en-US" sz="2159" strike="noStrike" u="none">
                <a:solidFill>
                  <a:srgbClr val="000000"/>
                </a:solidFill>
                <a:latin typeface="Poppins"/>
                <a:ea typeface="Poppins"/>
                <a:cs typeface="Poppins"/>
                <a:sym typeface="Poppins"/>
              </a:rPr>
              <a:t>ns t</a:t>
            </a:r>
            <a:r>
              <a:rPr lang="en-US" sz="2159" strike="noStrike" u="none">
                <a:solidFill>
                  <a:srgbClr val="000000"/>
                </a:solidFill>
                <a:latin typeface="Poppins"/>
                <a:ea typeface="Poppins"/>
                <a:cs typeface="Poppins"/>
                <a:sym typeface="Poppins"/>
              </a:rPr>
              <a:t>o</a:t>
            </a:r>
            <a:r>
              <a:rPr lang="en-US" sz="2159" strike="noStrike" u="none">
                <a:solidFill>
                  <a:srgbClr val="000000"/>
                </a:solidFill>
                <a:latin typeface="Poppins"/>
                <a:ea typeface="Poppins"/>
                <a:cs typeface="Poppins"/>
                <a:sym typeface="Poppins"/>
              </a:rPr>
              <a:t> ope</a:t>
            </a:r>
            <a:r>
              <a:rPr lang="en-US" sz="2159" strike="noStrike" u="none">
                <a:solidFill>
                  <a:srgbClr val="000000"/>
                </a:solidFill>
                <a:latin typeface="Poppins"/>
                <a:ea typeface="Poppins"/>
                <a:cs typeface="Poppins"/>
                <a:sym typeface="Poppins"/>
              </a:rPr>
              <a:t>r</a:t>
            </a:r>
            <a:r>
              <a:rPr lang="en-US" sz="2159" strike="noStrike" u="none">
                <a:solidFill>
                  <a:srgbClr val="000000"/>
                </a:solidFill>
                <a:latin typeface="Poppins"/>
                <a:ea typeface="Poppins"/>
                <a:cs typeface="Poppins"/>
                <a:sym typeface="Poppins"/>
              </a:rPr>
              <a:t>ational</a:t>
            </a:r>
            <a:r>
              <a:rPr lang="en-US" sz="2159" strike="noStrike" u="none">
                <a:solidFill>
                  <a:srgbClr val="000000"/>
                </a:solidFill>
                <a:latin typeface="Poppins"/>
                <a:ea typeface="Poppins"/>
                <a:cs typeface="Poppins"/>
                <a:sym typeface="Poppins"/>
              </a:rPr>
              <a:t> efficienc</a:t>
            </a:r>
            <a:r>
              <a:rPr lang="en-US" sz="2159" strike="noStrike" u="none">
                <a:solidFill>
                  <a:srgbClr val="000000"/>
                </a:solidFill>
                <a:latin typeface="Poppins"/>
                <a:ea typeface="Poppins"/>
                <a:cs typeface="Poppins"/>
                <a:sym typeface="Poppins"/>
              </a:rPr>
              <a:t>y </a:t>
            </a:r>
            <a:r>
              <a:rPr lang="en-US" sz="2159" strike="noStrike" u="none">
                <a:solidFill>
                  <a:srgbClr val="000000"/>
                </a:solidFill>
                <a:latin typeface="Poppins"/>
                <a:ea typeface="Poppins"/>
                <a:cs typeface="Poppins"/>
                <a:sym typeface="Poppins"/>
              </a:rPr>
              <a:t>and</a:t>
            </a:r>
            <a:r>
              <a:rPr lang="en-US" sz="2159" strike="noStrike" u="none">
                <a:solidFill>
                  <a:srgbClr val="000000"/>
                </a:solidFill>
                <a:latin typeface="Poppins"/>
                <a:ea typeface="Poppins"/>
                <a:cs typeface="Poppins"/>
                <a:sym typeface="Poppins"/>
              </a:rPr>
              <a:t> </a:t>
            </a:r>
            <a:r>
              <a:rPr lang="en-US" sz="2159" strike="noStrike" u="none">
                <a:solidFill>
                  <a:srgbClr val="000000"/>
                </a:solidFill>
                <a:latin typeface="Poppins"/>
                <a:ea typeface="Poppins"/>
                <a:cs typeface="Poppins"/>
                <a:sym typeface="Poppins"/>
              </a:rPr>
              <a:t>c</a:t>
            </a:r>
            <a:r>
              <a:rPr lang="en-US" sz="2159" strike="noStrike" u="none">
                <a:solidFill>
                  <a:srgbClr val="000000"/>
                </a:solidFill>
                <a:latin typeface="Poppins"/>
                <a:ea typeface="Poppins"/>
                <a:cs typeface="Poppins"/>
                <a:sym typeface="Poppins"/>
              </a:rPr>
              <a:t>l</a:t>
            </a:r>
            <a:r>
              <a:rPr lang="en-US" sz="2159" strike="noStrike" u="none">
                <a:solidFill>
                  <a:srgbClr val="000000"/>
                </a:solidFill>
                <a:latin typeface="Poppins"/>
                <a:ea typeface="Poppins"/>
                <a:cs typeface="Poppins"/>
                <a:sym typeface="Poppins"/>
              </a:rPr>
              <a:t>inica</a:t>
            </a:r>
            <a:r>
              <a:rPr lang="en-US" sz="2159" strike="noStrike" u="none">
                <a:solidFill>
                  <a:srgbClr val="000000"/>
                </a:solidFill>
                <a:latin typeface="Poppins"/>
                <a:ea typeface="Poppins"/>
                <a:cs typeface="Poppins"/>
                <a:sym typeface="Poppins"/>
              </a:rPr>
              <a:t>l </a:t>
            </a:r>
            <a:r>
              <a:rPr lang="en-US" sz="2159" strike="noStrike" u="none">
                <a:solidFill>
                  <a:srgbClr val="000000"/>
                </a:solidFill>
                <a:latin typeface="Poppins"/>
                <a:ea typeface="Poppins"/>
                <a:cs typeface="Poppins"/>
                <a:sym typeface="Poppins"/>
              </a:rPr>
              <a:t>va</a:t>
            </a:r>
            <a:r>
              <a:rPr lang="en-US" sz="2159" strike="noStrike" u="none">
                <a:solidFill>
                  <a:srgbClr val="000000"/>
                </a:solidFill>
                <a:latin typeface="Poppins"/>
                <a:ea typeface="Poppins"/>
                <a:cs typeface="Poppins"/>
                <a:sym typeface="Poppins"/>
              </a:rPr>
              <a:t>l</a:t>
            </a:r>
            <a:r>
              <a:rPr lang="en-US" sz="2159" strike="noStrike" u="none">
                <a:solidFill>
                  <a:srgbClr val="000000"/>
                </a:solidFill>
                <a:latin typeface="Poppins"/>
                <a:ea typeface="Poppins"/>
                <a:cs typeface="Poppins"/>
                <a:sym typeface="Poppins"/>
              </a:rPr>
              <a:t>u</a:t>
            </a:r>
            <a:r>
              <a:rPr lang="en-US" sz="2159" strike="noStrike" u="none">
                <a:solidFill>
                  <a:srgbClr val="000000"/>
                </a:solidFill>
                <a:latin typeface="Poppins"/>
                <a:ea typeface="Poppins"/>
                <a:cs typeface="Poppins"/>
                <a:sym typeface="Poppins"/>
              </a:rPr>
              <a:t>e delivery</a:t>
            </a:r>
          </a:p>
          <a:p>
            <a:pPr algn="l">
              <a:lnSpc>
                <a:spcPts val="3022"/>
              </a:lnSpc>
              <a:spcBef>
                <a:spcPct val="0"/>
              </a:spcBef>
            </a:pPr>
          </a:p>
          <a:p>
            <a:pPr algn="l" marL="932292" indent="-310764" lvl="2">
              <a:lnSpc>
                <a:spcPts val="3022"/>
              </a:lnSpc>
              <a:spcBef>
                <a:spcPct val="0"/>
              </a:spcBef>
              <a:buFont typeface="Arial"/>
              <a:buChar char="⚬"/>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96859" y="625582"/>
            <a:ext cx="7185230" cy="980608"/>
          </a:xfrm>
          <a:prstGeom prst="rect">
            <a:avLst/>
          </a:prstGeom>
        </p:spPr>
        <p:txBody>
          <a:bodyPr anchor="t" rtlCol="false" tIns="0" lIns="0" bIns="0" rIns="0">
            <a:spAutoFit/>
          </a:bodyPr>
          <a:lstStyle/>
          <a:p>
            <a:pPr algn="l">
              <a:lnSpc>
                <a:spcPts val="8137"/>
              </a:lnSpc>
              <a:spcBef>
                <a:spcPct val="0"/>
              </a:spcBef>
            </a:pPr>
            <a:r>
              <a:rPr lang="en-US" sz="5812">
                <a:solidFill>
                  <a:srgbClr val="000000"/>
                </a:solidFill>
                <a:latin typeface="League Spartan"/>
                <a:ea typeface="League Spartan"/>
                <a:cs typeface="League Spartan"/>
                <a:sym typeface="League Spartan"/>
              </a:rPr>
              <a:t>EXTERNAL DATA</a:t>
            </a:r>
          </a:p>
        </p:txBody>
      </p:sp>
      <p:sp>
        <p:nvSpPr>
          <p:cNvPr name="TextBox 3" id="3"/>
          <p:cNvSpPr txBox="true"/>
          <p:nvPr/>
        </p:nvSpPr>
        <p:spPr>
          <a:xfrm rot="0">
            <a:off x="958908" y="2645809"/>
            <a:ext cx="6661133" cy="4538754"/>
          </a:xfrm>
          <a:prstGeom prst="rect">
            <a:avLst/>
          </a:prstGeom>
        </p:spPr>
        <p:txBody>
          <a:bodyPr anchor="t" rtlCol="false" tIns="0" lIns="0" bIns="0" rIns="0">
            <a:spAutoFit/>
          </a:bodyPr>
          <a:lstStyle/>
          <a:p>
            <a:pPr algn="l">
              <a:lnSpc>
                <a:spcPts val="3255"/>
              </a:lnSpc>
            </a:pPr>
            <a:r>
              <a:rPr lang="en-US" sz="2325" b="true">
                <a:solidFill>
                  <a:srgbClr val="2A0947"/>
                </a:solidFill>
                <a:latin typeface="Poppins Bold"/>
                <a:ea typeface="Poppins Bold"/>
                <a:cs typeface="Poppins Bold"/>
                <a:sym typeface="Poppins Bold"/>
              </a:rPr>
              <a:t>Justification</a:t>
            </a:r>
          </a:p>
          <a:p>
            <a:pPr algn="l">
              <a:lnSpc>
                <a:spcPts val="3255"/>
              </a:lnSpc>
            </a:pPr>
            <a:r>
              <a:rPr lang="en-US" sz="2325">
                <a:solidFill>
                  <a:srgbClr val="2A0947"/>
                </a:solidFill>
                <a:latin typeface="Poppins"/>
                <a:ea typeface="Poppins"/>
                <a:cs typeface="Poppins"/>
                <a:sym typeface="Poppins"/>
              </a:rPr>
              <a:t>The current dataset only covers 2025–2026, which limits our ability to distinguish between true carrier exits and normal year-to-year variation. Without a prior baseline, it is difficult to fully understand changes in market dynamics. Therefore, we incorporate 2024 data to establish a baseline and enable a more complete longitudinal analysis.</a:t>
            </a:r>
          </a:p>
          <a:p>
            <a:pPr algn="l">
              <a:lnSpc>
                <a:spcPts val="3559"/>
              </a:lnSpc>
              <a:spcBef>
                <a:spcPct val="0"/>
              </a:spcBef>
            </a:pPr>
          </a:p>
        </p:txBody>
      </p:sp>
      <p:sp>
        <p:nvSpPr>
          <p:cNvPr name="TextBox 4" id="4"/>
          <p:cNvSpPr txBox="true"/>
          <p:nvPr/>
        </p:nvSpPr>
        <p:spPr>
          <a:xfrm rot="0">
            <a:off x="9144000" y="1232534"/>
            <a:ext cx="8115300" cy="2874174"/>
          </a:xfrm>
          <a:prstGeom prst="rect">
            <a:avLst/>
          </a:prstGeom>
        </p:spPr>
        <p:txBody>
          <a:bodyPr anchor="t" rtlCol="false" tIns="0" lIns="0" bIns="0" rIns="0">
            <a:spAutoFit/>
          </a:bodyPr>
          <a:lstStyle/>
          <a:p>
            <a:pPr algn="l">
              <a:lnSpc>
                <a:spcPts val="3280"/>
              </a:lnSpc>
            </a:pPr>
            <a:r>
              <a:rPr lang="en-US" sz="2343" b="true">
                <a:solidFill>
                  <a:srgbClr val="2A0947"/>
                </a:solidFill>
                <a:latin typeface="Poppins Bold"/>
                <a:ea typeface="Poppins Bold"/>
                <a:cs typeface="Poppins Bold"/>
                <a:sym typeface="Poppins Bold"/>
              </a:rPr>
              <a:t>Integration</a:t>
            </a:r>
          </a:p>
          <a:p>
            <a:pPr algn="l">
              <a:lnSpc>
                <a:spcPts val="3280"/>
              </a:lnSpc>
            </a:pPr>
            <a:r>
              <a:rPr lang="en-US" sz="2343">
                <a:solidFill>
                  <a:srgbClr val="2A0947"/>
                </a:solidFill>
                <a:latin typeface="Poppins"/>
                <a:ea typeface="Poppins"/>
                <a:cs typeface="Poppins"/>
                <a:sym typeface="Poppins"/>
              </a:rPr>
              <a:t>The 2024 data is merged with the existing dataset using Contract ID and Plan ID to construct a 2024–2026 panel dataset. This structure enables us to track each plan over time and identify whether it entered, exited, or remained active across years.</a:t>
            </a:r>
          </a:p>
          <a:p>
            <a:pPr algn="l">
              <a:lnSpc>
                <a:spcPts val="3280"/>
              </a:lnSpc>
              <a:spcBef>
                <a:spcPct val="0"/>
              </a:spcBef>
            </a:pPr>
          </a:p>
        </p:txBody>
      </p:sp>
      <p:sp>
        <p:nvSpPr>
          <p:cNvPr name="TextBox 5" id="5"/>
          <p:cNvSpPr txBox="true"/>
          <p:nvPr/>
        </p:nvSpPr>
        <p:spPr>
          <a:xfrm rot="0">
            <a:off x="9200278" y="6558017"/>
            <a:ext cx="9087722" cy="1536229"/>
          </a:xfrm>
          <a:prstGeom prst="rect">
            <a:avLst/>
          </a:prstGeom>
        </p:spPr>
        <p:txBody>
          <a:bodyPr anchor="t" rtlCol="false" tIns="0" lIns="0" bIns="0" rIns="0">
            <a:spAutoFit/>
          </a:bodyPr>
          <a:lstStyle/>
          <a:p>
            <a:pPr algn="l">
              <a:lnSpc>
                <a:spcPts val="3000"/>
              </a:lnSpc>
            </a:pPr>
            <a:r>
              <a:rPr lang="en-US" sz="2143" b="true">
                <a:solidFill>
                  <a:srgbClr val="2A0947"/>
                </a:solidFill>
                <a:latin typeface="Poppins Bold"/>
                <a:ea typeface="Poppins Bold"/>
                <a:cs typeface="Poppins Bold"/>
                <a:sym typeface="Poppins Bold"/>
              </a:rPr>
              <a:t>Source</a:t>
            </a:r>
          </a:p>
          <a:p>
            <a:pPr algn="l" marL="462793" indent="-231396" lvl="1">
              <a:lnSpc>
                <a:spcPts val="3000"/>
              </a:lnSpc>
              <a:buFont typeface="Arial"/>
              <a:buChar char="•"/>
            </a:pPr>
            <a:r>
              <a:rPr lang="en-US" sz="2143">
                <a:solidFill>
                  <a:srgbClr val="2A0947"/>
                </a:solidFill>
                <a:latin typeface="Poppins"/>
                <a:ea typeface="Poppins"/>
                <a:cs typeface="Poppins"/>
                <a:sym typeface="Poppins"/>
              </a:rPr>
              <a:t>CMS Monthly MA Enrollment Data (2024)</a:t>
            </a:r>
          </a:p>
          <a:p>
            <a:pPr algn="l" marL="462793" indent="-231396" lvl="1">
              <a:lnSpc>
                <a:spcPts val="3000"/>
              </a:lnSpc>
              <a:buFont typeface="Arial"/>
              <a:buChar char="•"/>
            </a:pPr>
            <a:r>
              <a:rPr lang="en-US" sz="2143">
                <a:solidFill>
                  <a:srgbClr val="2A0947"/>
                </a:solidFill>
                <a:latin typeface="Poppins"/>
                <a:ea typeface="Poppins"/>
                <a:cs typeface="Poppins"/>
                <a:sym typeface="Poppins"/>
              </a:rPr>
              <a:t>S</a:t>
            </a:r>
            <a:r>
              <a:rPr lang="en-US" sz="2143">
                <a:solidFill>
                  <a:srgbClr val="2A0947"/>
                </a:solidFill>
                <a:latin typeface="Poppins"/>
                <a:ea typeface="Poppins"/>
                <a:cs typeface="Poppins"/>
                <a:sym typeface="Poppins"/>
              </a:rPr>
              <a:t>ame structure as 2025–2026 data</a:t>
            </a:r>
          </a:p>
          <a:p>
            <a:pPr algn="l">
              <a:lnSpc>
                <a:spcPts val="3000"/>
              </a:lnSpc>
              <a:spcBef>
                <a:spcPct val="0"/>
              </a:spcBef>
            </a:pPr>
          </a:p>
        </p:txBody>
      </p:sp>
      <p:sp>
        <p:nvSpPr>
          <p:cNvPr name="TextBox 6" id="6"/>
          <p:cNvSpPr txBox="true"/>
          <p:nvPr/>
        </p:nvSpPr>
        <p:spPr>
          <a:xfrm rot="0">
            <a:off x="9144000" y="4374088"/>
            <a:ext cx="7487078" cy="1917229"/>
          </a:xfrm>
          <a:prstGeom prst="rect">
            <a:avLst/>
          </a:prstGeom>
        </p:spPr>
        <p:txBody>
          <a:bodyPr anchor="t" rtlCol="false" tIns="0" lIns="0" bIns="0" rIns="0">
            <a:spAutoFit/>
          </a:bodyPr>
          <a:lstStyle/>
          <a:p>
            <a:pPr algn="l">
              <a:lnSpc>
                <a:spcPts val="3000"/>
              </a:lnSpc>
            </a:pPr>
            <a:r>
              <a:rPr lang="en-US" sz="2143" b="true">
                <a:solidFill>
                  <a:srgbClr val="2A0947"/>
                </a:solidFill>
                <a:latin typeface="Poppins Bold"/>
                <a:ea typeface="Poppins Bold"/>
                <a:cs typeface="Poppins Bold"/>
                <a:sym typeface="Poppins Bold"/>
              </a:rPr>
              <a:t>Why it matters</a:t>
            </a:r>
          </a:p>
          <a:p>
            <a:pPr algn="l">
              <a:lnSpc>
                <a:spcPts val="3000"/>
              </a:lnSpc>
            </a:pPr>
            <a:r>
              <a:rPr lang="en-US" sz="2143">
                <a:solidFill>
                  <a:srgbClr val="2A0947"/>
                </a:solidFill>
                <a:latin typeface="Poppins"/>
                <a:ea typeface="Poppins"/>
                <a:cs typeface="Poppins"/>
                <a:sym typeface="Poppins"/>
              </a:rPr>
              <a:t>•Identify carrier exits</a:t>
            </a:r>
          </a:p>
          <a:p>
            <a:pPr algn="l">
              <a:lnSpc>
                <a:spcPts val="3000"/>
              </a:lnSpc>
            </a:pPr>
            <a:r>
              <a:rPr lang="en-US" sz="2143">
                <a:solidFill>
                  <a:srgbClr val="2A0947"/>
                </a:solidFill>
                <a:latin typeface="Poppins"/>
                <a:ea typeface="Poppins"/>
                <a:cs typeface="Poppins"/>
                <a:sym typeface="Poppins"/>
              </a:rPr>
              <a:t>• Ass</a:t>
            </a:r>
            <a:r>
              <a:rPr lang="en-US" sz="2143">
                <a:solidFill>
                  <a:srgbClr val="2A0947"/>
                </a:solidFill>
                <a:latin typeface="Poppins"/>
                <a:ea typeface="Poppins"/>
                <a:cs typeface="Poppins"/>
                <a:sym typeface="Poppins"/>
              </a:rPr>
              <a:t>ess ACHP enrollment gains</a:t>
            </a:r>
          </a:p>
          <a:p>
            <a:pPr algn="l">
              <a:lnSpc>
                <a:spcPts val="3000"/>
              </a:lnSpc>
            </a:pPr>
            <a:r>
              <a:rPr lang="en-US" sz="2143">
                <a:solidFill>
                  <a:srgbClr val="2A0947"/>
                </a:solidFill>
                <a:latin typeface="Poppins"/>
                <a:ea typeface="Poppins"/>
                <a:cs typeface="Poppins"/>
                <a:sym typeface="Poppins"/>
              </a:rPr>
              <a:t>• Distinguish market vs. plan effects</a:t>
            </a:r>
          </a:p>
          <a:p>
            <a:pPr algn="l">
              <a:lnSpc>
                <a:spcPts val="3000"/>
              </a:lnSpc>
              <a:spcBef>
                <a:spcPct val="0"/>
              </a:spcBef>
            </a:pPr>
          </a:p>
        </p:txBody>
      </p:sp>
      <p:sp>
        <p:nvSpPr>
          <p:cNvPr name="TextBox 7" id="7"/>
          <p:cNvSpPr txBox="true"/>
          <p:nvPr/>
        </p:nvSpPr>
        <p:spPr>
          <a:xfrm rot="0">
            <a:off x="8568235" y="8837848"/>
            <a:ext cx="9087722" cy="1536229"/>
          </a:xfrm>
          <a:prstGeom prst="rect">
            <a:avLst/>
          </a:prstGeom>
        </p:spPr>
        <p:txBody>
          <a:bodyPr anchor="t" rtlCol="false" tIns="0" lIns="0" bIns="0" rIns="0">
            <a:spAutoFit/>
          </a:bodyPr>
          <a:lstStyle/>
          <a:p>
            <a:pPr algn="l">
              <a:lnSpc>
                <a:spcPts val="3000"/>
              </a:lnSpc>
            </a:pPr>
            <a:r>
              <a:rPr lang="en-US" sz="2143">
                <a:solidFill>
                  <a:srgbClr val="2A0947"/>
                </a:solidFill>
                <a:latin typeface="Poppins"/>
                <a:ea typeface="Poppins"/>
                <a:cs typeface="Poppins"/>
                <a:sym typeface="Poppins"/>
              </a:rPr>
              <a:t>https://www.cms.gov/data-research/statistics-trends-and-reports/medicare-advantagepart-d-contract-and-enrollment-data/monthly-ma-enrollment-state/county/contract</a:t>
            </a:r>
          </a:p>
          <a:p>
            <a:pPr algn="l">
              <a:lnSpc>
                <a:spcPts val="3000"/>
              </a:lnSpc>
              <a:spcBef>
                <a:spcPct val="0"/>
              </a:spcBef>
            </a:pPr>
          </a:p>
        </p:txBody>
      </p:sp>
      <p:sp>
        <p:nvSpPr>
          <p:cNvPr name="TextBox 8" id="8"/>
          <p:cNvSpPr txBox="true"/>
          <p:nvPr/>
        </p:nvSpPr>
        <p:spPr>
          <a:xfrm rot="0">
            <a:off x="1138769" y="1618223"/>
            <a:ext cx="5118274" cy="475779"/>
          </a:xfrm>
          <a:prstGeom prst="rect">
            <a:avLst/>
          </a:prstGeom>
        </p:spPr>
        <p:txBody>
          <a:bodyPr anchor="t" rtlCol="false" tIns="0" lIns="0" bIns="0" rIns="0">
            <a:spAutoFit/>
          </a:bodyPr>
          <a:lstStyle/>
          <a:p>
            <a:pPr algn="ctr">
              <a:lnSpc>
                <a:spcPts val="3700"/>
              </a:lnSpc>
              <a:spcBef>
                <a:spcPct val="0"/>
              </a:spcBef>
            </a:pPr>
            <a:r>
              <a:rPr lang="en-US" b="true" sz="2643">
                <a:solidFill>
                  <a:srgbClr val="000000"/>
                </a:solidFill>
                <a:latin typeface="Poppins Bold"/>
                <a:ea typeface="Poppins Bold"/>
                <a:cs typeface="Poppins Bold"/>
                <a:sym typeface="Poppins Bold"/>
              </a:rPr>
              <a:t>2024 Enrollment Performance</a:t>
            </a:r>
          </a:p>
        </p:txBody>
      </p:sp>
      <p:sp>
        <p:nvSpPr>
          <p:cNvPr name="TextBox 9" id="9"/>
          <p:cNvSpPr txBox="true"/>
          <p:nvPr/>
        </p:nvSpPr>
        <p:spPr>
          <a:xfrm rot="0">
            <a:off x="1286917" y="9008122"/>
            <a:ext cx="1686950" cy="433680"/>
          </a:xfrm>
          <a:prstGeom prst="rect">
            <a:avLst/>
          </a:prstGeom>
        </p:spPr>
        <p:txBody>
          <a:bodyPr anchor="t" rtlCol="false" tIns="0" lIns="0" bIns="0" rIns="0">
            <a:spAutoFit/>
          </a:bodyPr>
          <a:lstStyle/>
          <a:p>
            <a:pPr algn="l">
              <a:lnSpc>
                <a:spcPts val="3396"/>
              </a:lnSpc>
              <a:spcBef>
                <a:spcPct val="0"/>
              </a:spcBef>
            </a:pPr>
            <a:r>
              <a:rPr lang="en-US" sz="2425" b="true">
                <a:solidFill>
                  <a:srgbClr val="000000"/>
                </a:solidFill>
                <a:latin typeface="Poppins Bold"/>
                <a:ea typeface="Poppins Bold"/>
                <a:cs typeface="Poppins Bold"/>
                <a:sym typeface="Poppins Bold"/>
              </a:rPr>
              <a:t>Dixin Guo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96859" y="625582"/>
            <a:ext cx="7185230" cy="980608"/>
          </a:xfrm>
          <a:prstGeom prst="rect">
            <a:avLst/>
          </a:prstGeom>
        </p:spPr>
        <p:txBody>
          <a:bodyPr anchor="t" rtlCol="false" tIns="0" lIns="0" bIns="0" rIns="0">
            <a:spAutoFit/>
          </a:bodyPr>
          <a:lstStyle/>
          <a:p>
            <a:pPr algn="l">
              <a:lnSpc>
                <a:spcPts val="8137"/>
              </a:lnSpc>
              <a:spcBef>
                <a:spcPct val="0"/>
              </a:spcBef>
            </a:pPr>
            <a:r>
              <a:rPr lang="en-US" sz="5812">
                <a:solidFill>
                  <a:srgbClr val="000000"/>
                </a:solidFill>
                <a:latin typeface="League Spartan"/>
                <a:ea typeface="League Spartan"/>
                <a:cs typeface="League Spartan"/>
                <a:sym typeface="League Spartan"/>
              </a:rPr>
              <a:t>EXTERNAL DATA</a:t>
            </a:r>
          </a:p>
        </p:txBody>
      </p:sp>
      <p:sp>
        <p:nvSpPr>
          <p:cNvPr name="TextBox 3" id="3"/>
          <p:cNvSpPr txBox="true"/>
          <p:nvPr/>
        </p:nvSpPr>
        <p:spPr>
          <a:xfrm rot="0">
            <a:off x="958908" y="2645809"/>
            <a:ext cx="6661133" cy="4129179"/>
          </a:xfrm>
          <a:prstGeom prst="rect">
            <a:avLst/>
          </a:prstGeom>
        </p:spPr>
        <p:txBody>
          <a:bodyPr anchor="t" rtlCol="false" tIns="0" lIns="0" bIns="0" rIns="0">
            <a:spAutoFit/>
          </a:bodyPr>
          <a:lstStyle/>
          <a:p>
            <a:pPr algn="l">
              <a:lnSpc>
                <a:spcPts val="3255"/>
              </a:lnSpc>
            </a:pPr>
            <a:r>
              <a:rPr lang="en-US" sz="2325" b="true">
                <a:solidFill>
                  <a:srgbClr val="2A0947"/>
                </a:solidFill>
                <a:latin typeface="Poppins Bold"/>
                <a:ea typeface="Poppins Bold"/>
                <a:cs typeface="Poppins Bold"/>
                <a:sym typeface="Poppins Bold"/>
              </a:rPr>
              <a:t>Justification</a:t>
            </a:r>
          </a:p>
          <a:p>
            <a:pPr algn="l">
              <a:lnSpc>
                <a:spcPts val="3255"/>
              </a:lnSpc>
            </a:pPr>
            <a:r>
              <a:rPr lang="en-US" sz="2325">
                <a:solidFill>
                  <a:srgbClr val="2A0947"/>
                </a:solidFill>
                <a:latin typeface="Poppins"/>
                <a:ea typeface="Poppins"/>
                <a:cs typeface="Poppins"/>
                <a:sym typeface="Poppins"/>
              </a:rPr>
              <a:t>Existing</a:t>
            </a:r>
            <a:r>
              <a:rPr lang="en-US" sz="2325">
                <a:solidFill>
                  <a:srgbClr val="2A0947"/>
                </a:solidFill>
                <a:latin typeface="Poppins"/>
                <a:ea typeface="Poppins"/>
                <a:cs typeface="Poppins"/>
                <a:sym typeface="Poppins"/>
              </a:rPr>
              <a:t> CMS datasets provide detailed plan-level information (e.g., enrollment, cost, and quality), but they lack key market-level context such as total Medicare population and MA penetration. Without this, it is difficult to determine whether enrollment growth is driven by plan competitiveness or broader market conditions.</a:t>
            </a:r>
          </a:p>
          <a:p>
            <a:pPr algn="l">
              <a:lnSpc>
                <a:spcPts val="3559"/>
              </a:lnSpc>
              <a:spcBef>
                <a:spcPct val="0"/>
              </a:spcBef>
            </a:pPr>
          </a:p>
        </p:txBody>
      </p:sp>
      <p:sp>
        <p:nvSpPr>
          <p:cNvPr name="TextBox 4" id="4"/>
          <p:cNvSpPr txBox="true"/>
          <p:nvPr/>
        </p:nvSpPr>
        <p:spPr>
          <a:xfrm rot="0">
            <a:off x="9144000" y="1232534"/>
            <a:ext cx="8115300" cy="2464599"/>
          </a:xfrm>
          <a:prstGeom prst="rect">
            <a:avLst/>
          </a:prstGeom>
        </p:spPr>
        <p:txBody>
          <a:bodyPr anchor="t" rtlCol="false" tIns="0" lIns="0" bIns="0" rIns="0">
            <a:spAutoFit/>
          </a:bodyPr>
          <a:lstStyle/>
          <a:p>
            <a:pPr algn="l">
              <a:lnSpc>
                <a:spcPts val="3280"/>
              </a:lnSpc>
            </a:pPr>
            <a:r>
              <a:rPr lang="en-US" sz="2343" b="true">
                <a:solidFill>
                  <a:srgbClr val="2A0947"/>
                </a:solidFill>
                <a:latin typeface="Poppins Bold"/>
                <a:ea typeface="Poppins Bold"/>
                <a:cs typeface="Poppins Bold"/>
                <a:sym typeface="Poppins Bold"/>
              </a:rPr>
              <a:t>Integration</a:t>
            </a:r>
          </a:p>
          <a:p>
            <a:pPr algn="l">
              <a:lnSpc>
                <a:spcPts val="3280"/>
              </a:lnSpc>
            </a:pPr>
            <a:r>
              <a:rPr lang="en-US" sz="2343">
                <a:solidFill>
                  <a:srgbClr val="2A0947"/>
                </a:solidFill>
                <a:latin typeface="Poppins"/>
                <a:ea typeface="Poppins"/>
                <a:cs typeface="Poppins"/>
                <a:sym typeface="Poppins"/>
              </a:rPr>
              <a:t>The dataset is merged at the county level using State + County or FIPS codes, enriching each plan with market-level attributes such as market size and market maturity (high vs. low penetration).</a:t>
            </a:r>
          </a:p>
          <a:p>
            <a:pPr algn="l">
              <a:lnSpc>
                <a:spcPts val="3280"/>
              </a:lnSpc>
              <a:spcBef>
                <a:spcPct val="0"/>
              </a:spcBef>
            </a:pPr>
          </a:p>
        </p:txBody>
      </p:sp>
      <p:sp>
        <p:nvSpPr>
          <p:cNvPr name="TextBox 5" id="5"/>
          <p:cNvSpPr txBox="true"/>
          <p:nvPr/>
        </p:nvSpPr>
        <p:spPr>
          <a:xfrm rot="0">
            <a:off x="9144000" y="6014568"/>
            <a:ext cx="9087722" cy="3060229"/>
          </a:xfrm>
          <a:prstGeom prst="rect">
            <a:avLst/>
          </a:prstGeom>
        </p:spPr>
        <p:txBody>
          <a:bodyPr anchor="t" rtlCol="false" tIns="0" lIns="0" bIns="0" rIns="0">
            <a:spAutoFit/>
          </a:bodyPr>
          <a:lstStyle/>
          <a:p>
            <a:pPr algn="l">
              <a:lnSpc>
                <a:spcPts val="3000"/>
              </a:lnSpc>
            </a:pPr>
            <a:r>
              <a:rPr lang="en-US" sz="2143" b="true">
                <a:solidFill>
                  <a:srgbClr val="2A0947"/>
                </a:solidFill>
                <a:latin typeface="Poppins Bold"/>
                <a:ea typeface="Poppins Bold"/>
                <a:cs typeface="Poppins Bold"/>
                <a:sym typeface="Poppins Bold"/>
              </a:rPr>
              <a:t>Source</a:t>
            </a:r>
          </a:p>
          <a:p>
            <a:pPr algn="l" marL="462793" indent="-231396" lvl="1">
              <a:lnSpc>
                <a:spcPts val="3000"/>
              </a:lnSpc>
              <a:buFont typeface="Arial"/>
              <a:buChar char="•"/>
            </a:pPr>
            <a:r>
              <a:rPr lang="en-US" sz="2143">
                <a:solidFill>
                  <a:srgbClr val="2A0947"/>
                </a:solidFill>
                <a:latin typeface="Poppins"/>
                <a:ea typeface="Poppins"/>
                <a:cs typeface="Poppins"/>
                <a:sym typeface="Poppins"/>
              </a:rPr>
              <a:t>CMS MA State/County Penetration Data</a:t>
            </a:r>
          </a:p>
          <a:p>
            <a:pPr algn="l">
              <a:lnSpc>
                <a:spcPts val="3000"/>
              </a:lnSpc>
            </a:pPr>
            <a:r>
              <a:rPr lang="en-US" sz="2143">
                <a:solidFill>
                  <a:srgbClr val="2A0947"/>
                </a:solidFill>
                <a:latin typeface="Poppins"/>
                <a:ea typeface="Poppins"/>
                <a:cs typeface="Poppins"/>
                <a:sym typeface="Poppins"/>
              </a:rPr>
              <a:t>Provides:</a:t>
            </a:r>
          </a:p>
          <a:p>
            <a:pPr algn="l" marL="462793" indent="-231396" lvl="1">
              <a:lnSpc>
                <a:spcPts val="3000"/>
              </a:lnSpc>
              <a:buFont typeface="Arial"/>
              <a:buChar char="•"/>
            </a:pPr>
            <a:r>
              <a:rPr lang="en-US" sz="2143">
                <a:solidFill>
                  <a:srgbClr val="2A0947"/>
                </a:solidFill>
                <a:latin typeface="Poppins"/>
                <a:ea typeface="Poppins"/>
                <a:cs typeface="Poppins"/>
                <a:sym typeface="Poppins"/>
              </a:rPr>
              <a:t>Medicare eligibles (market size)</a:t>
            </a:r>
          </a:p>
          <a:p>
            <a:pPr algn="l" marL="462793" indent="-231396" lvl="1">
              <a:lnSpc>
                <a:spcPts val="3000"/>
              </a:lnSpc>
              <a:buFont typeface="Arial"/>
              <a:buChar char="•"/>
            </a:pPr>
            <a:r>
              <a:rPr lang="en-US" sz="2143">
                <a:solidFill>
                  <a:srgbClr val="2A0947"/>
                </a:solidFill>
                <a:latin typeface="Poppins"/>
                <a:ea typeface="Poppins"/>
                <a:cs typeface="Poppins"/>
                <a:sym typeface="Poppins"/>
              </a:rPr>
              <a:t>MA enrollment (total)</a:t>
            </a:r>
          </a:p>
          <a:p>
            <a:pPr algn="l" marL="462793" indent="-231396" lvl="1">
              <a:lnSpc>
                <a:spcPts val="3000"/>
              </a:lnSpc>
              <a:buFont typeface="Arial"/>
              <a:buChar char="•"/>
            </a:pPr>
            <a:r>
              <a:rPr lang="en-US" sz="2143">
                <a:solidFill>
                  <a:srgbClr val="2A0947"/>
                </a:solidFill>
                <a:latin typeface="Poppins"/>
                <a:ea typeface="Poppins"/>
                <a:cs typeface="Poppins"/>
                <a:sym typeface="Poppins"/>
              </a:rPr>
              <a:t>Pen</a:t>
            </a:r>
            <a:r>
              <a:rPr lang="en-US" sz="2143">
                <a:solidFill>
                  <a:srgbClr val="2A0947"/>
                </a:solidFill>
                <a:latin typeface="Poppins"/>
                <a:ea typeface="Poppins"/>
                <a:cs typeface="Poppins"/>
                <a:sym typeface="Poppins"/>
              </a:rPr>
              <a:t>etration rate </a:t>
            </a:r>
          </a:p>
          <a:p>
            <a:pPr algn="l" marL="462793" indent="-231396" lvl="1">
              <a:lnSpc>
                <a:spcPts val="3000"/>
              </a:lnSpc>
              <a:buFont typeface="Arial"/>
              <a:buChar char="•"/>
            </a:pPr>
          </a:p>
          <a:p>
            <a:pPr algn="l">
              <a:lnSpc>
                <a:spcPts val="3000"/>
              </a:lnSpc>
              <a:spcBef>
                <a:spcPct val="0"/>
              </a:spcBef>
            </a:pPr>
          </a:p>
        </p:txBody>
      </p:sp>
      <p:sp>
        <p:nvSpPr>
          <p:cNvPr name="TextBox 6" id="6"/>
          <p:cNvSpPr txBox="true"/>
          <p:nvPr/>
        </p:nvSpPr>
        <p:spPr>
          <a:xfrm rot="0">
            <a:off x="9144000" y="4374088"/>
            <a:ext cx="7487078" cy="2298229"/>
          </a:xfrm>
          <a:prstGeom prst="rect">
            <a:avLst/>
          </a:prstGeom>
        </p:spPr>
        <p:txBody>
          <a:bodyPr anchor="t" rtlCol="false" tIns="0" lIns="0" bIns="0" rIns="0">
            <a:spAutoFit/>
          </a:bodyPr>
          <a:lstStyle/>
          <a:p>
            <a:pPr algn="l">
              <a:lnSpc>
                <a:spcPts val="3000"/>
              </a:lnSpc>
            </a:pPr>
            <a:r>
              <a:rPr lang="en-US" sz="2143" b="true">
                <a:solidFill>
                  <a:srgbClr val="2A0947"/>
                </a:solidFill>
                <a:latin typeface="Poppins Bold"/>
                <a:ea typeface="Poppins Bold"/>
                <a:cs typeface="Poppins Bold"/>
                <a:sym typeface="Poppins Bold"/>
              </a:rPr>
              <a:t>Why it matters</a:t>
            </a:r>
          </a:p>
          <a:p>
            <a:pPr algn="l" marL="462793" indent="-231396" lvl="1">
              <a:lnSpc>
                <a:spcPts val="3000"/>
              </a:lnSpc>
              <a:buFont typeface="Arial"/>
              <a:buChar char="•"/>
            </a:pPr>
            <a:r>
              <a:rPr lang="en-US" sz="2143">
                <a:solidFill>
                  <a:srgbClr val="2A0947"/>
                </a:solidFill>
                <a:latin typeface="Poppins"/>
                <a:ea typeface="Poppins"/>
                <a:cs typeface="Poppins"/>
                <a:sym typeface="Poppins"/>
              </a:rPr>
              <a:t>Distinguish market-driven vs. plan-driven growth</a:t>
            </a:r>
          </a:p>
          <a:p>
            <a:pPr algn="l" marL="462793" indent="-231396" lvl="1">
              <a:lnSpc>
                <a:spcPts val="3000"/>
              </a:lnSpc>
              <a:buFont typeface="Arial"/>
              <a:buChar char="•"/>
            </a:pPr>
            <a:r>
              <a:rPr lang="en-US" sz="2143">
                <a:solidFill>
                  <a:srgbClr val="2A0947"/>
                </a:solidFill>
                <a:latin typeface="Poppins"/>
                <a:ea typeface="Poppins"/>
                <a:cs typeface="Poppins"/>
                <a:sym typeface="Poppins"/>
              </a:rPr>
              <a:t> Improve benchmarking accuracy</a:t>
            </a:r>
          </a:p>
          <a:p>
            <a:pPr algn="l" marL="462793" indent="-231396" lvl="1">
              <a:lnSpc>
                <a:spcPts val="3000"/>
              </a:lnSpc>
              <a:buFont typeface="Arial"/>
              <a:buChar char="•"/>
            </a:pPr>
            <a:r>
              <a:rPr lang="en-US" sz="2143">
                <a:solidFill>
                  <a:srgbClr val="2A0947"/>
                </a:solidFill>
                <a:latin typeface="Poppins"/>
                <a:ea typeface="Poppins"/>
                <a:cs typeface="Poppins"/>
                <a:sym typeface="Poppins"/>
              </a:rPr>
              <a:t> Enhance interpretation of competitive dynamics</a:t>
            </a:r>
          </a:p>
          <a:p>
            <a:pPr algn="l">
              <a:lnSpc>
                <a:spcPts val="3000"/>
              </a:lnSpc>
            </a:pPr>
          </a:p>
          <a:p>
            <a:pPr algn="l">
              <a:lnSpc>
                <a:spcPts val="3000"/>
              </a:lnSpc>
              <a:spcBef>
                <a:spcPct val="0"/>
              </a:spcBef>
            </a:pPr>
          </a:p>
        </p:txBody>
      </p:sp>
      <p:sp>
        <p:nvSpPr>
          <p:cNvPr name="TextBox 7" id="7"/>
          <p:cNvSpPr txBox="true"/>
          <p:nvPr/>
        </p:nvSpPr>
        <p:spPr>
          <a:xfrm rot="0">
            <a:off x="6889511" y="8456848"/>
            <a:ext cx="9087722" cy="1536229"/>
          </a:xfrm>
          <a:prstGeom prst="rect">
            <a:avLst/>
          </a:prstGeom>
        </p:spPr>
        <p:txBody>
          <a:bodyPr anchor="t" rtlCol="false" tIns="0" lIns="0" bIns="0" rIns="0">
            <a:spAutoFit/>
          </a:bodyPr>
          <a:lstStyle/>
          <a:p>
            <a:pPr algn="l">
              <a:lnSpc>
                <a:spcPts val="3000"/>
              </a:lnSpc>
            </a:pPr>
          </a:p>
          <a:p>
            <a:pPr algn="l">
              <a:lnSpc>
                <a:spcPts val="3000"/>
              </a:lnSpc>
              <a:spcBef>
                <a:spcPct val="0"/>
              </a:spcBef>
            </a:pPr>
            <a:r>
              <a:rPr lang="en-US" sz="2143" u="sng">
                <a:solidFill>
                  <a:srgbClr val="2A0947"/>
                </a:solidFill>
                <a:latin typeface="Poppins"/>
                <a:ea typeface="Poppins"/>
                <a:cs typeface="Poppins"/>
                <a:sym typeface="Poppins"/>
                <a:hlinkClick r:id="rId2" tooltip="https://www.cms.gov/data-research/statistics-trends-and-reports/medicare-advantagepart-d-contract-and-enrollment-data/ma-state/county-penetration?utm"/>
              </a:rPr>
              <a:t>https://www.cms.gov/data-research/statistics-trends-and-reports/medicare-advantagepart-d-contract-and-enrollment-data/ma-state/county-penetration?utm</a:t>
            </a:r>
          </a:p>
        </p:txBody>
      </p:sp>
      <p:sp>
        <p:nvSpPr>
          <p:cNvPr name="TextBox 8" id="8"/>
          <p:cNvSpPr txBox="true"/>
          <p:nvPr/>
        </p:nvSpPr>
        <p:spPr>
          <a:xfrm rot="0">
            <a:off x="958908" y="1860804"/>
            <a:ext cx="6248318" cy="501814"/>
          </a:xfrm>
          <a:prstGeom prst="rect">
            <a:avLst/>
          </a:prstGeom>
        </p:spPr>
        <p:txBody>
          <a:bodyPr anchor="t" rtlCol="false" tIns="0" lIns="0" bIns="0" rIns="0">
            <a:spAutoFit/>
          </a:bodyPr>
          <a:lstStyle/>
          <a:p>
            <a:pPr algn="ctr">
              <a:lnSpc>
                <a:spcPts val="3840"/>
              </a:lnSpc>
              <a:spcBef>
                <a:spcPct val="0"/>
              </a:spcBef>
            </a:pPr>
            <a:r>
              <a:rPr lang="en-US" b="true" sz="2743">
                <a:solidFill>
                  <a:srgbClr val="000000"/>
                </a:solidFill>
                <a:latin typeface="Poppins Bold"/>
                <a:ea typeface="Poppins Bold"/>
                <a:cs typeface="Poppins Bold"/>
                <a:sym typeface="Poppins Bold"/>
              </a:rPr>
              <a:t>Medica</a:t>
            </a:r>
            <a:r>
              <a:rPr lang="en-US" b="true" sz="2743">
                <a:solidFill>
                  <a:srgbClr val="000000"/>
                </a:solidFill>
                <a:latin typeface="Poppins Bold"/>
                <a:ea typeface="Poppins Bold"/>
                <a:cs typeface="Poppins Bold"/>
                <a:sym typeface="Poppins Bold"/>
              </a:rPr>
              <a:t>re Advantage Penetration</a:t>
            </a:r>
          </a:p>
        </p:txBody>
      </p:sp>
      <p:sp>
        <p:nvSpPr>
          <p:cNvPr name="TextBox 9" id="9"/>
          <p:cNvSpPr txBox="true"/>
          <p:nvPr/>
        </p:nvSpPr>
        <p:spPr>
          <a:xfrm rot="0">
            <a:off x="1286917" y="9008122"/>
            <a:ext cx="1686950" cy="433680"/>
          </a:xfrm>
          <a:prstGeom prst="rect">
            <a:avLst/>
          </a:prstGeom>
        </p:spPr>
        <p:txBody>
          <a:bodyPr anchor="t" rtlCol="false" tIns="0" lIns="0" bIns="0" rIns="0">
            <a:spAutoFit/>
          </a:bodyPr>
          <a:lstStyle/>
          <a:p>
            <a:pPr algn="l">
              <a:lnSpc>
                <a:spcPts val="3396"/>
              </a:lnSpc>
              <a:spcBef>
                <a:spcPct val="0"/>
              </a:spcBef>
            </a:pPr>
            <a:r>
              <a:rPr lang="en-US" sz="2425" b="true">
                <a:solidFill>
                  <a:srgbClr val="000000"/>
                </a:solidFill>
                <a:latin typeface="Poppins Bold"/>
                <a:ea typeface="Poppins Bold"/>
                <a:cs typeface="Poppins Bold"/>
                <a:sym typeface="Poppins Bold"/>
              </a:rPr>
              <a:t>Dixin Guo</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96859" y="625582"/>
            <a:ext cx="7185230" cy="980608"/>
          </a:xfrm>
          <a:prstGeom prst="rect">
            <a:avLst/>
          </a:prstGeom>
        </p:spPr>
        <p:txBody>
          <a:bodyPr anchor="t" rtlCol="false" tIns="0" lIns="0" bIns="0" rIns="0">
            <a:spAutoFit/>
          </a:bodyPr>
          <a:lstStyle/>
          <a:p>
            <a:pPr algn="l">
              <a:lnSpc>
                <a:spcPts val="8137"/>
              </a:lnSpc>
              <a:spcBef>
                <a:spcPct val="0"/>
              </a:spcBef>
            </a:pPr>
            <a:r>
              <a:rPr lang="en-US" sz="5812">
                <a:solidFill>
                  <a:srgbClr val="000000"/>
                </a:solidFill>
                <a:latin typeface="League Spartan"/>
                <a:ea typeface="League Spartan"/>
                <a:cs typeface="League Spartan"/>
                <a:sym typeface="League Spartan"/>
              </a:rPr>
              <a:t>EXTERNAL DATA</a:t>
            </a:r>
          </a:p>
        </p:txBody>
      </p:sp>
      <p:sp>
        <p:nvSpPr>
          <p:cNvPr name="TextBox 3" id="3"/>
          <p:cNvSpPr txBox="true"/>
          <p:nvPr/>
        </p:nvSpPr>
        <p:spPr>
          <a:xfrm rot="0">
            <a:off x="958908" y="2645809"/>
            <a:ext cx="6661133" cy="3719604"/>
          </a:xfrm>
          <a:prstGeom prst="rect">
            <a:avLst/>
          </a:prstGeom>
        </p:spPr>
        <p:txBody>
          <a:bodyPr anchor="t" rtlCol="false" tIns="0" lIns="0" bIns="0" rIns="0">
            <a:spAutoFit/>
          </a:bodyPr>
          <a:lstStyle/>
          <a:p>
            <a:pPr algn="l">
              <a:lnSpc>
                <a:spcPts val="3255"/>
              </a:lnSpc>
            </a:pPr>
            <a:r>
              <a:rPr lang="en-US" sz="2325" b="true">
                <a:solidFill>
                  <a:srgbClr val="2A0947"/>
                </a:solidFill>
                <a:latin typeface="Poppins Bold"/>
                <a:ea typeface="Poppins Bold"/>
                <a:cs typeface="Poppins Bold"/>
                <a:sym typeface="Poppins Bold"/>
              </a:rPr>
              <a:t>Justification</a:t>
            </a:r>
          </a:p>
          <a:p>
            <a:pPr algn="l">
              <a:lnSpc>
                <a:spcPts val="3255"/>
              </a:lnSpc>
            </a:pPr>
            <a:r>
              <a:rPr lang="en-US" sz="2325">
                <a:solidFill>
                  <a:srgbClr val="2A0947"/>
                </a:solidFill>
                <a:latin typeface="Poppins"/>
                <a:ea typeface="Poppins"/>
                <a:cs typeface="Poppins"/>
                <a:sym typeface="Poppins"/>
              </a:rPr>
              <a:t>•P</a:t>
            </a:r>
            <a:r>
              <a:rPr lang="en-US" sz="2325">
                <a:solidFill>
                  <a:srgbClr val="2A0947"/>
                </a:solidFill>
                <a:latin typeface="Poppins"/>
                <a:ea typeface="Poppins"/>
                <a:cs typeface="Poppins"/>
                <a:sym typeface="Poppins"/>
              </a:rPr>
              <a:t>lan-level data captures enrollment, cost, and quality, but lacks important market structure information such as urban–rural classification and differences in healthcare access and competition. Without this context, it is difficult to explain variations in performance across regions.</a:t>
            </a:r>
          </a:p>
          <a:p>
            <a:pPr algn="l">
              <a:lnSpc>
                <a:spcPts val="3559"/>
              </a:lnSpc>
              <a:spcBef>
                <a:spcPct val="0"/>
              </a:spcBef>
            </a:pPr>
          </a:p>
        </p:txBody>
      </p:sp>
      <p:sp>
        <p:nvSpPr>
          <p:cNvPr name="TextBox 4" id="4"/>
          <p:cNvSpPr txBox="true"/>
          <p:nvPr/>
        </p:nvSpPr>
        <p:spPr>
          <a:xfrm rot="0">
            <a:off x="9144000" y="1232534"/>
            <a:ext cx="8115300" cy="2874174"/>
          </a:xfrm>
          <a:prstGeom prst="rect">
            <a:avLst/>
          </a:prstGeom>
        </p:spPr>
        <p:txBody>
          <a:bodyPr anchor="t" rtlCol="false" tIns="0" lIns="0" bIns="0" rIns="0">
            <a:spAutoFit/>
          </a:bodyPr>
          <a:lstStyle/>
          <a:p>
            <a:pPr algn="l">
              <a:lnSpc>
                <a:spcPts val="3280"/>
              </a:lnSpc>
            </a:pPr>
            <a:r>
              <a:rPr lang="en-US" sz="2343" b="true">
                <a:solidFill>
                  <a:srgbClr val="2A0947"/>
                </a:solidFill>
                <a:latin typeface="Poppins Bold"/>
                <a:ea typeface="Poppins Bold"/>
                <a:cs typeface="Poppins Bold"/>
                <a:sym typeface="Poppins Bold"/>
              </a:rPr>
              <a:t>Integration</a:t>
            </a:r>
          </a:p>
          <a:p>
            <a:pPr algn="l">
              <a:lnSpc>
                <a:spcPts val="3280"/>
              </a:lnSpc>
            </a:pPr>
            <a:r>
              <a:rPr lang="en-US" sz="2343">
                <a:solidFill>
                  <a:srgbClr val="2A0947"/>
                </a:solidFill>
                <a:latin typeface="Poppins"/>
                <a:ea typeface="Poppins"/>
                <a:cs typeface="Poppins"/>
                <a:sym typeface="Poppins"/>
              </a:rPr>
              <a:t>The dataset is merged with the primary data at the county level using FIPS or State + County, allowing each plan to be assigned a market type (urban vs. rural) and enabling segmentation by market environment.</a:t>
            </a:r>
          </a:p>
          <a:p>
            <a:pPr algn="l">
              <a:lnSpc>
                <a:spcPts val="3280"/>
              </a:lnSpc>
              <a:spcBef>
                <a:spcPct val="0"/>
              </a:spcBef>
            </a:pPr>
          </a:p>
        </p:txBody>
      </p:sp>
      <p:sp>
        <p:nvSpPr>
          <p:cNvPr name="TextBox 5" id="5"/>
          <p:cNvSpPr txBox="true"/>
          <p:nvPr/>
        </p:nvSpPr>
        <p:spPr>
          <a:xfrm rot="0">
            <a:off x="9144000" y="6622118"/>
            <a:ext cx="12718451" cy="1536229"/>
          </a:xfrm>
          <a:prstGeom prst="rect">
            <a:avLst/>
          </a:prstGeom>
        </p:spPr>
        <p:txBody>
          <a:bodyPr anchor="t" rtlCol="false" tIns="0" lIns="0" bIns="0" rIns="0">
            <a:spAutoFit/>
          </a:bodyPr>
          <a:lstStyle/>
          <a:p>
            <a:pPr algn="l">
              <a:lnSpc>
                <a:spcPts val="3000"/>
              </a:lnSpc>
            </a:pPr>
            <a:r>
              <a:rPr lang="en-US" sz="2143" b="true">
                <a:solidFill>
                  <a:srgbClr val="2A0947"/>
                </a:solidFill>
                <a:latin typeface="Poppins Bold"/>
                <a:ea typeface="Poppins Bold"/>
                <a:cs typeface="Poppins Bold"/>
                <a:sym typeface="Poppins Bold"/>
              </a:rPr>
              <a:t>Source</a:t>
            </a:r>
          </a:p>
          <a:p>
            <a:pPr algn="l">
              <a:lnSpc>
                <a:spcPts val="3000"/>
              </a:lnSpc>
            </a:pPr>
            <a:r>
              <a:rPr lang="en-US" sz="2143">
                <a:solidFill>
                  <a:srgbClr val="2A0947"/>
                </a:solidFill>
                <a:latin typeface="Poppins"/>
                <a:ea typeface="Poppins"/>
                <a:cs typeface="Poppins"/>
                <a:sym typeface="Poppins"/>
              </a:rPr>
              <a:t>• U</a:t>
            </a:r>
            <a:r>
              <a:rPr lang="en-US" sz="2143">
                <a:solidFill>
                  <a:srgbClr val="2A0947"/>
                </a:solidFill>
                <a:latin typeface="Poppins"/>
                <a:ea typeface="Poppins"/>
                <a:cs typeface="Poppins"/>
                <a:sym typeface="Poppins"/>
              </a:rPr>
              <a:t>SDA Rural–Urban Continuum C</a:t>
            </a:r>
            <a:r>
              <a:rPr lang="en-US" sz="2143">
                <a:solidFill>
                  <a:srgbClr val="2A0947"/>
                </a:solidFill>
                <a:latin typeface="Poppins"/>
                <a:ea typeface="Poppins"/>
                <a:cs typeface="Poppins"/>
                <a:sym typeface="Poppins"/>
              </a:rPr>
              <a:t>odes (RUCC)</a:t>
            </a:r>
          </a:p>
          <a:p>
            <a:pPr algn="l">
              <a:lnSpc>
                <a:spcPts val="3000"/>
              </a:lnSpc>
            </a:pPr>
            <a:r>
              <a:rPr lang="en-US" sz="2143">
                <a:solidFill>
                  <a:srgbClr val="2A0947"/>
                </a:solidFill>
                <a:latin typeface="Poppins"/>
                <a:ea typeface="Poppins"/>
                <a:cs typeface="Poppins"/>
                <a:sym typeface="Poppins"/>
              </a:rPr>
              <a:t> • Classifies counties into urban -rural categories</a:t>
            </a:r>
          </a:p>
          <a:p>
            <a:pPr algn="l">
              <a:lnSpc>
                <a:spcPts val="3000"/>
              </a:lnSpc>
              <a:spcBef>
                <a:spcPct val="0"/>
              </a:spcBef>
            </a:pPr>
          </a:p>
        </p:txBody>
      </p:sp>
      <p:sp>
        <p:nvSpPr>
          <p:cNvPr name="TextBox 6" id="6"/>
          <p:cNvSpPr txBox="true"/>
          <p:nvPr/>
        </p:nvSpPr>
        <p:spPr>
          <a:xfrm rot="0">
            <a:off x="9144000" y="3886087"/>
            <a:ext cx="7487078" cy="3060229"/>
          </a:xfrm>
          <a:prstGeom prst="rect">
            <a:avLst/>
          </a:prstGeom>
        </p:spPr>
        <p:txBody>
          <a:bodyPr anchor="t" rtlCol="false" tIns="0" lIns="0" bIns="0" rIns="0">
            <a:spAutoFit/>
          </a:bodyPr>
          <a:lstStyle/>
          <a:p>
            <a:pPr algn="l">
              <a:lnSpc>
                <a:spcPts val="3000"/>
              </a:lnSpc>
            </a:pPr>
            <a:r>
              <a:rPr lang="en-US" sz="2143" b="true">
                <a:solidFill>
                  <a:srgbClr val="2A0947"/>
                </a:solidFill>
                <a:latin typeface="Poppins Bold"/>
                <a:ea typeface="Poppins Bold"/>
                <a:cs typeface="Poppins Bold"/>
                <a:sym typeface="Poppins Bold"/>
              </a:rPr>
              <a:t>Why it matters</a:t>
            </a:r>
          </a:p>
          <a:p>
            <a:pPr algn="l">
              <a:lnSpc>
                <a:spcPts val="3000"/>
              </a:lnSpc>
            </a:pPr>
            <a:r>
              <a:rPr lang="en-US" sz="2143">
                <a:solidFill>
                  <a:srgbClr val="2A0947"/>
                </a:solidFill>
                <a:latin typeface="Poppins"/>
                <a:ea typeface="Poppins"/>
                <a:cs typeface="Poppins"/>
                <a:sym typeface="Poppins"/>
              </a:rPr>
              <a:t>• Explains differences in access, competition, and growth patterns</a:t>
            </a:r>
          </a:p>
          <a:p>
            <a:pPr algn="l">
              <a:lnSpc>
                <a:spcPts val="3000"/>
              </a:lnSpc>
            </a:pPr>
            <a:r>
              <a:rPr lang="en-US" sz="2143">
                <a:solidFill>
                  <a:srgbClr val="2A0947"/>
                </a:solidFill>
                <a:latin typeface="Poppins"/>
                <a:ea typeface="Poppins"/>
                <a:cs typeface="Poppins"/>
                <a:sym typeface="Poppins"/>
              </a:rPr>
              <a:t> • Identifies whether ACHP plans are concentrated in specific market types</a:t>
            </a:r>
          </a:p>
          <a:p>
            <a:pPr algn="l">
              <a:lnSpc>
                <a:spcPts val="3000"/>
              </a:lnSpc>
            </a:pPr>
            <a:r>
              <a:rPr lang="en-US" sz="2143">
                <a:solidFill>
                  <a:srgbClr val="2A0947"/>
                </a:solidFill>
                <a:latin typeface="Poppins"/>
                <a:ea typeface="Poppins"/>
                <a:cs typeface="Poppins"/>
                <a:sym typeface="Poppins"/>
              </a:rPr>
              <a:t> • Improves interpretation of enrollment and performance variation</a:t>
            </a:r>
          </a:p>
          <a:p>
            <a:pPr algn="l">
              <a:lnSpc>
                <a:spcPts val="3000"/>
              </a:lnSpc>
              <a:spcBef>
                <a:spcPct val="0"/>
              </a:spcBef>
            </a:pPr>
          </a:p>
        </p:txBody>
      </p:sp>
      <p:sp>
        <p:nvSpPr>
          <p:cNvPr name="TextBox 7" id="7"/>
          <p:cNvSpPr txBox="true"/>
          <p:nvPr/>
        </p:nvSpPr>
        <p:spPr>
          <a:xfrm rot="0">
            <a:off x="7338472" y="8837848"/>
            <a:ext cx="9087722" cy="774229"/>
          </a:xfrm>
          <a:prstGeom prst="rect">
            <a:avLst/>
          </a:prstGeom>
        </p:spPr>
        <p:txBody>
          <a:bodyPr anchor="t" rtlCol="false" tIns="0" lIns="0" bIns="0" rIns="0">
            <a:spAutoFit/>
          </a:bodyPr>
          <a:lstStyle/>
          <a:p>
            <a:pPr algn="l">
              <a:lnSpc>
                <a:spcPts val="3000"/>
              </a:lnSpc>
              <a:spcBef>
                <a:spcPct val="0"/>
              </a:spcBef>
            </a:pPr>
            <a:r>
              <a:rPr lang="en-US" sz="2143">
                <a:solidFill>
                  <a:srgbClr val="2A0947"/>
                </a:solidFill>
                <a:latin typeface="Poppins"/>
                <a:ea typeface="Poppins"/>
                <a:cs typeface="Poppins"/>
                <a:sym typeface="Poppins"/>
              </a:rPr>
              <a:t>https://www.ers.usda.gov/data-products/rural-urban-continuum-codes?</a:t>
            </a:r>
          </a:p>
        </p:txBody>
      </p:sp>
      <p:sp>
        <p:nvSpPr>
          <p:cNvPr name="TextBox 8" id="8"/>
          <p:cNvSpPr txBox="true"/>
          <p:nvPr/>
        </p:nvSpPr>
        <p:spPr>
          <a:xfrm rot="0">
            <a:off x="958908" y="1860804"/>
            <a:ext cx="6248318" cy="501814"/>
          </a:xfrm>
          <a:prstGeom prst="rect">
            <a:avLst/>
          </a:prstGeom>
        </p:spPr>
        <p:txBody>
          <a:bodyPr anchor="t" rtlCol="false" tIns="0" lIns="0" bIns="0" rIns="0">
            <a:spAutoFit/>
          </a:bodyPr>
          <a:lstStyle/>
          <a:p>
            <a:pPr algn="ctr">
              <a:lnSpc>
                <a:spcPts val="3840"/>
              </a:lnSpc>
              <a:spcBef>
                <a:spcPct val="0"/>
              </a:spcBef>
            </a:pPr>
            <a:r>
              <a:rPr lang="en-US" b="true" sz="2743">
                <a:solidFill>
                  <a:srgbClr val="000000"/>
                </a:solidFill>
                <a:latin typeface="Poppins Bold"/>
                <a:ea typeface="Poppins Bold"/>
                <a:cs typeface="Poppins Bold"/>
                <a:sym typeface="Poppins Bold"/>
              </a:rPr>
              <a:t>Rural–U</a:t>
            </a:r>
            <a:r>
              <a:rPr lang="en-US" b="true" sz="2743">
                <a:solidFill>
                  <a:srgbClr val="000000"/>
                </a:solidFill>
                <a:latin typeface="Poppins Bold"/>
                <a:ea typeface="Poppins Bold"/>
                <a:cs typeface="Poppins Bold"/>
                <a:sym typeface="Poppins Bold"/>
              </a:rPr>
              <a:t>rban Market Classification</a:t>
            </a:r>
          </a:p>
        </p:txBody>
      </p:sp>
      <p:sp>
        <p:nvSpPr>
          <p:cNvPr name="TextBox 9" id="9"/>
          <p:cNvSpPr txBox="true"/>
          <p:nvPr/>
        </p:nvSpPr>
        <p:spPr>
          <a:xfrm rot="0">
            <a:off x="1286917" y="9008122"/>
            <a:ext cx="1686950" cy="433680"/>
          </a:xfrm>
          <a:prstGeom prst="rect">
            <a:avLst/>
          </a:prstGeom>
        </p:spPr>
        <p:txBody>
          <a:bodyPr anchor="t" rtlCol="false" tIns="0" lIns="0" bIns="0" rIns="0">
            <a:spAutoFit/>
          </a:bodyPr>
          <a:lstStyle/>
          <a:p>
            <a:pPr algn="l">
              <a:lnSpc>
                <a:spcPts val="3396"/>
              </a:lnSpc>
              <a:spcBef>
                <a:spcPct val="0"/>
              </a:spcBef>
            </a:pPr>
            <a:r>
              <a:rPr lang="en-US" sz="2425" b="true">
                <a:solidFill>
                  <a:srgbClr val="000000"/>
                </a:solidFill>
                <a:latin typeface="Poppins Bold"/>
                <a:ea typeface="Poppins Bold"/>
                <a:cs typeface="Poppins Bold"/>
                <a:sym typeface="Poppins Bold"/>
              </a:rPr>
              <a:t>Dixin Guo</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8378" y="356702"/>
            <a:ext cx="15077365" cy="596585"/>
          </a:xfrm>
          <a:prstGeom prst="rect">
            <a:avLst/>
          </a:prstGeom>
        </p:spPr>
        <p:txBody>
          <a:bodyPr anchor="t" rtlCol="false" tIns="0" lIns="0" bIns="0" rIns="0">
            <a:spAutoFit/>
          </a:bodyPr>
          <a:lstStyle/>
          <a:p>
            <a:pPr algn="l">
              <a:lnSpc>
                <a:spcPts val="4917"/>
              </a:lnSpc>
              <a:spcBef>
                <a:spcPct val="0"/>
              </a:spcBef>
            </a:pPr>
            <a:r>
              <a:rPr lang="en-US" sz="3512">
                <a:solidFill>
                  <a:srgbClr val="000000"/>
                </a:solidFill>
                <a:latin typeface="League Spartan"/>
                <a:ea typeface="League Spartan"/>
                <a:cs typeface="League Spartan"/>
                <a:sym typeface="League Spartan"/>
              </a:rPr>
              <a:t>UPDATE EXTERNAL DATA FOR POSSIBLE FUTURE ANAYLYSIS</a:t>
            </a:r>
          </a:p>
        </p:txBody>
      </p:sp>
      <p:sp>
        <p:nvSpPr>
          <p:cNvPr name="TextBox 3" id="3"/>
          <p:cNvSpPr txBox="true"/>
          <p:nvPr/>
        </p:nvSpPr>
        <p:spPr>
          <a:xfrm rot="0">
            <a:off x="1028700" y="2052060"/>
            <a:ext cx="6661133" cy="6629185"/>
          </a:xfrm>
          <a:prstGeom prst="rect">
            <a:avLst/>
          </a:prstGeom>
        </p:spPr>
        <p:txBody>
          <a:bodyPr anchor="t" rtlCol="false" tIns="0" lIns="0" bIns="0" rIns="0">
            <a:spAutoFit/>
          </a:bodyPr>
          <a:lstStyle/>
          <a:p>
            <a:pPr algn="l">
              <a:lnSpc>
                <a:spcPts val="3255"/>
              </a:lnSpc>
            </a:pPr>
            <a:r>
              <a:rPr lang="en-US" sz="2325" b="true">
                <a:solidFill>
                  <a:srgbClr val="2A0947"/>
                </a:solidFill>
                <a:latin typeface="Poppins Bold"/>
                <a:ea typeface="Poppins Bold"/>
                <a:cs typeface="Poppins Bold"/>
                <a:sym typeface="Poppins Bold"/>
              </a:rPr>
              <a:t>Justification</a:t>
            </a:r>
          </a:p>
          <a:p>
            <a:pPr algn="l">
              <a:lnSpc>
                <a:spcPts val="3559"/>
              </a:lnSpc>
              <a:spcBef>
                <a:spcPct val="0"/>
              </a:spcBef>
            </a:pPr>
            <a:r>
              <a:rPr lang="en-US" sz="2542">
                <a:solidFill>
                  <a:srgbClr val="2A0947"/>
                </a:solidFill>
                <a:latin typeface="Poppins"/>
                <a:ea typeface="Poppins"/>
                <a:cs typeface="Poppins"/>
                <a:sym typeface="Poppins"/>
              </a:rPr>
              <a:t>The core CMS files capture plan participation and enrollment outcomes, but they do not describe the demographic and socioeconomic context of each county. To better explain differences in market response, we add county-level Census / ACS variables such as total population, population aged 65 and over, median household income, poverty rate, and educational attainment. These variables help us control for underlying demand conditions and community characteristics</a:t>
            </a:r>
          </a:p>
        </p:txBody>
      </p:sp>
      <p:sp>
        <p:nvSpPr>
          <p:cNvPr name="TextBox 4" id="4"/>
          <p:cNvSpPr txBox="true"/>
          <p:nvPr/>
        </p:nvSpPr>
        <p:spPr>
          <a:xfrm rot="0">
            <a:off x="9144000" y="1232534"/>
            <a:ext cx="7057636" cy="2874174"/>
          </a:xfrm>
          <a:prstGeom prst="rect">
            <a:avLst/>
          </a:prstGeom>
        </p:spPr>
        <p:txBody>
          <a:bodyPr anchor="t" rtlCol="false" tIns="0" lIns="0" bIns="0" rIns="0">
            <a:spAutoFit/>
          </a:bodyPr>
          <a:lstStyle/>
          <a:p>
            <a:pPr algn="l">
              <a:lnSpc>
                <a:spcPts val="3280"/>
              </a:lnSpc>
            </a:pPr>
            <a:r>
              <a:rPr lang="en-US" sz="2343" b="true">
                <a:solidFill>
                  <a:srgbClr val="2A0947"/>
                </a:solidFill>
                <a:latin typeface="Poppins Bold"/>
                <a:ea typeface="Poppins Bold"/>
                <a:cs typeface="Poppins Bold"/>
                <a:sym typeface="Poppins Bold"/>
              </a:rPr>
              <a:t>Integration</a:t>
            </a:r>
          </a:p>
          <a:p>
            <a:pPr algn="l">
              <a:lnSpc>
                <a:spcPts val="3280"/>
              </a:lnSpc>
              <a:spcBef>
                <a:spcPct val="0"/>
              </a:spcBef>
            </a:pPr>
            <a:r>
              <a:rPr lang="en-US" sz="2343">
                <a:solidFill>
                  <a:srgbClr val="2A0947"/>
                </a:solidFill>
                <a:latin typeface="Poppins"/>
                <a:ea typeface="Poppins"/>
                <a:cs typeface="Poppins"/>
                <a:sym typeface="Poppins"/>
              </a:rPr>
              <a:t> The ACS data is merged with the existing county-level panel using county FIPS codes. We use these variables as time-invariant or slow-moving controls to enrich the 2025–2026 analysis and better account for structural differences across counties. </a:t>
            </a:r>
          </a:p>
        </p:txBody>
      </p:sp>
      <p:sp>
        <p:nvSpPr>
          <p:cNvPr name="TextBox 5" id="5"/>
          <p:cNvSpPr txBox="true"/>
          <p:nvPr/>
        </p:nvSpPr>
        <p:spPr>
          <a:xfrm rot="0">
            <a:off x="8912392" y="6567542"/>
            <a:ext cx="9087722" cy="2298229"/>
          </a:xfrm>
          <a:prstGeom prst="rect">
            <a:avLst/>
          </a:prstGeom>
        </p:spPr>
        <p:txBody>
          <a:bodyPr anchor="t" rtlCol="false" tIns="0" lIns="0" bIns="0" rIns="0">
            <a:spAutoFit/>
          </a:bodyPr>
          <a:lstStyle/>
          <a:p>
            <a:pPr algn="l">
              <a:lnSpc>
                <a:spcPts val="3000"/>
              </a:lnSpc>
            </a:pPr>
            <a:r>
              <a:rPr lang="en-US" sz="2143" b="true">
                <a:solidFill>
                  <a:srgbClr val="2A0947"/>
                </a:solidFill>
                <a:latin typeface="Poppins Bold"/>
                <a:ea typeface="Poppins Bold"/>
                <a:cs typeface="Poppins Bold"/>
                <a:sym typeface="Poppins Bold"/>
              </a:rPr>
              <a:t>Source</a:t>
            </a:r>
          </a:p>
          <a:p>
            <a:pPr algn="l" marL="462793" indent="-231396" lvl="1">
              <a:lnSpc>
                <a:spcPts val="3000"/>
              </a:lnSpc>
              <a:buFont typeface="Arial"/>
              <a:buChar char="•"/>
            </a:pPr>
            <a:r>
              <a:rPr lang="en-US" sz="2143">
                <a:solidFill>
                  <a:srgbClr val="2A0947"/>
                </a:solidFill>
                <a:latin typeface="Poppins"/>
                <a:ea typeface="Poppins"/>
                <a:cs typeface="Poppins"/>
                <a:sym typeface="Poppins"/>
              </a:rPr>
              <a:t>U.S. Census Bureau, American Community Survey (ACS) 5-Year Data</a:t>
            </a:r>
          </a:p>
          <a:p>
            <a:pPr algn="l" marL="462793" indent="-231396" lvl="1">
              <a:lnSpc>
                <a:spcPts val="3000"/>
              </a:lnSpc>
              <a:buFont typeface="Arial"/>
              <a:buChar char="•"/>
            </a:pPr>
            <a:r>
              <a:rPr lang="en-US" sz="2143">
                <a:solidFill>
                  <a:srgbClr val="2A0947"/>
                </a:solidFill>
                <a:latin typeface="Poppins"/>
                <a:ea typeface="Poppins"/>
                <a:cs typeface="Poppins"/>
                <a:sym typeface="Poppins"/>
              </a:rPr>
              <a:t>Latest nationwide county-level release: 2024 ACS 5-year estimates</a:t>
            </a:r>
          </a:p>
          <a:p>
            <a:pPr algn="l">
              <a:lnSpc>
                <a:spcPts val="3000"/>
              </a:lnSpc>
              <a:spcBef>
                <a:spcPct val="0"/>
              </a:spcBef>
            </a:pPr>
          </a:p>
        </p:txBody>
      </p:sp>
      <p:sp>
        <p:nvSpPr>
          <p:cNvPr name="TextBox 6" id="6"/>
          <p:cNvSpPr txBox="true"/>
          <p:nvPr/>
        </p:nvSpPr>
        <p:spPr>
          <a:xfrm rot="0">
            <a:off x="9144000" y="4374088"/>
            <a:ext cx="7487078" cy="1917229"/>
          </a:xfrm>
          <a:prstGeom prst="rect">
            <a:avLst/>
          </a:prstGeom>
        </p:spPr>
        <p:txBody>
          <a:bodyPr anchor="t" rtlCol="false" tIns="0" lIns="0" bIns="0" rIns="0">
            <a:spAutoFit/>
          </a:bodyPr>
          <a:lstStyle/>
          <a:p>
            <a:pPr algn="l">
              <a:lnSpc>
                <a:spcPts val="3000"/>
              </a:lnSpc>
            </a:pPr>
            <a:r>
              <a:rPr lang="en-US" sz="2143" b="true">
                <a:solidFill>
                  <a:srgbClr val="2A0947"/>
                </a:solidFill>
                <a:latin typeface="Poppins Bold"/>
                <a:ea typeface="Poppins Bold"/>
                <a:cs typeface="Poppins Bold"/>
                <a:sym typeface="Poppins Bold"/>
              </a:rPr>
              <a:t>Why it matters</a:t>
            </a:r>
          </a:p>
          <a:p>
            <a:pPr algn="l">
              <a:lnSpc>
                <a:spcPts val="3000"/>
              </a:lnSpc>
            </a:pPr>
            <a:r>
              <a:rPr lang="en-US" sz="2143" b="true">
                <a:solidFill>
                  <a:srgbClr val="2A0947"/>
                </a:solidFill>
                <a:latin typeface="Poppins Bold"/>
                <a:ea typeface="Poppins Bold"/>
                <a:cs typeface="Poppins Bold"/>
                <a:sym typeface="Poppins Bold"/>
              </a:rPr>
              <a:t> </a:t>
            </a:r>
            <a:r>
              <a:rPr lang="en-US" sz="2143">
                <a:solidFill>
                  <a:srgbClr val="2A0947"/>
                </a:solidFill>
                <a:latin typeface="Poppins"/>
                <a:ea typeface="Poppins"/>
                <a:cs typeface="Poppins"/>
                <a:sym typeface="Poppins"/>
              </a:rPr>
              <a:t>• Controls for county demographic composition</a:t>
            </a:r>
          </a:p>
          <a:p>
            <a:pPr algn="l">
              <a:lnSpc>
                <a:spcPts val="3000"/>
              </a:lnSpc>
            </a:pPr>
            <a:r>
              <a:rPr lang="en-US" sz="2143">
                <a:solidFill>
                  <a:srgbClr val="2A0947"/>
                </a:solidFill>
                <a:latin typeface="Poppins"/>
                <a:ea typeface="Poppins"/>
                <a:cs typeface="Poppins"/>
                <a:sym typeface="Poppins"/>
              </a:rPr>
              <a:t> • Captures socioeconomic differences across markets</a:t>
            </a:r>
          </a:p>
          <a:p>
            <a:pPr algn="l">
              <a:lnSpc>
                <a:spcPts val="3000"/>
              </a:lnSpc>
              <a:spcBef>
                <a:spcPct val="0"/>
              </a:spcBef>
            </a:pPr>
            <a:r>
              <a:rPr lang="en-US" sz="2143">
                <a:solidFill>
                  <a:srgbClr val="2A0947"/>
                </a:solidFill>
                <a:latin typeface="Poppins"/>
                <a:ea typeface="Poppins"/>
                <a:cs typeface="Poppins"/>
                <a:sym typeface="Poppins"/>
              </a:rPr>
              <a:t> • H</a:t>
            </a:r>
            <a:r>
              <a:rPr lang="en-US" sz="2143">
                <a:solidFill>
                  <a:srgbClr val="2A0947"/>
                </a:solidFill>
                <a:latin typeface="Poppins"/>
                <a:ea typeface="Poppins"/>
                <a:cs typeface="Poppins"/>
                <a:sym typeface="Poppins"/>
              </a:rPr>
              <a:t>elps explain variation in enrollment response and market resilience</a:t>
            </a:r>
          </a:p>
        </p:txBody>
      </p:sp>
      <p:sp>
        <p:nvSpPr>
          <p:cNvPr name="TextBox 7" id="7"/>
          <p:cNvSpPr txBox="true"/>
          <p:nvPr/>
        </p:nvSpPr>
        <p:spPr>
          <a:xfrm rot="0">
            <a:off x="8568235" y="8837848"/>
            <a:ext cx="9087722" cy="774229"/>
          </a:xfrm>
          <a:prstGeom prst="rect">
            <a:avLst/>
          </a:prstGeom>
        </p:spPr>
        <p:txBody>
          <a:bodyPr anchor="t" rtlCol="false" tIns="0" lIns="0" bIns="0" rIns="0">
            <a:spAutoFit/>
          </a:bodyPr>
          <a:lstStyle/>
          <a:p>
            <a:pPr algn="l">
              <a:lnSpc>
                <a:spcPts val="3000"/>
              </a:lnSpc>
            </a:pPr>
            <a:r>
              <a:rPr lang="en-US" sz="2143">
                <a:solidFill>
                  <a:srgbClr val="2A0947"/>
                </a:solidFill>
                <a:latin typeface="Poppins"/>
                <a:ea typeface="Poppins"/>
                <a:cs typeface="Poppins"/>
                <a:sym typeface="Poppins"/>
              </a:rPr>
              <a:t>https://www.census.gov/data/developers/data-sets.html</a:t>
            </a:r>
          </a:p>
          <a:p>
            <a:pPr algn="l">
              <a:lnSpc>
                <a:spcPts val="3000"/>
              </a:lnSpc>
              <a:spcBef>
                <a:spcPct val="0"/>
              </a:spcBef>
            </a:pPr>
          </a:p>
        </p:txBody>
      </p:sp>
      <p:sp>
        <p:nvSpPr>
          <p:cNvPr name="TextBox 8" id="8"/>
          <p:cNvSpPr txBox="true"/>
          <p:nvPr/>
        </p:nvSpPr>
        <p:spPr>
          <a:xfrm rot="0">
            <a:off x="1286917" y="9008122"/>
            <a:ext cx="2623912" cy="433680"/>
          </a:xfrm>
          <a:prstGeom prst="rect">
            <a:avLst/>
          </a:prstGeom>
        </p:spPr>
        <p:txBody>
          <a:bodyPr anchor="t" rtlCol="false" tIns="0" lIns="0" bIns="0" rIns="0">
            <a:spAutoFit/>
          </a:bodyPr>
          <a:lstStyle/>
          <a:p>
            <a:pPr algn="l">
              <a:lnSpc>
                <a:spcPts val="3396"/>
              </a:lnSpc>
              <a:spcBef>
                <a:spcPct val="0"/>
              </a:spcBef>
            </a:pPr>
            <a:r>
              <a:rPr lang="en-US" sz="2425" b="true">
                <a:solidFill>
                  <a:srgbClr val="000000"/>
                </a:solidFill>
                <a:latin typeface="Poppins Bold"/>
                <a:ea typeface="Poppins Bold"/>
                <a:cs typeface="Poppins Bold"/>
                <a:sym typeface="Poppins Bold"/>
              </a:rPr>
              <a:t>Yifu Huang</a:t>
            </a:r>
          </a:p>
        </p:txBody>
      </p:sp>
      <p:sp>
        <p:nvSpPr>
          <p:cNvPr name="TextBox 9" id="9"/>
          <p:cNvSpPr txBox="true"/>
          <p:nvPr/>
        </p:nvSpPr>
        <p:spPr>
          <a:xfrm rot="0">
            <a:off x="1008131" y="1270263"/>
            <a:ext cx="6681702"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CENSUS / ACS DEMOGRAPHICS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743493"/>
            <a:ext cx="18144174" cy="8242302"/>
            <a:chOff x="0" y="0"/>
            <a:chExt cx="4778713" cy="2170812"/>
          </a:xfrm>
        </p:grpSpPr>
        <p:sp>
          <p:nvSpPr>
            <p:cNvPr name="Freeform 3" id="3"/>
            <p:cNvSpPr/>
            <p:nvPr/>
          </p:nvSpPr>
          <p:spPr>
            <a:xfrm flipH="false" flipV="false" rot="0">
              <a:off x="0" y="0"/>
              <a:ext cx="4778713" cy="2170812"/>
            </a:xfrm>
            <a:custGeom>
              <a:avLst/>
              <a:gdLst/>
              <a:ahLst/>
              <a:cxnLst/>
              <a:rect r="r" b="b" t="t" l="l"/>
              <a:pathLst>
                <a:path h="2170812" w="4778713">
                  <a:moveTo>
                    <a:pt x="0" y="0"/>
                  </a:moveTo>
                  <a:lnTo>
                    <a:pt x="4778713" y="0"/>
                  </a:lnTo>
                  <a:lnTo>
                    <a:pt x="4778713" y="2170812"/>
                  </a:lnTo>
                  <a:lnTo>
                    <a:pt x="0" y="2170812"/>
                  </a:lnTo>
                  <a:close/>
                </a:path>
              </a:pathLst>
            </a:custGeom>
            <a:solidFill>
              <a:srgbClr val="EDC254"/>
            </a:solidFill>
          </p:spPr>
        </p:sp>
        <p:sp>
          <p:nvSpPr>
            <p:cNvPr name="TextBox 4" id="4"/>
            <p:cNvSpPr txBox="true"/>
            <p:nvPr/>
          </p:nvSpPr>
          <p:spPr>
            <a:xfrm>
              <a:off x="0" y="-47625"/>
              <a:ext cx="4778713" cy="221843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6850" y="1028700"/>
            <a:ext cx="4514850" cy="714793"/>
            <a:chOff x="0" y="0"/>
            <a:chExt cx="1189096" cy="188258"/>
          </a:xfrm>
        </p:grpSpPr>
        <p:sp>
          <p:nvSpPr>
            <p:cNvPr name="Freeform 6" id="6"/>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7" id="7"/>
            <p:cNvSpPr txBox="true"/>
            <p:nvPr/>
          </p:nvSpPr>
          <p:spPr>
            <a:xfrm>
              <a:off x="0" y="-66675"/>
              <a:ext cx="1189096" cy="254933"/>
            </a:xfrm>
            <a:prstGeom prst="rect">
              <a:avLst/>
            </a:prstGeom>
          </p:spPr>
          <p:txBody>
            <a:bodyPr anchor="ctr" rtlCol="false" tIns="50800" lIns="50800" bIns="50800" rIns="50800"/>
            <a:lstStyle/>
            <a:p>
              <a:pPr algn="ctr">
                <a:lnSpc>
                  <a:spcPts val="4479"/>
                </a:lnSpc>
              </a:pPr>
              <a:r>
                <a:rPr lang="en-US" sz="3199">
                  <a:solidFill>
                    <a:srgbClr val="000000"/>
                  </a:solidFill>
                  <a:latin typeface="Archivo Black"/>
                  <a:ea typeface="Archivo Black"/>
                  <a:cs typeface="Archivo Black"/>
                  <a:sym typeface="Archivo Black"/>
                </a:rPr>
                <a:t>EDA</a:t>
              </a:r>
            </a:p>
          </p:txBody>
        </p:sp>
      </p:grpSp>
      <p:grpSp>
        <p:nvGrpSpPr>
          <p:cNvPr name="Group 8" id="8"/>
          <p:cNvGrpSpPr/>
          <p:nvPr/>
        </p:nvGrpSpPr>
        <p:grpSpPr>
          <a:xfrm rot="0">
            <a:off x="4773756" y="1028700"/>
            <a:ext cx="800100" cy="714793"/>
            <a:chOff x="0" y="0"/>
            <a:chExt cx="210726" cy="188258"/>
          </a:xfrm>
        </p:grpSpPr>
        <p:sp>
          <p:nvSpPr>
            <p:cNvPr name="Freeform 9" id="9"/>
            <p:cNvSpPr/>
            <p:nvPr/>
          </p:nvSpPr>
          <p:spPr>
            <a:xfrm flipH="false" flipV="false" rot="0">
              <a:off x="0" y="0"/>
              <a:ext cx="210726" cy="188258"/>
            </a:xfrm>
            <a:custGeom>
              <a:avLst/>
              <a:gdLst/>
              <a:ahLst/>
              <a:cxnLst/>
              <a:rect r="r" b="b" t="t" l="l"/>
              <a:pathLst>
                <a:path h="188258" w="210726">
                  <a:moveTo>
                    <a:pt x="0" y="0"/>
                  </a:moveTo>
                  <a:lnTo>
                    <a:pt x="210726" y="0"/>
                  </a:lnTo>
                  <a:lnTo>
                    <a:pt x="210726" y="188258"/>
                  </a:lnTo>
                  <a:lnTo>
                    <a:pt x="0" y="188258"/>
                  </a:lnTo>
                  <a:close/>
                </a:path>
              </a:pathLst>
            </a:custGeom>
            <a:solidFill>
              <a:srgbClr val="EDC254"/>
            </a:solidFill>
          </p:spPr>
        </p:sp>
        <p:sp>
          <p:nvSpPr>
            <p:cNvPr name="TextBox 10" id="10"/>
            <p:cNvSpPr txBox="true"/>
            <p:nvPr/>
          </p:nvSpPr>
          <p:spPr>
            <a:xfrm>
              <a:off x="0" y="-47625"/>
              <a:ext cx="210726" cy="23588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5901841" y="9468729"/>
            <a:ext cx="4020465" cy="517065"/>
          </a:xfrm>
          <a:prstGeom prst="rect">
            <a:avLst/>
          </a:prstGeom>
        </p:spPr>
        <p:txBody>
          <a:bodyPr anchor="t" rtlCol="false" tIns="0" lIns="0" bIns="0" rIns="0">
            <a:spAutoFit/>
          </a:bodyPr>
          <a:lstStyle/>
          <a:p>
            <a:pPr algn="l">
              <a:lnSpc>
                <a:spcPts val="4136"/>
              </a:lnSpc>
              <a:spcBef>
                <a:spcPct val="0"/>
              </a:spcBef>
            </a:pPr>
            <a:r>
              <a:rPr lang="en-US" sz="2954" b="true">
                <a:solidFill>
                  <a:srgbClr val="2A0947"/>
                </a:solidFill>
                <a:latin typeface="Poppins Bold"/>
                <a:ea typeface="Poppins Bold"/>
                <a:cs typeface="Poppins Bold"/>
                <a:sym typeface="Poppins Bold"/>
              </a:rPr>
              <a:t>Yifu Huang</a:t>
            </a:r>
          </a:p>
        </p:txBody>
      </p:sp>
      <p:sp>
        <p:nvSpPr>
          <p:cNvPr name="TextBox 12" id="12"/>
          <p:cNvSpPr txBox="true"/>
          <p:nvPr/>
        </p:nvSpPr>
        <p:spPr>
          <a:xfrm rot="0">
            <a:off x="0" y="1645462"/>
            <a:ext cx="12394624" cy="568301"/>
          </a:xfrm>
          <a:prstGeom prst="rect">
            <a:avLst/>
          </a:prstGeom>
        </p:spPr>
        <p:txBody>
          <a:bodyPr anchor="t" rtlCol="false" tIns="0" lIns="0" bIns="0" rIns="0">
            <a:spAutoFit/>
          </a:bodyPr>
          <a:lstStyle/>
          <a:p>
            <a:pPr algn="l">
              <a:lnSpc>
                <a:spcPts val="4376"/>
              </a:lnSpc>
              <a:spcBef>
                <a:spcPct val="0"/>
              </a:spcBef>
            </a:pPr>
            <a:r>
              <a:rPr lang="en-US" sz="3125" b="true">
                <a:solidFill>
                  <a:srgbClr val="000000"/>
                </a:solidFill>
                <a:latin typeface="Poppins Bold"/>
                <a:ea typeface="Poppins Bold"/>
                <a:cs typeface="Poppins Bold"/>
                <a:sym typeface="Poppins Bold"/>
              </a:rPr>
              <a:t>Key Variable Distributions and Summary Statistics</a:t>
            </a:r>
          </a:p>
        </p:txBody>
      </p:sp>
      <p:sp>
        <p:nvSpPr>
          <p:cNvPr name="TextBox 13" id="13"/>
          <p:cNvSpPr txBox="true"/>
          <p:nvPr/>
        </p:nvSpPr>
        <p:spPr>
          <a:xfrm rot="0">
            <a:off x="1255552" y="2603237"/>
            <a:ext cx="15633071" cy="3684314"/>
          </a:xfrm>
          <a:prstGeom prst="rect">
            <a:avLst/>
          </a:prstGeom>
        </p:spPr>
        <p:txBody>
          <a:bodyPr anchor="t" rtlCol="false" tIns="0" lIns="0" bIns="0" rIns="0">
            <a:spAutoFit/>
          </a:bodyPr>
          <a:lstStyle/>
          <a:p>
            <a:pPr algn="l">
              <a:lnSpc>
                <a:spcPts val="4117"/>
              </a:lnSpc>
            </a:pPr>
            <a:r>
              <a:rPr lang="en-US" sz="2941" b="true">
                <a:solidFill>
                  <a:srgbClr val="000000"/>
                </a:solidFill>
                <a:latin typeface="Poppins Bold"/>
                <a:ea typeface="Poppins Bold"/>
                <a:cs typeface="Poppins Bold"/>
                <a:sym typeface="Poppins Bold"/>
              </a:rPr>
              <a:t>Findings</a:t>
            </a:r>
          </a:p>
          <a:p>
            <a:pPr algn="l">
              <a:lnSpc>
                <a:spcPts val="4117"/>
              </a:lnSpc>
            </a:pPr>
          </a:p>
          <a:p>
            <a:pPr algn="l" marL="570227" indent="-285113" lvl="1">
              <a:lnSpc>
                <a:spcPts val="3697"/>
              </a:lnSpc>
              <a:buFont typeface="Arial"/>
              <a:buChar char="•"/>
            </a:pPr>
            <a:r>
              <a:rPr lang="en-US" sz="2641">
                <a:solidFill>
                  <a:srgbClr val="000000"/>
                </a:solidFill>
                <a:latin typeface="Poppins"/>
                <a:ea typeface="Poppins"/>
                <a:cs typeface="Poppins"/>
                <a:sym typeface="Poppins"/>
              </a:rPr>
              <a:t>The plan exit dataset contains 7,974 records, representing 607 unique exited plans.</a:t>
            </a:r>
          </a:p>
          <a:p>
            <a:pPr algn="l">
              <a:lnSpc>
                <a:spcPts val="3697"/>
              </a:lnSpc>
            </a:pPr>
          </a:p>
          <a:p>
            <a:pPr algn="l" marL="570227" indent="-285113" lvl="1">
              <a:lnSpc>
                <a:spcPts val="3697"/>
              </a:lnSpc>
              <a:buFont typeface="Arial"/>
              <a:buChar char="•"/>
            </a:pPr>
            <a:r>
              <a:rPr lang="en-US" sz="2641">
                <a:solidFill>
                  <a:srgbClr val="000000"/>
                </a:solidFill>
                <a:latin typeface="Poppins"/>
                <a:ea typeface="Poppins"/>
                <a:cs typeface="Poppins"/>
                <a:sym typeface="Poppins"/>
              </a:rPr>
              <a:t>These exited plans span 43 states and 1,268 counties.</a:t>
            </a:r>
          </a:p>
          <a:p>
            <a:pPr algn="l">
              <a:lnSpc>
                <a:spcPts val="3697"/>
              </a:lnSpc>
            </a:pPr>
          </a:p>
          <a:p>
            <a:pPr algn="l" marL="570227" indent="-285113" lvl="1">
              <a:lnSpc>
                <a:spcPts val="3697"/>
              </a:lnSpc>
              <a:buFont typeface="Arial"/>
              <a:buChar char="•"/>
            </a:pPr>
            <a:r>
              <a:rPr lang="en-US" sz="2641">
                <a:solidFill>
                  <a:srgbClr val="000000"/>
                </a:solidFill>
                <a:latin typeface="Poppins"/>
                <a:ea typeface="Poppins"/>
                <a:cs typeface="Poppins"/>
                <a:sym typeface="Poppins"/>
              </a:rPr>
              <a:t>The dataset includes 45 parent organizations and 1,644 carrier-county exit events.</a:t>
            </a:r>
          </a:p>
          <a:p>
            <a:pPr algn="ctr">
              <a:lnSpc>
                <a:spcPts val="2387"/>
              </a:lnSpc>
              <a:spcBef>
                <a:spcPct val="0"/>
              </a:spcBef>
            </a:pPr>
          </a:p>
        </p:txBody>
      </p:sp>
      <p:sp>
        <p:nvSpPr>
          <p:cNvPr name="Freeform 14" id="14"/>
          <p:cNvSpPr/>
          <p:nvPr/>
        </p:nvSpPr>
        <p:spPr>
          <a:xfrm flipH="false" flipV="false" rot="0">
            <a:off x="2740581" y="6762750"/>
            <a:ext cx="12663012" cy="2532602"/>
          </a:xfrm>
          <a:custGeom>
            <a:avLst/>
            <a:gdLst/>
            <a:ahLst/>
            <a:cxnLst/>
            <a:rect r="r" b="b" t="t" l="l"/>
            <a:pathLst>
              <a:path h="2532602" w="12663012">
                <a:moveTo>
                  <a:pt x="0" y="0"/>
                </a:moveTo>
                <a:lnTo>
                  <a:pt x="12663012" y="0"/>
                </a:lnTo>
                <a:lnTo>
                  <a:pt x="12663012" y="2532602"/>
                </a:lnTo>
                <a:lnTo>
                  <a:pt x="0" y="2532602"/>
                </a:lnTo>
                <a:lnTo>
                  <a:pt x="0" y="0"/>
                </a:lnTo>
                <a:close/>
              </a:path>
            </a:pathLst>
          </a:custGeom>
          <a:blipFill>
            <a:blip r:embed="rId2"/>
            <a:stretch>
              <a:fillRect l="0" t="0" r="0" b="0"/>
            </a:stretch>
          </a:blipFill>
        </p:spPr>
      </p:sp>
      <p:sp>
        <p:nvSpPr>
          <p:cNvPr name="TextBox 15" id="15"/>
          <p:cNvSpPr txBox="true"/>
          <p:nvPr/>
        </p:nvSpPr>
        <p:spPr>
          <a:xfrm rot="0">
            <a:off x="11007134" y="671830"/>
            <a:ext cx="7137040" cy="666115"/>
          </a:xfrm>
          <a:prstGeom prst="rect">
            <a:avLst/>
          </a:prstGeom>
        </p:spPr>
        <p:txBody>
          <a:bodyPr anchor="t" rtlCol="false" tIns="0" lIns="0" bIns="0" rIns="0">
            <a:spAutoFit/>
          </a:bodyPr>
          <a:lstStyle/>
          <a:p>
            <a:pPr algn="ctr">
              <a:lnSpc>
                <a:spcPts val="2659"/>
              </a:lnSpc>
              <a:spcBef>
                <a:spcPct val="0"/>
              </a:spcBef>
            </a:pPr>
            <a:r>
              <a:rPr lang="en-US" sz="1899" u="sng">
                <a:solidFill>
                  <a:srgbClr val="000000"/>
                </a:solidFill>
                <a:latin typeface="Archivo Black"/>
                <a:ea typeface="Archivo Black"/>
                <a:cs typeface="Archivo Black"/>
                <a:sym typeface="Archivo Black"/>
                <a:hlinkClick r:id="rId3" tooltip="https://colab.research.google.com/drive/1wcI2N_RI7Ywe7S5g4nAe8xIknR65TBnv?usp=sharing"/>
              </a:rPr>
              <a:t>https://colab.research.google.com/drive/1eOOoszz1NnOLV8tOj4cvHdBFVuy0t6t5?usp=sharing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743493"/>
            <a:ext cx="18144174" cy="8242302"/>
            <a:chOff x="0" y="0"/>
            <a:chExt cx="4778713" cy="2170812"/>
          </a:xfrm>
        </p:grpSpPr>
        <p:sp>
          <p:nvSpPr>
            <p:cNvPr name="Freeform 3" id="3"/>
            <p:cNvSpPr/>
            <p:nvPr/>
          </p:nvSpPr>
          <p:spPr>
            <a:xfrm flipH="false" flipV="false" rot="0">
              <a:off x="0" y="0"/>
              <a:ext cx="4778713" cy="2170812"/>
            </a:xfrm>
            <a:custGeom>
              <a:avLst/>
              <a:gdLst/>
              <a:ahLst/>
              <a:cxnLst/>
              <a:rect r="r" b="b" t="t" l="l"/>
              <a:pathLst>
                <a:path h="2170812" w="4778713">
                  <a:moveTo>
                    <a:pt x="0" y="0"/>
                  </a:moveTo>
                  <a:lnTo>
                    <a:pt x="4778713" y="0"/>
                  </a:lnTo>
                  <a:lnTo>
                    <a:pt x="4778713" y="2170812"/>
                  </a:lnTo>
                  <a:lnTo>
                    <a:pt x="0" y="2170812"/>
                  </a:lnTo>
                  <a:close/>
                </a:path>
              </a:pathLst>
            </a:custGeom>
            <a:solidFill>
              <a:srgbClr val="EDC254"/>
            </a:solidFill>
          </p:spPr>
        </p:sp>
        <p:sp>
          <p:nvSpPr>
            <p:cNvPr name="TextBox 4" id="4"/>
            <p:cNvSpPr txBox="true"/>
            <p:nvPr/>
          </p:nvSpPr>
          <p:spPr>
            <a:xfrm>
              <a:off x="0" y="-47625"/>
              <a:ext cx="4778713" cy="221843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6850" y="1028700"/>
            <a:ext cx="4514850" cy="714793"/>
            <a:chOff x="0" y="0"/>
            <a:chExt cx="1189096" cy="188258"/>
          </a:xfrm>
        </p:grpSpPr>
        <p:sp>
          <p:nvSpPr>
            <p:cNvPr name="Freeform 6" id="6"/>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7" id="7"/>
            <p:cNvSpPr txBox="true"/>
            <p:nvPr/>
          </p:nvSpPr>
          <p:spPr>
            <a:xfrm>
              <a:off x="0" y="-66675"/>
              <a:ext cx="1189096" cy="254933"/>
            </a:xfrm>
            <a:prstGeom prst="rect">
              <a:avLst/>
            </a:prstGeom>
          </p:spPr>
          <p:txBody>
            <a:bodyPr anchor="ctr" rtlCol="false" tIns="50800" lIns="50800" bIns="50800" rIns="50800"/>
            <a:lstStyle/>
            <a:p>
              <a:pPr algn="ctr">
                <a:lnSpc>
                  <a:spcPts val="4479"/>
                </a:lnSpc>
              </a:pPr>
              <a:r>
                <a:rPr lang="en-US" sz="3199">
                  <a:solidFill>
                    <a:srgbClr val="000000"/>
                  </a:solidFill>
                  <a:latin typeface="Archivo Black"/>
                  <a:ea typeface="Archivo Black"/>
                  <a:cs typeface="Archivo Black"/>
                  <a:sym typeface="Archivo Black"/>
                </a:rPr>
                <a:t>EDA</a:t>
              </a:r>
            </a:p>
          </p:txBody>
        </p:sp>
      </p:grpSp>
      <p:grpSp>
        <p:nvGrpSpPr>
          <p:cNvPr name="Group 8" id="8"/>
          <p:cNvGrpSpPr/>
          <p:nvPr/>
        </p:nvGrpSpPr>
        <p:grpSpPr>
          <a:xfrm rot="0">
            <a:off x="4773756" y="1028700"/>
            <a:ext cx="800100" cy="714793"/>
            <a:chOff x="0" y="0"/>
            <a:chExt cx="210726" cy="188258"/>
          </a:xfrm>
        </p:grpSpPr>
        <p:sp>
          <p:nvSpPr>
            <p:cNvPr name="Freeform 9" id="9"/>
            <p:cNvSpPr/>
            <p:nvPr/>
          </p:nvSpPr>
          <p:spPr>
            <a:xfrm flipH="false" flipV="false" rot="0">
              <a:off x="0" y="0"/>
              <a:ext cx="210726" cy="188258"/>
            </a:xfrm>
            <a:custGeom>
              <a:avLst/>
              <a:gdLst/>
              <a:ahLst/>
              <a:cxnLst/>
              <a:rect r="r" b="b" t="t" l="l"/>
              <a:pathLst>
                <a:path h="188258" w="210726">
                  <a:moveTo>
                    <a:pt x="0" y="0"/>
                  </a:moveTo>
                  <a:lnTo>
                    <a:pt x="210726" y="0"/>
                  </a:lnTo>
                  <a:lnTo>
                    <a:pt x="210726" y="188258"/>
                  </a:lnTo>
                  <a:lnTo>
                    <a:pt x="0" y="188258"/>
                  </a:lnTo>
                  <a:close/>
                </a:path>
              </a:pathLst>
            </a:custGeom>
            <a:solidFill>
              <a:srgbClr val="EDC254"/>
            </a:solidFill>
          </p:spPr>
        </p:sp>
        <p:sp>
          <p:nvSpPr>
            <p:cNvPr name="TextBox 10" id="10"/>
            <p:cNvSpPr txBox="true"/>
            <p:nvPr/>
          </p:nvSpPr>
          <p:spPr>
            <a:xfrm>
              <a:off x="0" y="-47625"/>
              <a:ext cx="210726" cy="23588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5879357" y="9468729"/>
            <a:ext cx="4020465" cy="517065"/>
          </a:xfrm>
          <a:prstGeom prst="rect">
            <a:avLst/>
          </a:prstGeom>
        </p:spPr>
        <p:txBody>
          <a:bodyPr anchor="t" rtlCol="false" tIns="0" lIns="0" bIns="0" rIns="0">
            <a:spAutoFit/>
          </a:bodyPr>
          <a:lstStyle/>
          <a:p>
            <a:pPr algn="l">
              <a:lnSpc>
                <a:spcPts val="4136"/>
              </a:lnSpc>
              <a:spcBef>
                <a:spcPct val="0"/>
              </a:spcBef>
            </a:pPr>
            <a:r>
              <a:rPr lang="en-US" sz="2954" b="true">
                <a:solidFill>
                  <a:srgbClr val="2A0947"/>
                </a:solidFill>
                <a:latin typeface="Poppins Bold"/>
                <a:ea typeface="Poppins Bold"/>
                <a:cs typeface="Poppins Bold"/>
                <a:sym typeface="Poppins Bold"/>
              </a:rPr>
              <a:t>Yifu Huang</a:t>
            </a:r>
          </a:p>
        </p:txBody>
      </p:sp>
      <p:sp>
        <p:nvSpPr>
          <p:cNvPr name="TextBox 12" id="12"/>
          <p:cNvSpPr txBox="true"/>
          <p:nvPr/>
        </p:nvSpPr>
        <p:spPr>
          <a:xfrm rot="0">
            <a:off x="373918" y="1648243"/>
            <a:ext cx="7615097" cy="601321"/>
          </a:xfrm>
          <a:prstGeom prst="rect">
            <a:avLst/>
          </a:prstGeom>
        </p:spPr>
        <p:txBody>
          <a:bodyPr anchor="t" rtlCol="false" tIns="0" lIns="0" bIns="0" rIns="0">
            <a:spAutoFit/>
          </a:bodyPr>
          <a:lstStyle/>
          <a:p>
            <a:pPr algn="l">
              <a:lnSpc>
                <a:spcPts val="4656"/>
              </a:lnSpc>
              <a:spcBef>
                <a:spcPct val="0"/>
              </a:spcBef>
            </a:pPr>
            <a:r>
              <a:rPr lang="en-US" sz="3325" b="true">
                <a:solidFill>
                  <a:srgbClr val="000000"/>
                </a:solidFill>
                <a:latin typeface="Poppins Bold"/>
                <a:ea typeface="Poppins Bold"/>
                <a:cs typeface="Poppins Bold"/>
                <a:sym typeface="Poppins Bold"/>
              </a:rPr>
              <a:t>Initial Patterns in Exited Plans</a:t>
            </a:r>
          </a:p>
        </p:txBody>
      </p:sp>
      <p:sp>
        <p:nvSpPr>
          <p:cNvPr name="TextBox 13" id="13"/>
          <p:cNvSpPr txBox="true"/>
          <p:nvPr/>
        </p:nvSpPr>
        <p:spPr>
          <a:xfrm rot="0">
            <a:off x="373918" y="2451164"/>
            <a:ext cx="7215783" cy="7260217"/>
          </a:xfrm>
          <a:prstGeom prst="rect">
            <a:avLst/>
          </a:prstGeom>
        </p:spPr>
        <p:txBody>
          <a:bodyPr anchor="t" rtlCol="false" tIns="0" lIns="0" bIns="0" rIns="0">
            <a:spAutoFit/>
          </a:bodyPr>
          <a:lstStyle/>
          <a:p>
            <a:pPr algn="l">
              <a:lnSpc>
                <a:spcPts val="3598"/>
              </a:lnSpc>
            </a:pPr>
            <a:r>
              <a:rPr lang="en-US" sz="2570" b="true">
                <a:solidFill>
                  <a:srgbClr val="000000"/>
                </a:solidFill>
                <a:latin typeface="Poppins Bold"/>
                <a:ea typeface="Poppins Bold"/>
                <a:cs typeface="Poppins Bold"/>
                <a:sym typeface="Poppins Bold"/>
              </a:rPr>
              <a:t>Findings:</a:t>
            </a:r>
          </a:p>
          <a:p>
            <a:pPr algn="l">
              <a:lnSpc>
                <a:spcPts val="3598"/>
              </a:lnSpc>
            </a:pPr>
          </a:p>
          <a:p>
            <a:pPr algn="l" marL="554870" indent="-277435" lvl="1">
              <a:lnSpc>
                <a:spcPts val="3598"/>
              </a:lnSpc>
              <a:buFont typeface="Arial"/>
              <a:buChar char="•"/>
            </a:pPr>
            <a:r>
              <a:rPr lang="en-US" sz="2570">
                <a:solidFill>
                  <a:srgbClr val="000000"/>
                </a:solidFill>
                <a:latin typeface="Poppins"/>
                <a:ea typeface="Poppins"/>
                <a:cs typeface="Poppins"/>
                <a:sym typeface="Poppins"/>
              </a:rPr>
              <a:t>Exited plans are not evenly distributed across parent organizations.</a:t>
            </a:r>
          </a:p>
          <a:p>
            <a:pPr algn="l">
              <a:lnSpc>
                <a:spcPts val="3598"/>
              </a:lnSpc>
            </a:pPr>
          </a:p>
          <a:p>
            <a:pPr algn="l" marL="554870" indent="-277435" lvl="1">
              <a:lnSpc>
                <a:spcPts val="3598"/>
              </a:lnSpc>
              <a:buFont typeface="Arial"/>
              <a:buChar char="•"/>
            </a:pPr>
            <a:r>
              <a:rPr lang="en-US" sz="2570">
                <a:solidFill>
                  <a:srgbClr val="000000"/>
                </a:solidFill>
                <a:latin typeface="Poppins"/>
                <a:ea typeface="Poppins"/>
                <a:cs typeface="Poppins"/>
                <a:sym typeface="Poppins"/>
              </a:rPr>
              <a:t>A small number of large parent organizations account for a higher share of exited plans</a:t>
            </a:r>
          </a:p>
          <a:p>
            <a:pPr algn="l">
              <a:lnSpc>
                <a:spcPts val="3598"/>
              </a:lnSpc>
            </a:pPr>
          </a:p>
          <a:p>
            <a:pPr algn="l" marL="554870" indent="-277435" lvl="1">
              <a:lnSpc>
                <a:spcPts val="3598"/>
              </a:lnSpc>
              <a:buFont typeface="Arial"/>
              <a:buChar char="•"/>
            </a:pPr>
            <a:r>
              <a:rPr lang="en-US" sz="2570">
                <a:solidFill>
                  <a:srgbClr val="000000"/>
                </a:solidFill>
                <a:latin typeface="Poppins"/>
                <a:ea typeface="Poppins"/>
                <a:cs typeface="Poppins"/>
                <a:sym typeface="Poppins"/>
              </a:rPr>
              <a:t>CVS Health, UnitedHealth Group, and Health Care Service Corporation appear among the top organizations in the exit dataset.</a:t>
            </a:r>
          </a:p>
          <a:p>
            <a:pPr algn="l">
              <a:lnSpc>
                <a:spcPts val="3598"/>
              </a:lnSpc>
            </a:pPr>
          </a:p>
          <a:p>
            <a:pPr algn="l" marL="554870" indent="-277435" lvl="1">
              <a:lnSpc>
                <a:spcPts val="3598"/>
              </a:lnSpc>
              <a:buFont typeface="Arial"/>
              <a:buChar char="•"/>
            </a:pPr>
            <a:r>
              <a:rPr lang="en-US" sz="2570">
                <a:solidFill>
                  <a:srgbClr val="000000"/>
                </a:solidFill>
                <a:latin typeface="Poppins"/>
                <a:ea typeface="Poppins"/>
                <a:cs typeface="Poppins"/>
                <a:sym typeface="Poppins"/>
              </a:rPr>
              <a:t>This provides a basic carrier-level view for the later market analysis.</a:t>
            </a:r>
          </a:p>
        </p:txBody>
      </p:sp>
      <p:sp>
        <p:nvSpPr>
          <p:cNvPr name="Freeform 14" id="14"/>
          <p:cNvSpPr/>
          <p:nvPr/>
        </p:nvSpPr>
        <p:spPr>
          <a:xfrm flipH="false" flipV="false" rot="0">
            <a:off x="8889415" y="2527364"/>
            <a:ext cx="9000174" cy="5851396"/>
          </a:xfrm>
          <a:custGeom>
            <a:avLst/>
            <a:gdLst/>
            <a:ahLst/>
            <a:cxnLst/>
            <a:rect r="r" b="b" t="t" l="l"/>
            <a:pathLst>
              <a:path h="5851396" w="9000174">
                <a:moveTo>
                  <a:pt x="0" y="0"/>
                </a:moveTo>
                <a:lnTo>
                  <a:pt x="9000174" y="0"/>
                </a:lnTo>
                <a:lnTo>
                  <a:pt x="9000174" y="5851397"/>
                </a:lnTo>
                <a:lnTo>
                  <a:pt x="0" y="5851397"/>
                </a:lnTo>
                <a:lnTo>
                  <a:pt x="0" y="0"/>
                </a:lnTo>
                <a:close/>
              </a:path>
            </a:pathLst>
          </a:custGeom>
          <a:blipFill>
            <a:blip r:embed="rId2"/>
            <a:stretch>
              <a:fillRect l="0" t="-117" r="0" b="-3128"/>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656207"/>
            <a:ext cx="18144174" cy="8242302"/>
            <a:chOff x="0" y="0"/>
            <a:chExt cx="4778713" cy="2170812"/>
          </a:xfrm>
        </p:grpSpPr>
        <p:sp>
          <p:nvSpPr>
            <p:cNvPr name="Freeform 3" id="3"/>
            <p:cNvSpPr/>
            <p:nvPr/>
          </p:nvSpPr>
          <p:spPr>
            <a:xfrm flipH="false" flipV="false" rot="0">
              <a:off x="0" y="0"/>
              <a:ext cx="4778713" cy="2170812"/>
            </a:xfrm>
            <a:custGeom>
              <a:avLst/>
              <a:gdLst/>
              <a:ahLst/>
              <a:cxnLst/>
              <a:rect r="r" b="b" t="t" l="l"/>
              <a:pathLst>
                <a:path h="2170812" w="4778713">
                  <a:moveTo>
                    <a:pt x="0" y="0"/>
                  </a:moveTo>
                  <a:lnTo>
                    <a:pt x="4778713" y="0"/>
                  </a:lnTo>
                  <a:lnTo>
                    <a:pt x="4778713" y="2170812"/>
                  </a:lnTo>
                  <a:lnTo>
                    <a:pt x="0" y="2170812"/>
                  </a:lnTo>
                  <a:close/>
                </a:path>
              </a:pathLst>
            </a:custGeom>
            <a:solidFill>
              <a:srgbClr val="EDC254"/>
            </a:solidFill>
          </p:spPr>
        </p:sp>
        <p:sp>
          <p:nvSpPr>
            <p:cNvPr name="TextBox 4" id="4"/>
            <p:cNvSpPr txBox="true"/>
            <p:nvPr/>
          </p:nvSpPr>
          <p:spPr>
            <a:xfrm>
              <a:off x="0" y="-47625"/>
              <a:ext cx="4778713" cy="221843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6850" y="1028700"/>
            <a:ext cx="4514850" cy="714793"/>
            <a:chOff x="0" y="0"/>
            <a:chExt cx="1189096" cy="188258"/>
          </a:xfrm>
        </p:grpSpPr>
        <p:sp>
          <p:nvSpPr>
            <p:cNvPr name="Freeform 6" id="6"/>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7" id="7"/>
            <p:cNvSpPr txBox="true"/>
            <p:nvPr/>
          </p:nvSpPr>
          <p:spPr>
            <a:xfrm>
              <a:off x="0" y="-66675"/>
              <a:ext cx="1189096" cy="254933"/>
            </a:xfrm>
            <a:prstGeom prst="rect">
              <a:avLst/>
            </a:prstGeom>
          </p:spPr>
          <p:txBody>
            <a:bodyPr anchor="ctr" rtlCol="false" tIns="50800" lIns="50800" bIns="50800" rIns="50800"/>
            <a:lstStyle/>
            <a:p>
              <a:pPr algn="ctr">
                <a:lnSpc>
                  <a:spcPts val="4479"/>
                </a:lnSpc>
              </a:pPr>
              <a:r>
                <a:rPr lang="en-US" sz="3199">
                  <a:solidFill>
                    <a:srgbClr val="000000"/>
                  </a:solidFill>
                  <a:latin typeface="Archivo Black"/>
                  <a:ea typeface="Archivo Black"/>
                  <a:cs typeface="Archivo Black"/>
                  <a:sym typeface="Archivo Black"/>
                </a:rPr>
                <a:t>EDA</a:t>
              </a:r>
            </a:p>
          </p:txBody>
        </p:sp>
      </p:grpSp>
      <p:grpSp>
        <p:nvGrpSpPr>
          <p:cNvPr name="Group 8" id="8"/>
          <p:cNvGrpSpPr/>
          <p:nvPr/>
        </p:nvGrpSpPr>
        <p:grpSpPr>
          <a:xfrm rot="0">
            <a:off x="4773756" y="1028700"/>
            <a:ext cx="800100" cy="714793"/>
            <a:chOff x="0" y="0"/>
            <a:chExt cx="210726" cy="188258"/>
          </a:xfrm>
        </p:grpSpPr>
        <p:sp>
          <p:nvSpPr>
            <p:cNvPr name="Freeform 9" id="9"/>
            <p:cNvSpPr/>
            <p:nvPr/>
          </p:nvSpPr>
          <p:spPr>
            <a:xfrm flipH="false" flipV="false" rot="0">
              <a:off x="0" y="0"/>
              <a:ext cx="210726" cy="188258"/>
            </a:xfrm>
            <a:custGeom>
              <a:avLst/>
              <a:gdLst/>
              <a:ahLst/>
              <a:cxnLst/>
              <a:rect r="r" b="b" t="t" l="l"/>
              <a:pathLst>
                <a:path h="188258" w="210726">
                  <a:moveTo>
                    <a:pt x="0" y="0"/>
                  </a:moveTo>
                  <a:lnTo>
                    <a:pt x="210726" y="0"/>
                  </a:lnTo>
                  <a:lnTo>
                    <a:pt x="210726" y="188258"/>
                  </a:lnTo>
                  <a:lnTo>
                    <a:pt x="0" y="188258"/>
                  </a:lnTo>
                  <a:close/>
                </a:path>
              </a:pathLst>
            </a:custGeom>
            <a:solidFill>
              <a:srgbClr val="EDC254"/>
            </a:solidFill>
          </p:spPr>
        </p:sp>
        <p:sp>
          <p:nvSpPr>
            <p:cNvPr name="TextBox 10" id="10"/>
            <p:cNvSpPr txBox="true"/>
            <p:nvPr/>
          </p:nvSpPr>
          <p:spPr>
            <a:xfrm>
              <a:off x="0" y="-47625"/>
              <a:ext cx="210726" cy="23588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5803010" y="9182100"/>
            <a:ext cx="4020465" cy="517065"/>
          </a:xfrm>
          <a:prstGeom prst="rect">
            <a:avLst/>
          </a:prstGeom>
        </p:spPr>
        <p:txBody>
          <a:bodyPr anchor="t" rtlCol="false" tIns="0" lIns="0" bIns="0" rIns="0">
            <a:spAutoFit/>
          </a:bodyPr>
          <a:lstStyle/>
          <a:p>
            <a:pPr algn="l">
              <a:lnSpc>
                <a:spcPts val="4136"/>
              </a:lnSpc>
              <a:spcBef>
                <a:spcPct val="0"/>
              </a:spcBef>
            </a:pPr>
            <a:r>
              <a:rPr lang="en-US" sz="2954" b="true">
                <a:solidFill>
                  <a:srgbClr val="2A0947"/>
                </a:solidFill>
                <a:latin typeface="Poppins Bold"/>
                <a:ea typeface="Poppins Bold"/>
                <a:cs typeface="Poppins Bold"/>
                <a:sym typeface="Poppins Bold"/>
              </a:rPr>
              <a:t>Yifu Huang</a:t>
            </a:r>
          </a:p>
        </p:txBody>
      </p:sp>
      <p:sp>
        <p:nvSpPr>
          <p:cNvPr name="TextBox 12" id="12"/>
          <p:cNvSpPr txBox="true"/>
          <p:nvPr/>
        </p:nvSpPr>
        <p:spPr>
          <a:xfrm rot="0">
            <a:off x="323606" y="1648243"/>
            <a:ext cx="7131412" cy="601321"/>
          </a:xfrm>
          <a:prstGeom prst="rect">
            <a:avLst/>
          </a:prstGeom>
        </p:spPr>
        <p:txBody>
          <a:bodyPr anchor="t" rtlCol="false" tIns="0" lIns="0" bIns="0" rIns="0">
            <a:spAutoFit/>
          </a:bodyPr>
          <a:lstStyle/>
          <a:p>
            <a:pPr algn="l">
              <a:lnSpc>
                <a:spcPts val="4656"/>
              </a:lnSpc>
              <a:spcBef>
                <a:spcPct val="0"/>
              </a:spcBef>
            </a:pPr>
            <a:r>
              <a:rPr lang="en-US" sz="3325" b="true">
                <a:solidFill>
                  <a:srgbClr val="000000"/>
                </a:solidFill>
                <a:latin typeface="Poppins Bold"/>
                <a:ea typeface="Poppins Bold"/>
                <a:cs typeface="Poppins Bold"/>
                <a:sym typeface="Poppins Bold"/>
              </a:rPr>
              <a:t>Initial Patterns in Plan Types</a:t>
            </a:r>
          </a:p>
        </p:txBody>
      </p:sp>
      <p:sp>
        <p:nvSpPr>
          <p:cNvPr name="TextBox 13" id="13"/>
          <p:cNvSpPr txBox="true"/>
          <p:nvPr/>
        </p:nvSpPr>
        <p:spPr>
          <a:xfrm rot="0">
            <a:off x="323606" y="2752758"/>
            <a:ext cx="6895921" cy="6505542"/>
          </a:xfrm>
          <a:prstGeom prst="rect">
            <a:avLst/>
          </a:prstGeom>
        </p:spPr>
        <p:txBody>
          <a:bodyPr anchor="t" rtlCol="false" tIns="0" lIns="0" bIns="0" rIns="0">
            <a:spAutoFit/>
          </a:bodyPr>
          <a:lstStyle/>
          <a:p>
            <a:pPr algn="l">
              <a:lnSpc>
                <a:spcPts val="3827"/>
              </a:lnSpc>
            </a:pPr>
            <a:r>
              <a:rPr lang="en-US" sz="2733" b="true">
                <a:solidFill>
                  <a:srgbClr val="000000"/>
                </a:solidFill>
                <a:latin typeface="Poppins Bold"/>
                <a:ea typeface="Poppins Bold"/>
                <a:cs typeface="Poppins Bold"/>
                <a:sym typeface="Poppins Bold"/>
              </a:rPr>
              <a:t>Findings:</a:t>
            </a:r>
          </a:p>
          <a:p>
            <a:pPr algn="l">
              <a:lnSpc>
                <a:spcPts val="3573"/>
              </a:lnSpc>
            </a:pPr>
          </a:p>
          <a:p>
            <a:pPr algn="l" marL="531436" indent="-265718" lvl="1">
              <a:lnSpc>
                <a:spcPts val="3446"/>
              </a:lnSpc>
              <a:buFont typeface="Arial"/>
              <a:buChar char="•"/>
            </a:pPr>
            <a:r>
              <a:rPr lang="en-US" sz="2461">
                <a:solidFill>
                  <a:srgbClr val="000000"/>
                </a:solidFill>
                <a:latin typeface="Poppins"/>
                <a:ea typeface="Poppins"/>
                <a:cs typeface="Poppins"/>
                <a:sym typeface="Poppins"/>
              </a:rPr>
              <a:t>Among exited plans, PPO is the most common plan type, followed by HMO-POS, HMO, and HMO D-SNP.</a:t>
            </a:r>
          </a:p>
          <a:p>
            <a:pPr algn="l">
              <a:lnSpc>
                <a:spcPts val="3446"/>
              </a:lnSpc>
            </a:pPr>
          </a:p>
          <a:p>
            <a:pPr algn="l" marL="531436" indent="-265718" lvl="1">
              <a:lnSpc>
                <a:spcPts val="3446"/>
              </a:lnSpc>
              <a:buFont typeface="Arial"/>
              <a:buChar char="•"/>
            </a:pPr>
            <a:r>
              <a:rPr lang="en-US" sz="2461">
                <a:solidFill>
                  <a:srgbClr val="000000"/>
                </a:solidFill>
                <a:latin typeface="Poppins"/>
                <a:ea typeface="Poppins"/>
                <a:cs typeface="Poppins"/>
                <a:sym typeface="Poppins"/>
              </a:rPr>
              <a:t>E</a:t>
            </a:r>
            <a:r>
              <a:rPr lang="en-US" sz="2461">
                <a:solidFill>
                  <a:srgbClr val="000000"/>
                </a:solidFill>
                <a:latin typeface="Poppins"/>
                <a:ea typeface="Poppins"/>
                <a:cs typeface="Poppins"/>
                <a:sym typeface="Poppins"/>
              </a:rPr>
              <a:t>xited plans are concentrated in a few major product categories rather than being evenly spread across all plan types.</a:t>
            </a:r>
          </a:p>
          <a:p>
            <a:pPr algn="l">
              <a:lnSpc>
                <a:spcPts val="3446"/>
              </a:lnSpc>
            </a:pPr>
          </a:p>
          <a:p>
            <a:pPr algn="l" marL="531436" indent="-265718" lvl="1">
              <a:lnSpc>
                <a:spcPts val="3446"/>
              </a:lnSpc>
              <a:buFont typeface="Arial"/>
              <a:buChar char="•"/>
            </a:pPr>
            <a:r>
              <a:rPr lang="en-US" sz="2461">
                <a:solidFill>
                  <a:srgbClr val="000000"/>
                </a:solidFill>
                <a:latin typeface="Poppins"/>
                <a:ea typeface="Poppins"/>
                <a:cs typeface="Poppins"/>
                <a:sym typeface="Poppins"/>
              </a:rPr>
              <a:t>Most of these counties involve multiple parent organizations, rather than a single exiting carrier.</a:t>
            </a:r>
          </a:p>
          <a:p>
            <a:pPr algn="l">
              <a:lnSpc>
                <a:spcPts val="2810"/>
              </a:lnSpc>
              <a:spcBef>
                <a:spcPct val="0"/>
              </a:spcBef>
            </a:pPr>
          </a:p>
        </p:txBody>
      </p:sp>
      <p:sp>
        <p:nvSpPr>
          <p:cNvPr name="Freeform 14" id="14"/>
          <p:cNvSpPr/>
          <p:nvPr/>
        </p:nvSpPr>
        <p:spPr>
          <a:xfrm flipH="false" flipV="false" rot="0">
            <a:off x="8085852" y="2447958"/>
            <a:ext cx="9173448" cy="5618737"/>
          </a:xfrm>
          <a:custGeom>
            <a:avLst/>
            <a:gdLst/>
            <a:ahLst/>
            <a:cxnLst/>
            <a:rect r="r" b="b" t="t" l="l"/>
            <a:pathLst>
              <a:path h="5618737" w="9173448">
                <a:moveTo>
                  <a:pt x="0" y="0"/>
                </a:moveTo>
                <a:lnTo>
                  <a:pt x="9173448" y="0"/>
                </a:lnTo>
                <a:lnTo>
                  <a:pt x="9173448" y="5618737"/>
                </a:lnTo>
                <a:lnTo>
                  <a:pt x="0" y="5618737"/>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743493"/>
            <a:ext cx="18144174" cy="8242302"/>
            <a:chOff x="0" y="0"/>
            <a:chExt cx="4778713" cy="2170812"/>
          </a:xfrm>
        </p:grpSpPr>
        <p:sp>
          <p:nvSpPr>
            <p:cNvPr name="Freeform 3" id="3"/>
            <p:cNvSpPr/>
            <p:nvPr/>
          </p:nvSpPr>
          <p:spPr>
            <a:xfrm flipH="false" flipV="false" rot="0">
              <a:off x="0" y="0"/>
              <a:ext cx="4778713" cy="2170812"/>
            </a:xfrm>
            <a:custGeom>
              <a:avLst/>
              <a:gdLst/>
              <a:ahLst/>
              <a:cxnLst/>
              <a:rect r="r" b="b" t="t" l="l"/>
              <a:pathLst>
                <a:path h="2170812" w="4778713">
                  <a:moveTo>
                    <a:pt x="0" y="0"/>
                  </a:moveTo>
                  <a:lnTo>
                    <a:pt x="4778713" y="0"/>
                  </a:lnTo>
                  <a:lnTo>
                    <a:pt x="4778713" y="2170812"/>
                  </a:lnTo>
                  <a:lnTo>
                    <a:pt x="0" y="2170812"/>
                  </a:lnTo>
                  <a:close/>
                </a:path>
              </a:pathLst>
            </a:custGeom>
            <a:solidFill>
              <a:srgbClr val="EDC254"/>
            </a:solidFill>
          </p:spPr>
        </p:sp>
        <p:sp>
          <p:nvSpPr>
            <p:cNvPr name="TextBox 4" id="4"/>
            <p:cNvSpPr txBox="true"/>
            <p:nvPr/>
          </p:nvSpPr>
          <p:spPr>
            <a:xfrm>
              <a:off x="0" y="-47625"/>
              <a:ext cx="4778713" cy="221843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6850" y="1028700"/>
            <a:ext cx="4514850" cy="714793"/>
            <a:chOff x="0" y="0"/>
            <a:chExt cx="1189096" cy="188258"/>
          </a:xfrm>
        </p:grpSpPr>
        <p:sp>
          <p:nvSpPr>
            <p:cNvPr name="Freeform 6" id="6"/>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7" id="7"/>
            <p:cNvSpPr txBox="true"/>
            <p:nvPr/>
          </p:nvSpPr>
          <p:spPr>
            <a:xfrm>
              <a:off x="0" y="-66675"/>
              <a:ext cx="1189096" cy="254933"/>
            </a:xfrm>
            <a:prstGeom prst="rect">
              <a:avLst/>
            </a:prstGeom>
          </p:spPr>
          <p:txBody>
            <a:bodyPr anchor="ctr" rtlCol="false" tIns="50800" lIns="50800" bIns="50800" rIns="50800"/>
            <a:lstStyle/>
            <a:p>
              <a:pPr algn="ctr">
                <a:lnSpc>
                  <a:spcPts val="4479"/>
                </a:lnSpc>
              </a:pPr>
              <a:r>
                <a:rPr lang="en-US" sz="3199">
                  <a:solidFill>
                    <a:srgbClr val="000000"/>
                  </a:solidFill>
                  <a:latin typeface="Archivo Black"/>
                  <a:ea typeface="Archivo Black"/>
                  <a:cs typeface="Archivo Black"/>
                  <a:sym typeface="Archivo Black"/>
                </a:rPr>
                <a:t>EDA-UPDATE</a:t>
              </a:r>
            </a:p>
          </p:txBody>
        </p:sp>
      </p:grpSp>
      <p:grpSp>
        <p:nvGrpSpPr>
          <p:cNvPr name="Group 8" id="8"/>
          <p:cNvGrpSpPr/>
          <p:nvPr/>
        </p:nvGrpSpPr>
        <p:grpSpPr>
          <a:xfrm rot="0">
            <a:off x="4773756" y="1028700"/>
            <a:ext cx="800100" cy="714793"/>
            <a:chOff x="0" y="0"/>
            <a:chExt cx="210726" cy="188258"/>
          </a:xfrm>
        </p:grpSpPr>
        <p:sp>
          <p:nvSpPr>
            <p:cNvPr name="Freeform 9" id="9"/>
            <p:cNvSpPr/>
            <p:nvPr/>
          </p:nvSpPr>
          <p:spPr>
            <a:xfrm flipH="false" flipV="false" rot="0">
              <a:off x="0" y="0"/>
              <a:ext cx="210726" cy="188258"/>
            </a:xfrm>
            <a:custGeom>
              <a:avLst/>
              <a:gdLst/>
              <a:ahLst/>
              <a:cxnLst/>
              <a:rect r="r" b="b" t="t" l="l"/>
              <a:pathLst>
                <a:path h="188258" w="210726">
                  <a:moveTo>
                    <a:pt x="0" y="0"/>
                  </a:moveTo>
                  <a:lnTo>
                    <a:pt x="210726" y="0"/>
                  </a:lnTo>
                  <a:lnTo>
                    <a:pt x="210726" y="188258"/>
                  </a:lnTo>
                  <a:lnTo>
                    <a:pt x="0" y="188258"/>
                  </a:lnTo>
                  <a:close/>
                </a:path>
              </a:pathLst>
            </a:custGeom>
            <a:solidFill>
              <a:srgbClr val="EDC254"/>
            </a:solidFill>
          </p:spPr>
        </p:sp>
        <p:sp>
          <p:nvSpPr>
            <p:cNvPr name="TextBox 10" id="10"/>
            <p:cNvSpPr txBox="true"/>
            <p:nvPr/>
          </p:nvSpPr>
          <p:spPr>
            <a:xfrm>
              <a:off x="0" y="-47625"/>
              <a:ext cx="210726" cy="23588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0" y="2040574"/>
            <a:ext cx="11301259" cy="4026074"/>
          </a:xfrm>
          <a:custGeom>
            <a:avLst/>
            <a:gdLst/>
            <a:ahLst/>
            <a:cxnLst/>
            <a:rect r="r" b="b" t="t" l="l"/>
            <a:pathLst>
              <a:path h="4026074" w="11301259">
                <a:moveTo>
                  <a:pt x="0" y="0"/>
                </a:moveTo>
                <a:lnTo>
                  <a:pt x="11301259" y="0"/>
                </a:lnTo>
                <a:lnTo>
                  <a:pt x="11301259" y="4026074"/>
                </a:lnTo>
                <a:lnTo>
                  <a:pt x="0" y="4026074"/>
                </a:lnTo>
                <a:lnTo>
                  <a:pt x="0" y="0"/>
                </a:lnTo>
                <a:close/>
              </a:path>
            </a:pathLst>
          </a:custGeom>
          <a:blipFill>
            <a:blip r:embed="rId2"/>
            <a:stretch>
              <a:fillRect l="0" t="0" r="0" b="0"/>
            </a:stretch>
          </a:blipFill>
        </p:spPr>
      </p:sp>
      <p:sp>
        <p:nvSpPr>
          <p:cNvPr name="Freeform 12" id="12"/>
          <p:cNvSpPr/>
          <p:nvPr/>
        </p:nvSpPr>
        <p:spPr>
          <a:xfrm flipH="false" flipV="false" rot="0">
            <a:off x="0" y="5959721"/>
            <a:ext cx="11301259" cy="4026074"/>
          </a:xfrm>
          <a:custGeom>
            <a:avLst/>
            <a:gdLst/>
            <a:ahLst/>
            <a:cxnLst/>
            <a:rect r="r" b="b" t="t" l="l"/>
            <a:pathLst>
              <a:path h="4026074" w="11301259">
                <a:moveTo>
                  <a:pt x="0" y="0"/>
                </a:moveTo>
                <a:lnTo>
                  <a:pt x="11301259" y="0"/>
                </a:lnTo>
                <a:lnTo>
                  <a:pt x="11301259" y="4026073"/>
                </a:lnTo>
                <a:lnTo>
                  <a:pt x="0" y="4026073"/>
                </a:lnTo>
                <a:lnTo>
                  <a:pt x="0" y="0"/>
                </a:lnTo>
                <a:close/>
              </a:path>
            </a:pathLst>
          </a:custGeom>
          <a:blipFill>
            <a:blip r:embed="rId3"/>
            <a:stretch>
              <a:fillRect l="0" t="0" r="0" b="0"/>
            </a:stretch>
          </a:blipFill>
        </p:spPr>
      </p:sp>
      <p:sp>
        <p:nvSpPr>
          <p:cNvPr name="TextBox 13" id="13"/>
          <p:cNvSpPr txBox="true"/>
          <p:nvPr/>
        </p:nvSpPr>
        <p:spPr>
          <a:xfrm rot="0">
            <a:off x="12478887" y="1770011"/>
            <a:ext cx="5330825" cy="3043242"/>
          </a:xfrm>
          <a:prstGeom prst="rect">
            <a:avLst/>
          </a:prstGeom>
        </p:spPr>
        <p:txBody>
          <a:bodyPr anchor="t" rtlCol="false" tIns="0" lIns="0" bIns="0" rIns="0">
            <a:spAutoFit/>
          </a:bodyPr>
          <a:lstStyle/>
          <a:p>
            <a:pPr algn="r">
              <a:lnSpc>
                <a:spcPts val="8137"/>
              </a:lnSpc>
              <a:spcBef>
                <a:spcPct val="0"/>
              </a:spcBef>
            </a:pPr>
            <a:r>
              <a:rPr lang="en-US" sz="5812">
                <a:solidFill>
                  <a:srgbClr val="000000"/>
                </a:solidFill>
                <a:latin typeface="League Spartan"/>
                <a:ea typeface="League Spartan"/>
                <a:cs typeface="League Spartan"/>
                <a:sym typeface="League Spartan"/>
              </a:rPr>
              <a:t>ENROLLMENTACHP PICK UP</a:t>
            </a:r>
          </a:p>
        </p:txBody>
      </p:sp>
      <p:sp>
        <p:nvSpPr>
          <p:cNvPr name="TextBox 14" id="14"/>
          <p:cNvSpPr txBox="true"/>
          <p:nvPr/>
        </p:nvSpPr>
        <p:spPr>
          <a:xfrm rot="0">
            <a:off x="14445762" y="9468729"/>
            <a:ext cx="4020465"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Pinxi Lyu，Dixin Guo</a:t>
            </a:r>
          </a:p>
        </p:txBody>
      </p:sp>
      <p:sp>
        <p:nvSpPr>
          <p:cNvPr name="TextBox 15" id="15"/>
          <p:cNvSpPr txBox="true"/>
          <p:nvPr/>
        </p:nvSpPr>
        <p:spPr>
          <a:xfrm rot="0">
            <a:off x="11619526" y="4765628"/>
            <a:ext cx="6359525" cy="1406525"/>
          </a:xfrm>
          <a:prstGeom prst="rect">
            <a:avLst/>
          </a:prstGeom>
        </p:spPr>
        <p:txBody>
          <a:bodyPr anchor="t" rtlCol="false" tIns="0" lIns="0" bIns="0" rIns="0">
            <a:spAutoFit/>
          </a:bodyPr>
          <a:lstStyle/>
          <a:p>
            <a:pPr algn="l">
              <a:lnSpc>
                <a:spcPts val="2800"/>
              </a:lnSpc>
              <a:spcBef>
                <a:spcPct val="0"/>
              </a:spcBef>
            </a:pPr>
            <a:r>
              <a:rPr lang="en-US" sz="2000">
                <a:solidFill>
                  <a:srgbClr val="FF5757"/>
                </a:solidFill>
                <a:latin typeface="Archivo Black"/>
                <a:ea typeface="Archivo Black"/>
                <a:cs typeface="Archivo Black"/>
                <a:sym typeface="Archivo Black"/>
              </a:rPr>
              <a:t>ACHP’s stronger share gains in exit counties indicate that market disruption translated into competitive pickup, not just background growth.</a:t>
            </a:r>
          </a:p>
        </p:txBody>
      </p:sp>
      <p:sp>
        <p:nvSpPr>
          <p:cNvPr name="TextBox 16" id="16"/>
          <p:cNvSpPr txBox="true"/>
          <p:nvPr/>
        </p:nvSpPr>
        <p:spPr>
          <a:xfrm rot="0">
            <a:off x="11616575" y="7211939"/>
            <a:ext cx="6362475" cy="2332990"/>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Broad market growth lifted enrollment everywhere, but did not explain the full gap.</a:t>
            </a: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Exit counties showed a sharper step-up in ACHP share from late 2025 onward.</a:t>
            </a: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Implication: ACHP appears better positioned to convert carrier withdrawal into local share gains.</a:t>
            </a:r>
          </a:p>
        </p:txBody>
      </p:sp>
      <p:sp>
        <p:nvSpPr>
          <p:cNvPr name="TextBox 17" id="17"/>
          <p:cNvSpPr txBox="true"/>
          <p:nvPr/>
        </p:nvSpPr>
        <p:spPr>
          <a:xfrm rot="0">
            <a:off x="13120048" y="458253"/>
            <a:ext cx="5024126" cy="99949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Archivo Black"/>
                <a:ea typeface="Archivo Black"/>
                <a:cs typeface="Archivo Black"/>
                <a:sym typeface="Archivo Black"/>
              </a:rPr>
              <a:t>https://colab.research.google.com/drive/11Yg0rKcoB4LcRZDr5ftqAp1s_vBCTJ1W?usp=sharing、</a:t>
            </a:r>
          </a:p>
        </p:txBody>
      </p:sp>
      <p:sp>
        <p:nvSpPr>
          <p:cNvPr name="TextBox 18" id="18"/>
          <p:cNvSpPr txBox="true"/>
          <p:nvPr/>
        </p:nvSpPr>
        <p:spPr>
          <a:xfrm rot="0">
            <a:off x="11781699" y="6543628"/>
            <a:ext cx="6362475" cy="332740"/>
          </a:xfrm>
          <a:prstGeom prst="rect">
            <a:avLst/>
          </a:prstGeom>
        </p:spPr>
        <p:txBody>
          <a:bodyPr anchor="t" rtlCol="false" tIns="0" lIns="0" bIns="0" rIns="0">
            <a:spAutoFit/>
          </a:bodyPr>
          <a:lstStyle/>
          <a:p>
            <a:pPr algn="l">
              <a:lnSpc>
                <a:spcPts val="2659"/>
              </a:lnSpc>
            </a:pPr>
            <a:r>
              <a:rPr lang="en-US" sz="1899">
                <a:solidFill>
                  <a:srgbClr val="000000"/>
                </a:solidFill>
                <a:latin typeface="Archivo Black"/>
                <a:ea typeface="Archivo Black"/>
                <a:cs typeface="Archivo Black"/>
                <a:sym typeface="Archivo Black"/>
              </a:rPr>
              <a:t>Findings：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945497"/>
            <a:ext cx="18144174" cy="8242302"/>
            <a:chOff x="0" y="0"/>
            <a:chExt cx="4778713" cy="2170812"/>
          </a:xfrm>
        </p:grpSpPr>
        <p:sp>
          <p:nvSpPr>
            <p:cNvPr name="Freeform 3" id="3"/>
            <p:cNvSpPr/>
            <p:nvPr/>
          </p:nvSpPr>
          <p:spPr>
            <a:xfrm flipH="false" flipV="false" rot="0">
              <a:off x="0" y="0"/>
              <a:ext cx="4778713" cy="2170812"/>
            </a:xfrm>
            <a:custGeom>
              <a:avLst/>
              <a:gdLst/>
              <a:ahLst/>
              <a:cxnLst/>
              <a:rect r="r" b="b" t="t" l="l"/>
              <a:pathLst>
                <a:path h="2170812" w="4778713">
                  <a:moveTo>
                    <a:pt x="0" y="0"/>
                  </a:moveTo>
                  <a:lnTo>
                    <a:pt x="4778713" y="0"/>
                  </a:lnTo>
                  <a:lnTo>
                    <a:pt x="4778713" y="2170812"/>
                  </a:lnTo>
                  <a:lnTo>
                    <a:pt x="0" y="2170812"/>
                  </a:lnTo>
                  <a:close/>
                </a:path>
              </a:pathLst>
            </a:custGeom>
            <a:solidFill>
              <a:srgbClr val="EDC254"/>
            </a:solidFill>
          </p:spPr>
        </p:sp>
        <p:sp>
          <p:nvSpPr>
            <p:cNvPr name="TextBox 4" id="4"/>
            <p:cNvSpPr txBox="true"/>
            <p:nvPr/>
          </p:nvSpPr>
          <p:spPr>
            <a:xfrm>
              <a:off x="0" y="-47625"/>
              <a:ext cx="4778713" cy="221843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6850" y="1028700"/>
            <a:ext cx="4514850" cy="714793"/>
            <a:chOff x="0" y="0"/>
            <a:chExt cx="1189096" cy="188258"/>
          </a:xfrm>
        </p:grpSpPr>
        <p:sp>
          <p:nvSpPr>
            <p:cNvPr name="Freeform 6" id="6"/>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7" id="7"/>
            <p:cNvSpPr txBox="true"/>
            <p:nvPr/>
          </p:nvSpPr>
          <p:spPr>
            <a:xfrm>
              <a:off x="0" y="-47625"/>
              <a:ext cx="1189096" cy="23588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773756" y="1028700"/>
            <a:ext cx="800100" cy="714793"/>
            <a:chOff x="0" y="0"/>
            <a:chExt cx="210726" cy="188258"/>
          </a:xfrm>
        </p:grpSpPr>
        <p:sp>
          <p:nvSpPr>
            <p:cNvPr name="Freeform 9" id="9"/>
            <p:cNvSpPr/>
            <p:nvPr/>
          </p:nvSpPr>
          <p:spPr>
            <a:xfrm flipH="false" flipV="false" rot="0">
              <a:off x="0" y="0"/>
              <a:ext cx="210726" cy="188258"/>
            </a:xfrm>
            <a:custGeom>
              <a:avLst/>
              <a:gdLst/>
              <a:ahLst/>
              <a:cxnLst/>
              <a:rect r="r" b="b" t="t" l="l"/>
              <a:pathLst>
                <a:path h="188258" w="210726">
                  <a:moveTo>
                    <a:pt x="0" y="0"/>
                  </a:moveTo>
                  <a:lnTo>
                    <a:pt x="210726" y="0"/>
                  </a:lnTo>
                  <a:lnTo>
                    <a:pt x="210726" y="188258"/>
                  </a:lnTo>
                  <a:lnTo>
                    <a:pt x="0" y="188258"/>
                  </a:lnTo>
                  <a:close/>
                </a:path>
              </a:pathLst>
            </a:custGeom>
            <a:solidFill>
              <a:srgbClr val="EDC254"/>
            </a:solidFill>
          </p:spPr>
        </p:sp>
        <p:sp>
          <p:nvSpPr>
            <p:cNvPr name="TextBox 10" id="10"/>
            <p:cNvSpPr txBox="true"/>
            <p:nvPr/>
          </p:nvSpPr>
          <p:spPr>
            <a:xfrm>
              <a:off x="0" y="-47625"/>
              <a:ext cx="210726" cy="23588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2755238" y="2100258"/>
            <a:ext cx="5330825" cy="3043242"/>
          </a:xfrm>
          <a:prstGeom prst="rect">
            <a:avLst/>
          </a:prstGeom>
        </p:spPr>
        <p:txBody>
          <a:bodyPr anchor="t" rtlCol="false" tIns="0" lIns="0" bIns="0" rIns="0">
            <a:spAutoFit/>
          </a:bodyPr>
          <a:lstStyle/>
          <a:p>
            <a:pPr algn="r">
              <a:lnSpc>
                <a:spcPts val="8137"/>
              </a:lnSpc>
              <a:spcBef>
                <a:spcPct val="0"/>
              </a:spcBef>
            </a:pPr>
            <a:r>
              <a:rPr lang="en-US" sz="5812">
                <a:solidFill>
                  <a:srgbClr val="000000"/>
                </a:solidFill>
                <a:latin typeface="League Spartan"/>
                <a:ea typeface="League Spartan"/>
                <a:cs typeface="League Spartan"/>
                <a:sym typeface="League Spartan"/>
              </a:rPr>
              <a:t>ENROLLMENTACHP PICK UP</a:t>
            </a:r>
          </a:p>
        </p:txBody>
      </p:sp>
      <p:sp>
        <p:nvSpPr>
          <p:cNvPr name="Freeform 12" id="12"/>
          <p:cNvSpPr/>
          <p:nvPr/>
        </p:nvSpPr>
        <p:spPr>
          <a:xfrm flipH="false" flipV="false" rot="0">
            <a:off x="0" y="2054511"/>
            <a:ext cx="12712685" cy="1620867"/>
          </a:xfrm>
          <a:custGeom>
            <a:avLst/>
            <a:gdLst/>
            <a:ahLst/>
            <a:cxnLst/>
            <a:rect r="r" b="b" t="t" l="l"/>
            <a:pathLst>
              <a:path h="1620867" w="12712685">
                <a:moveTo>
                  <a:pt x="0" y="0"/>
                </a:moveTo>
                <a:lnTo>
                  <a:pt x="12712685" y="0"/>
                </a:lnTo>
                <a:lnTo>
                  <a:pt x="12712685" y="1620867"/>
                </a:lnTo>
                <a:lnTo>
                  <a:pt x="0" y="1620867"/>
                </a:lnTo>
                <a:lnTo>
                  <a:pt x="0" y="0"/>
                </a:lnTo>
                <a:close/>
              </a:path>
            </a:pathLst>
          </a:custGeom>
          <a:blipFill>
            <a:blip r:embed="rId2"/>
            <a:stretch>
              <a:fillRect l="0" t="0" r="0" b="0"/>
            </a:stretch>
          </a:blipFill>
        </p:spPr>
      </p:sp>
      <p:sp>
        <p:nvSpPr>
          <p:cNvPr name="Freeform 13" id="13"/>
          <p:cNvSpPr/>
          <p:nvPr/>
        </p:nvSpPr>
        <p:spPr>
          <a:xfrm flipH="false" flipV="false" rot="0">
            <a:off x="485412" y="3837303"/>
            <a:ext cx="7030417" cy="6177979"/>
          </a:xfrm>
          <a:custGeom>
            <a:avLst/>
            <a:gdLst/>
            <a:ahLst/>
            <a:cxnLst/>
            <a:rect r="r" b="b" t="t" l="l"/>
            <a:pathLst>
              <a:path h="6177979" w="7030417">
                <a:moveTo>
                  <a:pt x="0" y="0"/>
                </a:moveTo>
                <a:lnTo>
                  <a:pt x="7030417" y="0"/>
                </a:lnTo>
                <a:lnTo>
                  <a:pt x="7030417" y="6177979"/>
                </a:lnTo>
                <a:lnTo>
                  <a:pt x="0" y="6177979"/>
                </a:lnTo>
                <a:lnTo>
                  <a:pt x="0" y="0"/>
                </a:lnTo>
                <a:close/>
              </a:path>
            </a:pathLst>
          </a:custGeom>
          <a:blipFill>
            <a:blip r:embed="rId3"/>
            <a:stretch>
              <a:fillRect l="0" t="0" r="0" b="0"/>
            </a:stretch>
          </a:blipFill>
        </p:spPr>
      </p:sp>
      <p:sp>
        <p:nvSpPr>
          <p:cNvPr name="TextBox 14" id="14"/>
          <p:cNvSpPr txBox="true"/>
          <p:nvPr/>
        </p:nvSpPr>
        <p:spPr>
          <a:xfrm rot="0">
            <a:off x="14223528" y="9386607"/>
            <a:ext cx="3920646"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Pinxi Lyu，Dixin Guo</a:t>
            </a:r>
          </a:p>
        </p:txBody>
      </p:sp>
      <p:grpSp>
        <p:nvGrpSpPr>
          <p:cNvPr name="Group 15" id="15"/>
          <p:cNvGrpSpPr/>
          <p:nvPr/>
        </p:nvGrpSpPr>
        <p:grpSpPr>
          <a:xfrm rot="0">
            <a:off x="-44450" y="1181100"/>
            <a:ext cx="4514850" cy="714793"/>
            <a:chOff x="0" y="0"/>
            <a:chExt cx="1189096" cy="188258"/>
          </a:xfrm>
        </p:grpSpPr>
        <p:sp>
          <p:nvSpPr>
            <p:cNvPr name="Freeform 16" id="16"/>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17" id="17"/>
            <p:cNvSpPr txBox="true"/>
            <p:nvPr/>
          </p:nvSpPr>
          <p:spPr>
            <a:xfrm>
              <a:off x="0" y="-66675"/>
              <a:ext cx="1189096" cy="254933"/>
            </a:xfrm>
            <a:prstGeom prst="rect">
              <a:avLst/>
            </a:prstGeom>
          </p:spPr>
          <p:txBody>
            <a:bodyPr anchor="ctr" rtlCol="false" tIns="50800" lIns="50800" bIns="50800" rIns="50800"/>
            <a:lstStyle/>
            <a:p>
              <a:pPr algn="ctr">
                <a:lnSpc>
                  <a:spcPts val="4479"/>
                </a:lnSpc>
              </a:pPr>
              <a:r>
                <a:rPr lang="en-US" sz="3199">
                  <a:solidFill>
                    <a:srgbClr val="000000"/>
                  </a:solidFill>
                  <a:latin typeface="Archivo Black"/>
                  <a:ea typeface="Archivo Black"/>
                  <a:cs typeface="Archivo Black"/>
                  <a:sym typeface="Archivo Black"/>
                </a:rPr>
                <a:t>EDA-UPDATE</a:t>
              </a:r>
            </a:p>
          </p:txBody>
        </p:sp>
      </p:grpSp>
      <p:sp>
        <p:nvSpPr>
          <p:cNvPr name="TextBox 18" id="18"/>
          <p:cNvSpPr txBox="true"/>
          <p:nvPr/>
        </p:nvSpPr>
        <p:spPr>
          <a:xfrm rot="0">
            <a:off x="7395128" y="4477385"/>
            <a:ext cx="9533925" cy="666115"/>
          </a:xfrm>
          <a:prstGeom prst="rect">
            <a:avLst/>
          </a:prstGeom>
        </p:spPr>
        <p:txBody>
          <a:bodyPr anchor="t" rtlCol="false" tIns="0" lIns="0" bIns="0" rIns="0">
            <a:spAutoFit/>
          </a:bodyPr>
          <a:lstStyle/>
          <a:p>
            <a:pPr algn="ctr">
              <a:lnSpc>
                <a:spcPts val="2659"/>
              </a:lnSpc>
              <a:spcBef>
                <a:spcPct val="0"/>
              </a:spcBef>
            </a:pPr>
            <a:r>
              <a:rPr lang="en-US" sz="1899">
                <a:solidFill>
                  <a:srgbClr val="FF5757"/>
                </a:solidFill>
                <a:latin typeface="Archivo Black"/>
                <a:ea typeface="Archivo Black"/>
                <a:cs typeface="Archivo Black"/>
                <a:sym typeface="Archivo Black"/>
              </a:rPr>
              <a:t>The key signal is not just enrollment growth, but a step-change in relative market position after late 2025 in exit-affected counties.</a:t>
            </a:r>
          </a:p>
        </p:txBody>
      </p:sp>
      <p:sp>
        <p:nvSpPr>
          <p:cNvPr name="TextBox 19" id="19"/>
          <p:cNvSpPr txBox="true"/>
          <p:nvPr/>
        </p:nvSpPr>
        <p:spPr>
          <a:xfrm rot="0">
            <a:off x="7861052" y="5301652"/>
            <a:ext cx="6362475" cy="332740"/>
          </a:xfrm>
          <a:prstGeom prst="rect">
            <a:avLst/>
          </a:prstGeom>
        </p:spPr>
        <p:txBody>
          <a:bodyPr anchor="t" rtlCol="false" tIns="0" lIns="0" bIns="0" rIns="0">
            <a:spAutoFit/>
          </a:bodyPr>
          <a:lstStyle/>
          <a:p>
            <a:pPr algn="l">
              <a:lnSpc>
                <a:spcPts val="2659"/>
              </a:lnSpc>
            </a:pPr>
            <a:r>
              <a:rPr lang="en-US" sz="1899">
                <a:solidFill>
                  <a:srgbClr val="000000"/>
                </a:solidFill>
                <a:latin typeface="Archivo Black"/>
                <a:ea typeface="Archivo Black"/>
                <a:cs typeface="Archivo Black"/>
                <a:sym typeface="Archivo Black"/>
              </a:rPr>
              <a:t>Findings：</a:t>
            </a:r>
          </a:p>
        </p:txBody>
      </p:sp>
      <p:sp>
        <p:nvSpPr>
          <p:cNvPr name="TextBox 20" id="20"/>
          <p:cNvSpPr txBox="true"/>
          <p:nvPr/>
        </p:nvSpPr>
        <p:spPr>
          <a:xfrm rot="0">
            <a:off x="7861052" y="5796317"/>
            <a:ext cx="9836792" cy="3666490"/>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ACHP enrollment increased across both exit and non-exit counties, suggesting a broad growth backdrop rather than an exit-specific pattern in absolute membership alone.</a:t>
            </a: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The sharper distinction is in share: ACHP gained 0.82 percentage points in exit counties versus 0.28 points in non-exit counties, indicating materially stronger relative performance where carrier exits occurred.</a:t>
            </a: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The timing also matters: the widening gap becomes most visible from late 2025 into early 2026, consistent with ACHP capturing a larger share of post-exit market reallocation rather than merely participating in overall market growth.</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913" y="2044698"/>
            <a:ext cx="18144174" cy="8242302"/>
            <a:chOff x="0" y="0"/>
            <a:chExt cx="4778713" cy="2170812"/>
          </a:xfrm>
        </p:grpSpPr>
        <p:sp>
          <p:nvSpPr>
            <p:cNvPr name="Freeform 3" id="3"/>
            <p:cNvSpPr/>
            <p:nvPr/>
          </p:nvSpPr>
          <p:spPr>
            <a:xfrm flipH="false" flipV="false" rot="0">
              <a:off x="0" y="0"/>
              <a:ext cx="4778713" cy="2170812"/>
            </a:xfrm>
            <a:custGeom>
              <a:avLst/>
              <a:gdLst/>
              <a:ahLst/>
              <a:cxnLst/>
              <a:rect r="r" b="b" t="t" l="l"/>
              <a:pathLst>
                <a:path h="2170812" w="4778713">
                  <a:moveTo>
                    <a:pt x="0" y="0"/>
                  </a:moveTo>
                  <a:lnTo>
                    <a:pt x="4778713" y="0"/>
                  </a:lnTo>
                  <a:lnTo>
                    <a:pt x="4778713" y="2170812"/>
                  </a:lnTo>
                  <a:lnTo>
                    <a:pt x="0" y="2170812"/>
                  </a:lnTo>
                  <a:close/>
                </a:path>
              </a:pathLst>
            </a:custGeom>
            <a:solidFill>
              <a:srgbClr val="EDC254"/>
            </a:solidFill>
          </p:spPr>
        </p:sp>
        <p:sp>
          <p:nvSpPr>
            <p:cNvPr name="TextBox 4" id="4"/>
            <p:cNvSpPr txBox="true"/>
            <p:nvPr/>
          </p:nvSpPr>
          <p:spPr>
            <a:xfrm>
              <a:off x="0" y="-47625"/>
              <a:ext cx="4778713" cy="221843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6850" y="1028700"/>
            <a:ext cx="4514850" cy="714793"/>
            <a:chOff x="0" y="0"/>
            <a:chExt cx="1189096" cy="188258"/>
          </a:xfrm>
        </p:grpSpPr>
        <p:sp>
          <p:nvSpPr>
            <p:cNvPr name="Freeform 6" id="6"/>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7" id="7"/>
            <p:cNvSpPr txBox="true"/>
            <p:nvPr/>
          </p:nvSpPr>
          <p:spPr>
            <a:xfrm>
              <a:off x="0" y="-47625"/>
              <a:ext cx="1189096" cy="23588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773756" y="1028700"/>
            <a:ext cx="800100" cy="714793"/>
            <a:chOff x="0" y="0"/>
            <a:chExt cx="210726" cy="188258"/>
          </a:xfrm>
        </p:grpSpPr>
        <p:sp>
          <p:nvSpPr>
            <p:cNvPr name="Freeform 9" id="9"/>
            <p:cNvSpPr/>
            <p:nvPr/>
          </p:nvSpPr>
          <p:spPr>
            <a:xfrm flipH="false" flipV="false" rot="0">
              <a:off x="0" y="0"/>
              <a:ext cx="210726" cy="188258"/>
            </a:xfrm>
            <a:custGeom>
              <a:avLst/>
              <a:gdLst/>
              <a:ahLst/>
              <a:cxnLst/>
              <a:rect r="r" b="b" t="t" l="l"/>
              <a:pathLst>
                <a:path h="188258" w="210726">
                  <a:moveTo>
                    <a:pt x="0" y="0"/>
                  </a:moveTo>
                  <a:lnTo>
                    <a:pt x="210726" y="0"/>
                  </a:lnTo>
                  <a:lnTo>
                    <a:pt x="210726" y="188258"/>
                  </a:lnTo>
                  <a:lnTo>
                    <a:pt x="0" y="188258"/>
                  </a:lnTo>
                  <a:close/>
                </a:path>
              </a:pathLst>
            </a:custGeom>
            <a:solidFill>
              <a:srgbClr val="EDC254"/>
            </a:solidFill>
          </p:spPr>
        </p:sp>
        <p:sp>
          <p:nvSpPr>
            <p:cNvPr name="TextBox 10" id="10"/>
            <p:cNvSpPr txBox="true"/>
            <p:nvPr/>
          </p:nvSpPr>
          <p:spPr>
            <a:xfrm>
              <a:off x="0" y="-47625"/>
              <a:ext cx="210726" cy="23588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954108" y="2248735"/>
            <a:ext cx="18943024" cy="596900"/>
          </a:xfrm>
          <a:prstGeom prst="rect">
            <a:avLst/>
          </a:prstGeom>
        </p:spPr>
        <p:txBody>
          <a:bodyPr anchor="t" rtlCol="false" tIns="0" lIns="0" bIns="0" rIns="0">
            <a:spAutoFit/>
          </a:bodyPr>
          <a:lstStyle/>
          <a:p>
            <a:pPr algn="r">
              <a:lnSpc>
                <a:spcPts val="4900"/>
              </a:lnSpc>
              <a:spcBef>
                <a:spcPct val="0"/>
              </a:spcBef>
            </a:pPr>
            <a:r>
              <a:rPr lang="en-US" b="true" sz="3500" i="true">
                <a:solidFill>
                  <a:srgbClr val="000000"/>
                </a:solidFill>
                <a:latin typeface="League Spartan"/>
                <a:ea typeface="League Spartan"/>
                <a:cs typeface="League Spartan"/>
                <a:sym typeface="League Spartan"/>
              </a:rPr>
              <a:t>MORE CARRIER EXITS DO NOT TRANSLATE TO HIGHER ACHP PICKUP</a:t>
            </a:r>
          </a:p>
        </p:txBody>
      </p:sp>
      <p:sp>
        <p:nvSpPr>
          <p:cNvPr name="TextBox 12" id="12"/>
          <p:cNvSpPr txBox="true"/>
          <p:nvPr/>
        </p:nvSpPr>
        <p:spPr>
          <a:xfrm rot="0">
            <a:off x="15056423" y="9557232"/>
            <a:ext cx="4405754"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Dixin Guo</a:t>
            </a:r>
          </a:p>
        </p:txBody>
      </p:sp>
      <p:grpSp>
        <p:nvGrpSpPr>
          <p:cNvPr name="Group 13" id="13"/>
          <p:cNvGrpSpPr/>
          <p:nvPr/>
        </p:nvGrpSpPr>
        <p:grpSpPr>
          <a:xfrm rot="0">
            <a:off x="-196850" y="1028700"/>
            <a:ext cx="4514850" cy="714793"/>
            <a:chOff x="0" y="0"/>
            <a:chExt cx="1189096" cy="188258"/>
          </a:xfrm>
        </p:grpSpPr>
        <p:sp>
          <p:nvSpPr>
            <p:cNvPr name="Freeform 14" id="14"/>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15" id="15"/>
            <p:cNvSpPr txBox="true"/>
            <p:nvPr/>
          </p:nvSpPr>
          <p:spPr>
            <a:xfrm>
              <a:off x="0" y="-66675"/>
              <a:ext cx="1189096" cy="254933"/>
            </a:xfrm>
            <a:prstGeom prst="rect">
              <a:avLst/>
            </a:prstGeom>
          </p:spPr>
          <p:txBody>
            <a:bodyPr anchor="ctr" rtlCol="false" tIns="50800" lIns="50800" bIns="50800" rIns="50800"/>
            <a:lstStyle/>
            <a:p>
              <a:pPr algn="ctr">
                <a:lnSpc>
                  <a:spcPts val="4479"/>
                </a:lnSpc>
              </a:pPr>
              <a:r>
                <a:rPr lang="en-US" sz="3199">
                  <a:solidFill>
                    <a:srgbClr val="000000"/>
                  </a:solidFill>
                  <a:latin typeface="Archivo Black"/>
                  <a:ea typeface="Archivo Black"/>
                  <a:cs typeface="Archivo Black"/>
                  <a:sym typeface="Archivo Black"/>
                </a:rPr>
                <a:t>EDA-UPDATE</a:t>
              </a:r>
            </a:p>
          </p:txBody>
        </p:sp>
      </p:grpSp>
      <p:sp>
        <p:nvSpPr>
          <p:cNvPr name="TextBox 16" id="16"/>
          <p:cNvSpPr txBox="true"/>
          <p:nvPr/>
        </p:nvSpPr>
        <p:spPr>
          <a:xfrm rot="0">
            <a:off x="9144000" y="4428727"/>
            <a:ext cx="8873431" cy="427799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Archivo Black"/>
                <a:ea typeface="Archivo Black"/>
                <a:cs typeface="Archivo Black"/>
                <a:sym typeface="Archivo Black"/>
              </a:rPr>
              <a:t>Counties with 1 exiting carrier show ACHP share changes ranging from -0.9 to +0.45 — no consistent direction</a:t>
            </a:r>
          </a:p>
          <a:p>
            <a:pPr algn="l">
              <a:lnSpc>
                <a:spcPts val="3499"/>
              </a:lnSpc>
            </a:pPr>
          </a:p>
          <a:p>
            <a:pPr algn="l" marL="539749" indent="-269875" lvl="1">
              <a:lnSpc>
                <a:spcPts val="3499"/>
              </a:lnSpc>
              <a:buFont typeface="Arial"/>
              <a:buChar char="•"/>
            </a:pPr>
            <a:r>
              <a:rPr lang="en-US" sz="2499">
                <a:solidFill>
                  <a:srgbClr val="000000"/>
                </a:solidFill>
                <a:latin typeface="Archivo Black"/>
                <a:ea typeface="Archivo Black"/>
                <a:cs typeface="Archivo Black"/>
                <a:sym typeface="Archivo Black"/>
              </a:rPr>
              <a:t>The regression line is flat across 1 to 4 exiting carriers — exit count explains nothing</a:t>
            </a:r>
          </a:p>
          <a:p>
            <a:pPr algn="l">
              <a:lnSpc>
                <a:spcPts val="3499"/>
              </a:lnSpc>
            </a:pPr>
          </a:p>
          <a:p>
            <a:pPr algn="l" marL="539749" indent="-269875" lvl="1">
              <a:lnSpc>
                <a:spcPts val="3499"/>
              </a:lnSpc>
              <a:buFont typeface="Arial"/>
              <a:buChar char="•"/>
            </a:pPr>
            <a:r>
              <a:rPr lang="en-US" sz="2499">
                <a:solidFill>
                  <a:srgbClr val="000000"/>
                </a:solidFill>
                <a:latin typeface="Archivo Black"/>
                <a:ea typeface="Archivo Black"/>
                <a:cs typeface="Archivo Black"/>
                <a:sym typeface="Archivo Black"/>
              </a:rPr>
              <a:t>Same number of exits, completely different ACHP outcomes — the signal lies elsewhere</a:t>
            </a:r>
          </a:p>
          <a:p>
            <a:pPr algn="l">
              <a:lnSpc>
                <a:spcPts val="2659"/>
              </a:lnSpc>
            </a:pPr>
          </a:p>
        </p:txBody>
      </p:sp>
      <p:sp>
        <p:nvSpPr>
          <p:cNvPr name="TextBox 17" id="17"/>
          <p:cNvSpPr txBox="true"/>
          <p:nvPr/>
        </p:nvSpPr>
        <p:spPr>
          <a:xfrm rot="0">
            <a:off x="9458801" y="3575550"/>
            <a:ext cx="6362475" cy="431800"/>
          </a:xfrm>
          <a:prstGeom prst="rect">
            <a:avLst/>
          </a:prstGeom>
        </p:spPr>
        <p:txBody>
          <a:bodyPr anchor="t" rtlCol="false" tIns="0" lIns="0" bIns="0" rIns="0">
            <a:spAutoFit/>
          </a:bodyPr>
          <a:lstStyle/>
          <a:p>
            <a:pPr algn="l">
              <a:lnSpc>
                <a:spcPts val="3499"/>
              </a:lnSpc>
            </a:pPr>
            <a:r>
              <a:rPr lang="en-US" sz="2499">
                <a:solidFill>
                  <a:srgbClr val="000000"/>
                </a:solidFill>
                <a:latin typeface="Archivo Black"/>
                <a:ea typeface="Archivo Black"/>
                <a:cs typeface="Archivo Black"/>
                <a:sym typeface="Archivo Black"/>
              </a:rPr>
              <a:t>Findings：</a:t>
            </a:r>
          </a:p>
        </p:txBody>
      </p:sp>
      <p:sp>
        <p:nvSpPr>
          <p:cNvPr name="Freeform 18" id="18"/>
          <p:cNvSpPr/>
          <p:nvPr/>
        </p:nvSpPr>
        <p:spPr>
          <a:xfrm flipH="false" flipV="false" rot="0">
            <a:off x="71913" y="3226633"/>
            <a:ext cx="8442991" cy="5878433"/>
          </a:xfrm>
          <a:custGeom>
            <a:avLst/>
            <a:gdLst/>
            <a:ahLst/>
            <a:cxnLst/>
            <a:rect r="r" b="b" t="t" l="l"/>
            <a:pathLst>
              <a:path h="5878433" w="8442991">
                <a:moveTo>
                  <a:pt x="0" y="0"/>
                </a:moveTo>
                <a:lnTo>
                  <a:pt x="8442991" y="0"/>
                </a:lnTo>
                <a:lnTo>
                  <a:pt x="8442991" y="5878432"/>
                </a:lnTo>
                <a:lnTo>
                  <a:pt x="0" y="5878432"/>
                </a:lnTo>
                <a:lnTo>
                  <a:pt x="0" y="0"/>
                </a:lnTo>
                <a:close/>
              </a:path>
            </a:pathLst>
          </a:custGeom>
          <a:blipFill>
            <a:blip r:embed="rId2"/>
            <a:stretch>
              <a:fillRect l="0" t="0" r="0" b="0"/>
            </a:stretch>
          </a:blipFill>
        </p:spPr>
      </p:sp>
      <p:sp>
        <p:nvSpPr>
          <p:cNvPr name="TextBox 19" id="19"/>
          <p:cNvSpPr txBox="true"/>
          <p:nvPr/>
        </p:nvSpPr>
        <p:spPr>
          <a:xfrm rot="0">
            <a:off x="5925741" y="1188083"/>
            <a:ext cx="12091690" cy="3327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Archivo Black"/>
                <a:ea typeface="Archivo Black"/>
                <a:cs typeface="Archivo Black"/>
                <a:sym typeface="Archivo Black"/>
              </a:rPr>
              <a:t>https://colab.research.google.com/drive/1VUx9hjGHfSwvhQhFC-fSlj26_bNwZisI?usp=sharing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945497"/>
            <a:ext cx="18144174" cy="8242302"/>
            <a:chOff x="0" y="0"/>
            <a:chExt cx="4778713" cy="2170812"/>
          </a:xfrm>
        </p:grpSpPr>
        <p:sp>
          <p:nvSpPr>
            <p:cNvPr name="Freeform 3" id="3"/>
            <p:cNvSpPr/>
            <p:nvPr/>
          </p:nvSpPr>
          <p:spPr>
            <a:xfrm flipH="false" flipV="false" rot="0">
              <a:off x="0" y="0"/>
              <a:ext cx="4778713" cy="2170812"/>
            </a:xfrm>
            <a:custGeom>
              <a:avLst/>
              <a:gdLst/>
              <a:ahLst/>
              <a:cxnLst/>
              <a:rect r="r" b="b" t="t" l="l"/>
              <a:pathLst>
                <a:path h="2170812" w="4778713">
                  <a:moveTo>
                    <a:pt x="0" y="0"/>
                  </a:moveTo>
                  <a:lnTo>
                    <a:pt x="4778713" y="0"/>
                  </a:lnTo>
                  <a:lnTo>
                    <a:pt x="4778713" y="2170812"/>
                  </a:lnTo>
                  <a:lnTo>
                    <a:pt x="0" y="2170812"/>
                  </a:lnTo>
                  <a:close/>
                </a:path>
              </a:pathLst>
            </a:custGeom>
            <a:solidFill>
              <a:srgbClr val="EDC254"/>
            </a:solidFill>
          </p:spPr>
        </p:sp>
        <p:sp>
          <p:nvSpPr>
            <p:cNvPr name="TextBox 4" id="4"/>
            <p:cNvSpPr txBox="true"/>
            <p:nvPr/>
          </p:nvSpPr>
          <p:spPr>
            <a:xfrm>
              <a:off x="0" y="-47625"/>
              <a:ext cx="4778713" cy="221843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6850" y="1028700"/>
            <a:ext cx="4514850" cy="714793"/>
            <a:chOff x="0" y="0"/>
            <a:chExt cx="1189096" cy="188258"/>
          </a:xfrm>
        </p:grpSpPr>
        <p:sp>
          <p:nvSpPr>
            <p:cNvPr name="Freeform 6" id="6"/>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7" id="7"/>
            <p:cNvSpPr txBox="true"/>
            <p:nvPr/>
          </p:nvSpPr>
          <p:spPr>
            <a:xfrm>
              <a:off x="0" y="-47625"/>
              <a:ext cx="1189096" cy="23588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773756" y="1028700"/>
            <a:ext cx="800100" cy="714793"/>
            <a:chOff x="0" y="0"/>
            <a:chExt cx="210726" cy="188258"/>
          </a:xfrm>
        </p:grpSpPr>
        <p:sp>
          <p:nvSpPr>
            <p:cNvPr name="Freeform 9" id="9"/>
            <p:cNvSpPr/>
            <p:nvPr/>
          </p:nvSpPr>
          <p:spPr>
            <a:xfrm flipH="false" flipV="false" rot="0">
              <a:off x="0" y="0"/>
              <a:ext cx="210726" cy="188258"/>
            </a:xfrm>
            <a:custGeom>
              <a:avLst/>
              <a:gdLst/>
              <a:ahLst/>
              <a:cxnLst/>
              <a:rect r="r" b="b" t="t" l="l"/>
              <a:pathLst>
                <a:path h="188258" w="210726">
                  <a:moveTo>
                    <a:pt x="0" y="0"/>
                  </a:moveTo>
                  <a:lnTo>
                    <a:pt x="210726" y="0"/>
                  </a:lnTo>
                  <a:lnTo>
                    <a:pt x="210726" y="188258"/>
                  </a:lnTo>
                  <a:lnTo>
                    <a:pt x="0" y="188258"/>
                  </a:lnTo>
                  <a:close/>
                </a:path>
              </a:pathLst>
            </a:custGeom>
            <a:solidFill>
              <a:srgbClr val="EDC254"/>
            </a:solidFill>
          </p:spPr>
        </p:sp>
        <p:sp>
          <p:nvSpPr>
            <p:cNvPr name="TextBox 10" id="10"/>
            <p:cNvSpPr txBox="true"/>
            <p:nvPr/>
          </p:nvSpPr>
          <p:spPr>
            <a:xfrm>
              <a:off x="0" y="-47625"/>
              <a:ext cx="210726" cy="23588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4612624" y="9633213"/>
            <a:ext cx="3965424" cy="1032972"/>
          </a:xfrm>
          <a:prstGeom prst="rect">
            <a:avLst/>
          </a:prstGeom>
        </p:spPr>
        <p:txBody>
          <a:bodyPr anchor="t" rtlCol="false" tIns="0" lIns="0" bIns="0" rIns="0">
            <a:spAutoFit/>
          </a:bodyPr>
          <a:lstStyle/>
          <a:p>
            <a:pPr algn="l">
              <a:lnSpc>
                <a:spcPts val="4136"/>
              </a:lnSpc>
            </a:pPr>
            <a:r>
              <a:rPr lang="en-US" sz="2954">
                <a:solidFill>
                  <a:srgbClr val="2A0947"/>
                </a:solidFill>
                <a:latin typeface="Poppins"/>
                <a:ea typeface="Poppins"/>
                <a:cs typeface="Poppins"/>
                <a:sym typeface="Poppins"/>
              </a:rPr>
              <a:t> Dixin Guo</a:t>
            </a:r>
          </a:p>
          <a:p>
            <a:pPr algn="l">
              <a:lnSpc>
                <a:spcPts val="4136"/>
              </a:lnSpc>
              <a:spcBef>
                <a:spcPct val="0"/>
              </a:spcBef>
            </a:pPr>
          </a:p>
        </p:txBody>
      </p:sp>
      <p:grpSp>
        <p:nvGrpSpPr>
          <p:cNvPr name="Group 12" id="12"/>
          <p:cNvGrpSpPr/>
          <p:nvPr/>
        </p:nvGrpSpPr>
        <p:grpSpPr>
          <a:xfrm rot="0">
            <a:off x="-196850" y="1028700"/>
            <a:ext cx="4514850" cy="714793"/>
            <a:chOff x="0" y="0"/>
            <a:chExt cx="1189096" cy="188258"/>
          </a:xfrm>
        </p:grpSpPr>
        <p:sp>
          <p:nvSpPr>
            <p:cNvPr name="Freeform 13" id="13"/>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14" id="14"/>
            <p:cNvSpPr txBox="true"/>
            <p:nvPr/>
          </p:nvSpPr>
          <p:spPr>
            <a:xfrm>
              <a:off x="0" y="-66675"/>
              <a:ext cx="1189096" cy="254933"/>
            </a:xfrm>
            <a:prstGeom prst="rect">
              <a:avLst/>
            </a:prstGeom>
          </p:spPr>
          <p:txBody>
            <a:bodyPr anchor="ctr" rtlCol="false" tIns="50800" lIns="50800" bIns="50800" rIns="50800"/>
            <a:lstStyle/>
            <a:p>
              <a:pPr algn="ctr">
                <a:lnSpc>
                  <a:spcPts val="4479"/>
                </a:lnSpc>
              </a:pPr>
              <a:r>
                <a:rPr lang="en-US" sz="3199">
                  <a:solidFill>
                    <a:srgbClr val="000000"/>
                  </a:solidFill>
                  <a:latin typeface="Archivo Black"/>
                  <a:ea typeface="Archivo Black"/>
                  <a:cs typeface="Archivo Black"/>
                  <a:sym typeface="Archivo Black"/>
                </a:rPr>
                <a:t>EDA-UPDATE</a:t>
              </a:r>
            </a:p>
          </p:txBody>
        </p:sp>
      </p:grpSp>
      <p:sp>
        <p:nvSpPr>
          <p:cNvPr name="TextBox 15" id="15"/>
          <p:cNvSpPr txBox="true"/>
          <p:nvPr/>
        </p:nvSpPr>
        <p:spPr>
          <a:xfrm rot="0">
            <a:off x="71913" y="2068332"/>
            <a:ext cx="12186347" cy="615950"/>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Archivo Black"/>
                <a:ea typeface="Archivo Black"/>
                <a:cs typeface="Archivo Black"/>
                <a:sym typeface="Archivo Black"/>
              </a:rPr>
              <a:t>ACHP Gains Most Where Product Match Is Worst</a:t>
            </a:r>
          </a:p>
        </p:txBody>
      </p:sp>
      <p:sp>
        <p:nvSpPr>
          <p:cNvPr name="Freeform 16" id="16"/>
          <p:cNvSpPr/>
          <p:nvPr/>
        </p:nvSpPr>
        <p:spPr>
          <a:xfrm flipH="false" flipV="false" rot="0">
            <a:off x="2871691" y="2895122"/>
            <a:ext cx="12544618" cy="4594466"/>
          </a:xfrm>
          <a:custGeom>
            <a:avLst/>
            <a:gdLst/>
            <a:ahLst/>
            <a:cxnLst/>
            <a:rect r="r" b="b" t="t" l="l"/>
            <a:pathLst>
              <a:path h="4594466" w="12544618">
                <a:moveTo>
                  <a:pt x="0" y="0"/>
                </a:moveTo>
                <a:lnTo>
                  <a:pt x="12544618" y="0"/>
                </a:lnTo>
                <a:lnTo>
                  <a:pt x="12544618" y="4594467"/>
                </a:lnTo>
                <a:lnTo>
                  <a:pt x="0" y="4594467"/>
                </a:lnTo>
                <a:lnTo>
                  <a:pt x="0" y="0"/>
                </a:lnTo>
                <a:close/>
              </a:path>
            </a:pathLst>
          </a:custGeom>
          <a:blipFill>
            <a:blip r:embed="rId2"/>
            <a:stretch>
              <a:fillRect l="0" t="0" r="0" b="0"/>
            </a:stretch>
          </a:blipFill>
        </p:spPr>
      </p:sp>
      <p:sp>
        <p:nvSpPr>
          <p:cNvPr name="TextBox 17" id="17"/>
          <p:cNvSpPr txBox="true"/>
          <p:nvPr/>
        </p:nvSpPr>
        <p:spPr>
          <a:xfrm rot="0">
            <a:off x="-139117" y="7652804"/>
            <a:ext cx="18717165" cy="2332990"/>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In High Pickup counties, PPO (44%) and HMO-POS (32%) dominated exits — ACHP replaced only 33% and 16% respectively, leaving a 40-point combined gap</a:t>
            </a: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In Low Pickup counties, D-SNP was over-covered (24% exited vs 41% ACHP offered) — strongest product alignment, yet lowest pickup</a:t>
            </a: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The pattern is consistent: where ACHP matched best, it gained least — where the gap was largest, it gained most</a:t>
            </a: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Product fit does not drive pickup. PPO and HMO-POS exits created a market vacuum — ACHP gained because beneficiaries had no comparable alternative</a:t>
            </a:r>
          </a:p>
          <a:p>
            <a:pPr algn="ctr">
              <a:lnSpc>
                <a:spcPts val="265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000219"/>
            <a:ext cx="18288000" cy="8286781"/>
            <a:chOff x="0" y="0"/>
            <a:chExt cx="4816593" cy="2182527"/>
          </a:xfrm>
        </p:grpSpPr>
        <p:sp>
          <p:nvSpPr>
            <p:cNvPr name="Freeform 3" id="3"/>
            <p:cNvSpPr/>
            <p:nvPr/>
          </p:nvSpPr>
          <p:spPr>
            <a:xfrm flipH="false" flipV="false" rot="0">
              <a:off x="0" y="0"/>
              <a:ext cx="4816592" cy="2182527"/>
            </a:xfrm>
            <a:custGeom>
              <a:avLst/>
              <a:gdLst/>
              <a:ahLst/>
              <a:cxnLst/>
              <a:rect r="r" b="b" t="t" l="l"/>
              <a:pathLst>
                <a:path h="2182527" w="4816592">
                  <a:moveTo>
                    <a:pt x="0" y="0"/>
                  </a:moveTo>
                  <a:lnTo>
                    <a:pt x="4816592" y="0"/>
                  </a:lnTo>
                  <a:lnTo>
                    <a:pt x="4816592" y="2182527"/>
                  </a:lnTo>
                  <a:lnTo>
                    <a:pt x="0" y="2182527"/>
                  </a:lnTo>
                  <a:close/>
                </a:path>
              </a:pathLst>
            </a:custGeom>
            <a:solidFill>
              <a:srgbClr val="EDC254"/>
            </a:solidFill>
          </p:spPr>
        </p:sp>
        <p:sp>
          <p:nvSpPr>
            <p:cNvPr name="TextBox 4" id="4"/>
            <p:cNvSpPr txBox="true"/>
            <p:nvPr/>
          </p:nvSpPr>
          <p:spPr>
            <a:xfrm>
              <a:off x="0" y="-47625"/>
              <a:ext cx="4816593" cy="223015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6850" y="1028700"/>
            <a:ext cx="4514850" cy="714793"/>
            <a:chOff x="0" y="0"/>
            <a:chExt cx="1189096" cy="188258"/>
          </a:xfrm>
        </p:grpSpPr>
        <p:sp>
          <p:nvSpPr>
            <p:cNvPr name="Freeform 6" id="6"/>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7" id="7"/>
            <p:cNvSpPr txBox="true"/>
            <p:nvPr/>
          </p:nvSpPr>
          <p:spPr>
            <a:xfrm>
              <a:off x="0" y="-47625"/>
              <a:ext cx="1189096" cy="23588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773756" y="1028700"/>
            <a:ext cx="800100" cy="714793"/>
            <a:chOff x="0" y="0"/>
            <a:chExt cx="210726" cy="188258"/>
          </a:xfrm>
        </p:grpSpPr>
        <p:sp>
          <p:nvSpPr>
            <p:cNvPr name="Freeform 9" id="9"/>
            <p:cNvSpPr/>
            <p:nvPr/>
          </p:nvSpPr>
          <p:spPr>
            <a:xfrm flipH="false" flipV="false" rot="0">
              <a:off x="0" y="0"/>
              <a:ext cx="210726" cy="188258"/>
            </a:xfrm>
            <a:custGeom>
              <a:avLst/>
              <a:gdLst/>
              <a:ahLst/>
              <a:cxnLst/>
              <a:rect r="r" b="b" t="t" l="l"/>
              <a:pathLst>
                <a:path h="188258" w="210726">
                  <a:moveTo>
                    <a:pt x="0" y="0"/>
                  </a:moveTo>
                  <a:lnTo>
                    <a:pt x="210726" y="0"/>
                  </a:lnTo>
                  <a:lnTo>
                    <a:pt x="210726" y="188258"/>
                  </a:lnTo>
                  <a:lnTo>
                    <a:pt x="0" y="188258"/>
                  </a:lnTo>
                  <a:close/>
                </a:path>
              </a:pathLst>
            </a:custGeom>
            <a:solidFill>
              <a:srgbClr val="EDC254"/>
            </a:solidFill>
          </p:spPr>
        </p:sp>
        <p:sp>
          <p:nvSpPr>
            <p:cNvPr name="TextBox 10" id="10"/>
            <p:cNvSpPr txBox="true"/>
            <p:nvPr/>
          </p:nvSpPr>
          <p:spPr>
            <a:xfrm>
              <a:off x="0" y="-47625"/>
              <a:ext cx="210726" cy="23588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96850" y="1028700"/>
            <a:ext cx="4514850" cy="714793"/>
            <a:chOff x="0" y="0"/>
            <a:chExt cx="1189096" cy="188258"/>
          </a:xfrm>
        </p:grpSpPr>
        <p:sp>
          <p:nvSpPr>
            <p:cNvPr name="Freeform 12" id="12"/>
            <p:cNvSpPr/>
            <p:nvPr/>
          </p:nvSpPr>
          <p:spPr>
            <a:xfrm flipH="false" flipV="false" rot="0">
              <a:off x="0" y="0"/>
              <a:ext cx="1189096" cy="188258"/>
            </a:xfrm>
            <a:custGeom>
              <a:avLst/>
              <a:gdLst/>
              <a:ahLst/>
              <a:cxnLst/>
              <a:rect r="r" b="b" t="t" l="l"/>
              <a:pathLst>
                <a:path h="188258" w="1189096">
                  <a:moveTo>
                    <a:pt x="0" y="0"/>
                  </a:moveTo>
                  <a:lnTo>
                    <a:pt x="1189096" y="0"/>
                  </a:lnTo>
                  <a:lnTo>
                    <a:pt x="1189096" y="188258"/>
                  </a:lnTo>
                  <a:lnTo>
                    <a:pt x="0" y="188258"/>
                  </a:lnTo>
                  <a:close/>
                </a:path>
              </a:pathLst>
            </a:custGeom>
            <a:solidFill>
              <a:srgbClr val="EDC254"/>
            </a:solidFill>
          </p:spPr>
        </p:sp>
        <p:sp>
          <p:nvSpPr>
            <p:cNvPr name="TextBox 13" id="13"/>
            <p:cNvSpPr txBox="true"/>
            <p:nvPr/>
          </p:nvSpPr>
          <p:spPr>
            <a:xfrm>
              <a:off x="0" y="-66675"/>
              <a:ext cx="1189096" cy="254933"/>
            </a:xfrm>
            <a:prstGeom prst="rect">
              <a:avLst/>
            </a:prstGeom>
          </p:spPr>
          <p:txBody>
            <a:bodyPr anchor="ctr" rtlCol="false" tIns="50800" lIns="50800" bIns="50800" rIns="50800"/>
            <a:lstStyle/>
            <a:p>
              <a:pPr algn="ctr">
                <a:lnSpc>
                  <a:spcPts val="4479"/>
                </a:lnSpc>
              </a:pPr>
              <a:r>
                <a:rPr lang="en-US" sz="3199">
                  <a:solidFill>
                    <a:srgbClr val="000000"/>
                  </a:solidFill>
                  <a:latin typeface="Archivo Black"/>
                  <a:ea typeface="Archivo Black"/>
                  <a:cs typeface="Archivo Black"/>
                  <a:sym typeface="Archivo Black"/>
                </a:rPr>
                <a:t>EDA-UPDATE</a:t>
              </a:r>
            </a:p>
          </p:txBody>
        </p:sp>
      </p:grpSp>
      <p:sp>
        <p:nvSpPr>
          <p:cNvPr name="TextBox 14" id="14"/>
          <p:cNvSpPr txBox="true"/>
          <p:nvPr/>
        </p:nvSpPr>
        <p:spPr>
          <a:xfrm rot="0">
            <a:off x="892972" y="2175643"/>
            <a:ext cx="15779257" cy="596900"/>
          </a:xfrm>
          <a:prstGeom prst="rect">
            <a:avLst/>
          </a:prstGeom>
        </p:spPr>
        <p:txBody>
          <a:bodyPr anchor="t" rtlCol="false" tIns="0" lIns="0" bIns="0" rIns="0">
            <a:spAutoFit/>
          </a:bodyPr>
          <a:lstStyle/>
          <a:p>
            <a:pPr algn="r">
              <a:lnSpc>
                <a:spcPts val="4900"/>
              </a:lnSpc>
              <a:spcBef>
                <a:spcPct val="0"/>
              </a:spcBef>
            </a:pPr>
            <a:r>
              <a:rPr lang="en-US" b="true" sz="3500" i="true">
                <a:solidFill>
                  <a:srgbClr val="000000"/>
                </a:solidFill>
                <a:latin typeface="League Spartan"/>
                <a:ea typeface="League Spartan"/>
                <a:cs typeface="League Spartan"/>
                <a:sym typeface="League Spartan"/>
              </a:rPr>
              <a:t>Where Strong Competitors Exit, Quality Falls and ACHP Gains Most</a:t>
            </a:r>
          </a:p>
        </p:txBody>
      </p:sp>
      <p:sp>
        <p:nvSpPr>
          <p:cNvPr name="TextBox 15" id="15"/>
          <p:cNvSpPr txBox="true"/>
          <p:nvPr/>
        </p:nvSpPr>
        <p:spPr>
          <a:xfrm rot="0">
            <a:off x="15532863" y="9402540"/>
            <a:ext cx="4405754"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Dixin Guo</a:t>
            </a:r>
          </a:p>
        </p:txBody>
      </p:sp>
      <p:sp>
        <p:nvSpPr>
          <p:cNvPr name="TextBox 16" id="16"/>
          <p:cNvSpPr txBox="true"/>
          <p:nvPr/>
        </p:nvSpPr>
        <p:spPr>
          <a:xfrm rot="0">
            <a:off x="9272159" y="3952219"/>
            <a:ext cx="8628803" cy="4666615"/>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Low Pickup counties: median star delta +0.08, IQR mostly above zero — weak plans exited, market quality improved and remained competitive</a:t>
            </a: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High Pickup counties: median star delta near zero, IQR extending sharply to -0.27 — strong competitors exited, market quality deteriorated significantly</a:t>
            </a: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The divergence is statistically significant (p &lt; 0.0001) — quality decline in High Pickup counties is not random</a:t>
            </a:r>
          </a:p>
          <a:p>
            <a:pPr algn="l" marL="410209" indent="-205105" lvl="1">
              <a:lnSpc>
                <a:spcPts val="2659"/>
              </a:lnSpc>
              <a:buFont typeface="Arial"/>
              <a:buChar char="•"/>
            </a:pPr>
            <a:r>
              <a:rPr lang="en-US" sz="1899">
                <a:solidFill>
                  <a:srgbClr val="000000"/>
                </a:solidFill>
                <a:latin typeface="Archivo Black"/>
                <a:ea typeface="Archivo Black"/>
                <a:cs typeface="Archivo Black"/>
                <a:sym typeface="Archivo Black"/>
              </a:rPr>
              <a:t>When strong plans exit, beneficiaries lose their best options and ACHP becomes the most viable alternative — declining star ratings are not a warning, they are the earliest signal that a competitive vacuum is forming and ACHP's next opportunity is opening</a:t>
            </a:r>
          </a:p>
          <a:p>
            <a:pPr algn="l">
              <a:lnSpc>
                <a:spcPts val="2659"/>
              </a:lnSpc>
            </a:pPr>
          </a:p>
        </p:txBody>
      </p:sp>
      <p:sp>
        <p:nvSpPr>
          <p:cNvPr name="TextBox 17" id="17"/>
          <p:cNvSpPr txBox="true"/>
          <p:nvPr/>
        </p:nvSpPr>
        <p:spPr>
          <a:xfrm rot="0">
            <a:off x="9535552" y="3367667"/>
            <a:ext cx="6362475" cy="332740"/>
          </a:xfrm>
          <a:prstGeom prst="rect">
            <a:avLst/>
          </a:prstGeom>
        </p:spPr>
        <p:txBody>
          <a:bodyPr anchor="t" rtlCol="false" tIns="0" lIns="0" bIns="0" rIns="0">
            <a:spAutoFit/>
          </a:bodyPr>
          <a:lstStyle/>
          <a:p>
            <a:pPr algn="l">
              <a:lnSpc>
                <a:spcPts val="2659"/>
              </a:lnSpc>
            </a:pPr>
            <a:r>
              <a:rPr lang="en-US" sz="1899">
                <a:solidFill>
                  <a:srgbClr val="000000"/>
                </a:solidFill>
                <a:latin typeface="Archivo Black"/>
                <a:ea typeface="Archivo Black"/>
                <a:cs typeface="Archivo Black"/>
                <a:sym typeface="Archivo Black"/>
              </a:rPr>
              <a:t>Findings：</a:t>
            </a:r>
          </a:p>
        </p:txBody>
      </p:sp>
      <p:sp>
        <p:nvSpPr>
          <p:cNvPr name="Freeform 18" id="18"/>
          <p:cNvSpPr/>
          <p:nvPr/>
        </p:nvSpPr>
        <p:spPr>
          <a:xfrm flipH="false" flipV="false" rot="0">
            <a:off x="1680679" y="3271369"/>
            <a:ext cx="6986253" cy="5594159"/>
          </a:xfrm>
          <a:custGeom>
            <a:avLst/>
            <a:gdLst/>
            <a:ahLst/>
            <a:cxnLst/>
            <a:rect r="r" b="b" t="t" l="l"/>
            <a:pathLst>
              <a:path h="5594159" w="6986253">
                <a:moveTo>
                  <a:pt x="0" y="0"/>
                </a:moveTo>
                <a:lnTo>
                  <a:pt x="6986253" y="0"/>
                </a:lnTo>
                <a:lnTo>
                  <a:pt x="6986253" y="5594159"/>
                </a:lnTo>
                <a:lnTo>
                  <a:pt x="0" y="5594159"/>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4570357"/>
            <a:ext cx="3328150" cy="1146286"/>
            <a:chOff x="0" y="0"/>
            <a:chExt cx="876550" cy="301903"/>
          </a:xfrm>
        </p:grpSpPr>
        <p:sp>
          <p:nvSpPr>
            <p:cNvPr name="Freeform 3" id="3"/>
            <p:cNvSpPr/>
            <p:nvPr/>
          </p:nvSpPr>
          <p:spPr>
            <a:xfrm flipH="false" flipV="false" rot="0">
              <a:off x="0" y="0"/>
              <a:ext cx="876550" cy="301903"/>
            </a:xfrm>
            <a:custGeom>
              <a:avLst/>
              <a:gdLst/>
              <a:ahLst/>
              <a:cxnLst/>
              <a:rect r="r" b="b" t="t" l="l"/>
              <a:pathLst>
                <a:path h="301903" w="876550">
                  <a:moveTo>
                    <a:pt x="0" y="0"/>
                  </a:moveTo>
                  <a:lnTo>
                    <a:pt x="876550" y="0"/>
                  </a:lnTo>
                  <a:lnTo>
                    <a:pt x="876550" y="301903"/>
                  </a:lnTo>
                  <a:lnTo>
                    <a:pt x="0" y="301903"/>
                  </a:lnTo>
                  <a:close/>
                </a:path>
              </a:pathLst>
            </a:custGeom>
            <a:solidFill>
              <a:srgbClr val="EDC254"/>
            </a:solidFill>
          </p:spPr>
        </p:sp>
        <p:sp>
          <p:nvSpPr>
            <p:cNvPr name="TextBox 4" id="4"/>
            <p:cNvSpPr txBox="true"/>
            <p:nvPr/>
          </p:nvSpPr>
          <p:spPr>
            <a:xfrm>
              <a:off x="0" y="-47625"/>
              <a:ext cx="876550" cy="349528"/>
            </a:xfrm>
            <a:prstGeom prst="rect">
              <a:avLst/>
            </a:prstGeom>
          </p:spPr>
          <p:txBody>
            <a:bodyPr anchor="ctr" rtlCol="false" tIns="50800" lIns="50800" bIns="50800" rIns="50800"/>
            <a:lstStyle/>
            <a:p>
              <a:pPr algn="ctr">
                <a:lnSpc>
                  <a:spcPts val="2659"/>
                </a:lnSpc>
              </a:pPr>
              <a:r>
                <a:rPr lang="en-US" sz="1899">
                  <a:solidFill>
                    <a:srgbClr val="FFFFFF"/>
                  </a:solidFill>
                  <a:latin typeface="Archivo Black"/>
                  <a:ea typeface="Archivo Black"/>
                  <a:cs typeface="Archivo Black"/>
                  <a:sym typeface="Archivo Black"/>
                </a:rPr>
                <a:t>COMPLICATION</a:t>
              </a:r>
            </a:p>
          </p:txBody>
        </p:sp>
      </p:grpSp>
      <p:sp>
        <p:nvSpPr>
          <p:cNvPr name="TextBox 5" id="5"/>
          <p:cNvSpPr txBox="true"/>
          <p:nvPr/>
        </p:nvSpPr>
        <p:spPr>
          <a:xfrm rot="0">
            <a:off x="1198135" y="1017203"/>
            <a:ext cx="8707289" cy="1061536"/>
          </a:xfrm>
          <a:prstGeom prst="rect">
            <a:avLst/>
          </a:prstGeom>
        </p:spPr>
        <p:txBody>
          <a:bodyPr anchor="t" rtlCol="false" tIns="0" lIns="0" bIns="0" rIns="0">
            <a:spAutoFit/>
          </a:bodyPr>
          <a:lstStyle/>
          <a:p>
            <a:pPr algn="l">
              <a:lnSpc>
                <a:spcPts val="8690"/>
              </a:lnSpc>
              <a:spcBef>
                <a:spcPct val="0"/>
              </a:spcBef>
            </a:pPr>
            <a:r>
              <a:rPr lang="en-US" sz="6207">
                <a:solidFill>
                  <a:srgbClr val="000000"/>
                </a:solidFill>
                <a:latin typeface="League Spartan"/>
                <a:ea typeface="League Spartan"/>
                <a:cs typeface="League Spartan"/>
                <a:sym typeface="League Spartan"/>
              </a:rPr>
              <a:t>SCQR FRAMEWORK</a:t>
            </a:r>
          </a:p>
        </p:txBody>
      </p:sp>
      <p:sp>
        <p:nvSpPr>
          <p:cNvPr name="TextBox 6" id="6"/>
          <p:cNvSpPr txBox="true"/>
          <p:nvPr/>
        </p:nvSpPr>
        <p:spPr>
          <a:xfrm rot="0">
            <a:off x="4789784" y="2998790"/>
            <a:ext cx="13036404" cy="907574"/>
          </a:xfrm>
          <a:prstGeom prst="rect">
            <a:avLst/>
          </a:prstGeom>
        </p:spPr>
        <p:txBody>
          <a:bodyPr anchor="t" rtlCol="false" tIns="0" lIns="0" bIns="0" rIns="0">
            <a:spAutoFit/>
          </a:bodyPr>
          <a:lstStyle/>
          <a:p>
            <a:pPr algn="l">
              <a:lnSpc>
                <a:spcPts val="3526"/>
              </a:lnSpc>
              <a:spcBef>
                <a:spcPct val="0"/>
              </a:spcBef>
            </a:pPr>
            <a:r>
              <a:rPr lang="en-US" sz="2518">
                <a:solidFill>
                  <a:srgbClr val="2A0947"/>
                </a:solidFill>
                <a:latin typeface="Poppins"/>
                <a:ea typeface="Poppins"/>
                <a:cs typeface="Poppins"/>
                <a:sym typeface="Poppins"/>
              </a:rPr>
              <a:t>National MA carriers (CVS, UHC, HCSC) exited 607 plans across 43 states and 1,268 counties in 2025- 2026, displacing thousands of beneficiaries </a:t>
            </a:r>
          </a:p>
        </p:txBody>
      </p:sp>
      <p:sp>
        <p:nvSpPr>
          <p:cNvPr name="TextBox 7" id="7"/>
          <p:cNvSpPr txBox="true"/>
          <p:nvPr/>
        </p:nvSpPr>
        <p:spPr>
          <a:xfrm rot="0">
            <a:off x="4789784" y="4427776"/>
            <a:ext cx="12665901" cy="1355249"/>
          </a:xfrm>
          <a:prstGeom prst="rect">
            <a:avLst/>
          </a:prstGeom>
        </p:spPr>
        <p:txBody>
          <a:bodyPr anchor="t" rtlCol="false" tIns="0" lIns="0" bIns="0" rIns="0">
            <a:spAutoFit/>
          </a:bodyPr>
          <a:lstStyle/>
          <a:p>
            <a:pPr algn="l" marL="0" indent="0" lvl="0">
              <a:lnSpc>
                <a:spcPts val="3526"/>
              </a:lnSpc>
              <a:spcBef>
                <a:spcPct val="0"/>
              </a:spcBef>
            </a:pPr>
            <a:r>
              <a:rPr lang="en-US" sz="2518">
                <a:solidFill>
                  <a:srgbClr val="2A0947"/>
                </a:solidFill>
                <a:latin typeface="Poppins"/>
                <a:ea typeface="Poppins"/>
                <a:cs typeface="Poppins"/>
                <a:sym typeface="Poppins"/>
              </a:rPr>
              <a:t>ACHP share grew f</a:t>
            </a:r>
            <a:r>
              <a:rPr lang="en-US" sz="2518" strike="noStrike" u="none">
                <a:solidFill>
                  <a:srgbClr val="2A0947"/>
                </a:solidFill>
                <a:latin typeface="Poppins"/>
                <a:ea typeface="Poppins"/>
                <a:cs typeface="Poppins"/>
                <a:sym typeface="Poppins"/>
              </a:rPr>
              <a:t>rom 10.22% to 11.04% in exit counties vs. 10.11% to 10.39% in stables, but the driver isn't exit count or product fit</a:t>
            </a:r>
            <a:r>
              <a:rPr lang="en-US" sz="2518" strike="noStrike" u="none">
                <a:solidFill>
                  <a:srgbClr val="2A0947"/>
                </a:solidFill>
                <a:latin typeface="Poppins"/>
                <a:ea typeface="Poppins"/>
                <a:cs typeface="Poppins"/>
                <a:sym typeface="Poppins"/>
              </a:rPr>
              <a:t>. Hig</a:t>
            </a:r>
            <a:r>
              <a:rPr lang="en-US" sz="2518" strike="noStrike" u="none">
                <a:solidFill>
                  <a:srgbClr val="2A0947"/>
                </a:solidFill>
                <a:latin typeface="Poppins"/>
                <a:ea typeface="Poppins"/>
                <a:cs typeface="Poppins"/>
                <a:sym typeface="Poppins"/>
              </a:rPr>
              <a:t>h-pickup counties saw star ratings fall to -0.27 post-exit suggesting quality decline, not plan match. </a:t>
            </a:r>
          </a:p>
        </p:txBody>
      </p:sp>
      <p:grpSp>
        <p:nvGrpSpPr>
          <p:cNvPr name="Group 8" id="8"/>
          <p:cNvGrpSpPr/>
          <p:nvPr/>
        </p:nvGrpSpPr>
        <p:grpSpPr>
          <a:xfrm rot="0">
            <a:off x="0" y="0"/>
            <a:ext cx="3086100" cy="826135"/>
            <a:chOff x="0" y="0"/>
            <a:chExt cx="812800" cy="217583"/>
          </a:xfrm>
        </p:grpSpPr>
        <p:sp>
          <p:nvSpPr>
            <p:cNvPr name="Freeform 9" id="9"/>
            <p:cNvSpPr/>
            <p:nvPr/>
          </p:nvSpPr>
          <p:spPr>
            <a:xfrm flipH="false" flipV="false" rot="0">
              <a:off x="0" y="0"/>
              <a:ext cx="812800" cy="217583"/>
            </a:xfrm>
            <a:custGeom>
              <a:avLst/>
              <a:gdLst/>
              <a:ahLst/>
              <a:cxnLst/>
              <a:rect r="r" b="b" t="t" l="l"/>
              <a:pathLst>
                <a:path h="217583" w="812800">
                  <a:moveTo>
                    <a:pt x="0" y="0"/>
                  </a:moveTo>
                  <a:lnTo>
                    <a:pt x="812800" y="0"/>
                  </a:lnTo>
                  <a:lnTo>
                    <a:pt x="812800" y="217583"/>
                  </a:lnTo>
                  <a:lnTo>
                    <a:pt x="0" y="217583"/>
                  </a:lnTo>
                  <a:close/>
                </a:path>
              </a:pathLst>
            </a:custGeom>
            <a:solidFill>
              <a:srgbClr val="EDC254"/>
            </a:solidFill>
          </p:spPr>
        </p:sp>
        <p:sp>
          <p:nvSpPr>
            <p:cNvPr name="TextBox 10" id="10"/>
            <p:cNvSpPr txBox="true"/>
            <p:nvPr/>
          </p:nvSpPr>
          <p:spPr>
            <a:xfrm>
              <a:off x="0" y="-47625"/>
              <a:ext cx="812800" cy="26520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2932380"/>
            <a:ext cx="3328150" cy="1116595"/>
            <a:chOff x="0" y="0"/>
            <a:chExt cx="876550" cy="294083"/>
          </a:xfrm>
        </p:grpSpPr>
        <p:sp>
          <p:nvSpPr>
            <p:cNvPr name="Freeform 12" id="12"/>
            <p:cNvSpPr/>
            <p:nvPr/>
          </p:nvSpPr>
          <p:spPr>
            <a:xfrm flipH="false" flipV="false" rot="0">
              <a:off x="0" y="0"/>
              <a:ext cx="876550" cy="294083"/>
            </a:xfrm>
            <a:custGeom>
              <a:avLst/>
              <a:gdLst/>
              <a:ahLst/>
              <a:cxnLst/>
              <a:rect r="r" b="b" t="t" l="l"/>
              <a:pathLst>
                <a:path h="294083" w="876550">
                  <a:moveTo>
                    <a:pt x="0" y="0"/>
                  </a:moveTo>
                  <a:lnTo>
                    <a:pt x="876550" y="0"/>
                  </a:lnTo>
                  <a:lnTo>
                    <a:pt x="876550" y="294083"/>
                  </a:lnTo>
                  <a:lnTo>
                    <a:pt x="0" y="294083"/>
                  </a:lnTo>
                  <a:close/>
                </a:path>
              </a:pathLst>
            </a:custGeom>
            <a:solidFill>
              <a:srgbClr val="EDC254"/>
            </a:solidFill>
          </p:spPr>
        </p:sp>
        <p:sp>
          <p:nvSpPr>
            <p:cNvPr name="TextBox 13" id="13"/>
            <p:cNvSpPr txBox="true"/>
            <p:nvPr/>
          </p:nvSpPr>
          <p:spPr>
            <a:xfrm>
              <a:off x="0" y="-47625"/>
              <a:ext cx="876550" cy="341708"/>
            </a:xfrm>
            <a:prstGeom prst="rect">
              <a:avLst/>
            </a:prstGeom>
          </p:spPr>
          <p:txBody>
            <a:bodyPr anchor="ctr" rtlCol="false" tIns="50800" lIns="50800" bIns="50800" rIns="50800"/>
            <a:lstStyle/>
            <a:p>
              <a:pPr algn="ctr">
                <a:lnSpc>
                  <a:spcPts val="2659"/>
                </a:lnSpc>
              </a:pPr>
              <a:r>
                <a:rPr lang="en-US" sz="1899">
                  <a:solidFill>
                    <a:srgbClr val="FFFFFF"/>
                  </a:solidFill>
                  <a:latin typeface="Archivo Black"/>
                  <a:ea typeface="Archivo Black"/>
                  <a:cs typeface="Archivo Black"/>
                  <a:sym typeface="Archivo Black"/>
                </a:rPr>
                <a:t>SITUATION</a:t>
              </a:r>
            </a:p>
          </p:txBody>
        </p:sp>
      </p:grpSp>
      <p:grpSp>
        <p:nvGrpSpPr>
          <p:cNvPr name="Group 14" id="14"/>
          <p:cNvGrpSpPr/>
          <p:nvPr/>
        </p:nvGrpSpPr>
        <p:grpSpPr>
          <a:xfrm rot="0">
            <a:off x="1028700" y="6355486"/>
            <a:ext cx="3328150" cy="985053"/>
            <a:chOff x="0" y="0"/>
            <a:chExt cx="876550" cy="259438"/>
          </a:xfrm>
        </p:grpSpPr>
        <p:sp>
          <p:nvSpPr>
            <p:cNvPr name="Freeform 15" id="15"/>
            <p:cNvSpPr/>
            <p:nvPr/>
          </p:nvSpPr>
          <p:spPr>
            <a:xfrm flipH="false" flipV="false" rot="0">
              <a:off x="0" y="0"/>
              <a:ext cx="876550" cy="259438"/>
            </a:xfrm>
            <a:custGeom>
              <a:avLst/>
              <a:gdLst/>
              <a:ahLst/>
              <a:cxnLst/>
              <a:rect r="r" b="b" t="t" l="l"/>
              <a:pathLst>
                <a:path h="259438" w="876550">
                  <a:moveTo>
                    <a:pt x="0" y="0"/>
                  </a:moveTo>
                  <a:lnTo>
                    <a:pt x="876550" y="0"/>
                  </a:lnTo>
                  <a:lnTo>
                    <a:pt x="876550" y="259438"/>
                  </a:lnTo>
                  <a:lnTo>
                    <a:pt x="0" y="259438"/>
                  </a:lnTo>
                  <a:close/>
                </a:path>
              </a:pathLst>
            </a:custGeom>
            <a:solidFill>
              <a:srgbClr val="EDC254"/>
            </a:solidFill>
          </p:spPr>
        </p:sp>
        <p:sp>
          <p:nvSpPr>
            <p:cNvPr name="TextBox 16" id="16"/>
            <p:cNvSpPr txBox="true"/>
            <p:nvPr/>
          </p:nvSpPr>
          <p:spPr>
            <a:xfrm>
              <a:off x="0" y="-47625"/>
              <a:ext cx="876550" cy="307063"/>
            </a:xfrm>
            <a:prstGeom prst="rect">
              <a:avLst/>
            </a:prstGeom>
          </p:spPr>
          <p:txBody>
            <a:bodyPr anchor="ctr" rtlCol="false" tIns="50800" lIns="50800" bIns="50800" rIns="50800"/>
            <a:lstStyle/>
            <a:p>
              <a:pPr algn="ctr">
                <a:lnSpc>
                  <a:spcPts val="2659"/>
                </a:lnSpc>
              </a:pPr>
              <a:r>
                <a:rPr lang="en-US" sz="1899">
                  <a:solidFill>
                    <a:srgbClr val="FFFFFF"/>
                  </a:solidFill>
                  <a:latin typeface="Archivo Black"/>
                  <a:ea typeface="Archivo Black"/>
                  <a:cs typeface="Archivo Black"/>
                  <a:sym typeface="Archivo Black"/>
                </a:rPr>
                <a:t>QUESTION</a:t>
              </a:r>
            </a:p>
          </p:txBody>
        </p:sp>
      </p:grpSp>
      <p:grpSp>
        <p:nvGrpSpPr>
          <p:cNvPr name="Group 17" id="17"/>
          <p:cNvGrpSpPr/>
          <p:nvPr/>
        </p:nvGrpSpPr>
        <p:grpSpPr>
          <a:xfrm rot="0">
            <a:off x="1028700" y="7786935"/>
            <a:ext cx="3328150" cy="1066136"/>
            <a:chOff x="0" y="0"/>
            <a:chExt cx="876550" cy="280793"/>
          </a:xfrm>
        </p:grpSpPr>
        <p:sp>
          <p:nvSpPr>
            <p:cNvPr name="Freeform 18" id="18"/>
            <p:cNvSpPr/>
            <p:nvPr/>
          </p:nvSpPr>
          <p:spPr>
            <a:xfrm flipH="false" flipV="false" rot="0">
              <a:off x="0" y="0"/>
              <a:ext cx="876550" cy="280793"/>
            </a:xfrm>
            <a:custGeom>
              <a:avLst/>
              <a:gdLst/>
              <a:ahLst/>
              <a:cxnLst/>
              <a:rect r="r" b="b" t="t" l="l"/>
              <a:pathLst>
                <a:path h="280793" w="876550">
                  <a:moveTo>
                    <a:pt x="0" y="0"/>
                  </a:moveTo>
                  <a:lnTo>
                    <a:pt x="876550" y="0"/>
                  </a:lnTo>
                  <a:lnTo>
                    <a:pt x="876550" y="280793"/>
                  </a:lnTo>
                  <a:lnTo>
                    <a:pt x="0" y="280793"/>
                  </a:lnTo>
                  <a:close/>
                </a:path>
              </a:pathLst>
            </a:custGeom>
            <a:solidFill>
              <a:srgbClr val="EDC254"/>
            </a:solidFill>
          </p:spPr>
        </p:sp>
        <p:sp>
          <p:nvSpPr>
            <p:cNvPr name="TextBox 19" id="19"/>
            <p:cNvSpPr txBox="true"/>
            <p:nvPr/>
          </p:nvSpPr>
          <p:spPr>
            <a:xfrm>
              <a:off x="0" y="-47625"/>
              <a:ext cx="876550" cy="328418"/>
            </a:xfrm>
            <a:prstGeom prst="rect">
              <a:avLst/>
            </a:prstGeom>
          </p:spPr>
          <p:txBody>
            <a:bodyPr anchor="ctr" rtlCol="false" tIns="50800" lIns="50800" bIns="50800" rIns="50800"/>
            <a:lstStyle/>
            <a:p>
              <a:pPr algn="ctr">
                <a:lnSpc>
                  <a:spcPts val="2659"/>
                </a:lnSpc>
              </a:pPr>
              <a:r>
                <a:rPr lang="en-US" sz="1899">
                  <a:solidFill>
                    <a:srgbClr val="FFFFFF"/>
                  </a:solidFill>
                  <a:latin typeface="Archivo Black"/>
                  <a:ea typeface="Archivo Black"/>
                  <a:cs typeface="Archivo Black"/>
                  <a:sym typeface="Archivo Black"/>
                </a:rPr>
                <a:t>RESOLUTION</a:t>
              </a:r>
            </a:p>
          </p:txBody>
        </p:sp>
      </p:grpSp>
      <p:sp>
        <p:nvSpPr>
          <p:cNvPr name="TextBox 20" id="20"/>
          <p:cNvSpPr txBox="true"/>
          <p:nvPr/>
        </p:nvSpPr>
        <p:spPr>
          <a:xfrm rot="0">
            <a:off x="4789784" y="6279286"/>
            <a:ext cx="13036404" cy="907574"/>
          </a:xfrm>
          <a:prstGeom prst="rect">
            <a:avLst/>
          </a:prstGeom>
        </p:spPr>
        <p:txBody>
          <a:bodyPr anchor="t" rtlCol="false" tIns="0" lIns="0" bIns="0" rIns="0">
            <a:spAutoFit/>
          </a:bodyPr>
          <a:lstStyle/>
          <a:p>
            <a:pPr algn="l">
              <a:lnSpc>
                <a:spcPts val="3526"/>
              </a:lnSpc>
              <a:spcBef>
                <a:spcPct val="0"/>
              </a:spcBef>
            </a:pPr>
            <a:r>
              <a:rPr lang="en-US" sz="2518">
                <a:solidFill>
                  <a:srgbClr val="2A0947"/>
                </a:solidFill>
                <a:latin typeface="Poppins"/>
                <a:ea typeface="Poppins"/>
                <a:cs typeface="Poppins"/>
                <a:sym typeface="Poppins"/>
              </a:rPr>
              <a:t>When big insurers leave a market, which markets does ACHP win and can falling star ratings and rising market concentration predict the next opportunity?</a:t>
            </a:r>
          </a:p>
        </p:txBody>
      </p:sp>
      <p:sp>
        <p:nvSpPr>
          <p:cNvPr name="TextBox 21" id="21"/>
          <p:cNvSpPr txBox="true"/>
          <p:nvPr/>
        </p:nvSpPr>
        <p:spPr>
          <a:xfrm rot="0">
            <a:off x="4789784" y="7604279"/>
            <a:ext cx="13036404" cy="1355249"/>
          </a:xfrm>
          <a:prstGeom prst="rect">
            <a:avLst/>
          </a:prstGeom>
        </p:spPr>
        <p:txBody>
          <a:bodyPr anchor="t" rtlCol="false" tIns="0" lIns="0" bIns="0" rIns="0">
            <a:spAutoFit/>
          </a:bodyPr>
          <a:lstStyle/>
          <a:p>
            <a:pPr algn="l">
              <a:lnSpc>
                <a:spcPts val="3526"/>
              </a:lnSpc>
              <a:spcBef>
                <a:spcPct val="0"/>
              </a:spcBef>
            </a:pPr>
            <a:r>
              <a:rPr lang="en-US" sz="2518">
                <a:solidFill>
                  <a:srgbClr val="2A0947"/>
                </a:solidFill>
                <a:latin typeface="Poppins"/>
                <a:ea typeface="Poppins"/>
                <a:cs typeface="Poppins"/>
                <a:sym typeface="Poppins"/>
              </a:rPr>
              <a:t>Using CMS enrollment, star ratings, and HHI shifts, we triage counties into Expand (185: concentration↑ &amp; ACHP share↑) and Defend (73: concentration↑ &amp; ACHP share↓) so ACHP acts before displaced beneficiaries make switching decisions.</a:t>
            </a:r>
          </a:p>
        </p:txBody>
      </p:sp>
      <p:sp>
        <p:nvSpPr>
          <p:cNvPr name="TextBox 22" id="22"/>
          <p:cNvSpPr txBox="true"/>
          <p:nvPr/>
        </p:nvSpPr>
        <p:spPr>
          <a:xfrm rot="0">
            <a:off x="14322576" y="9535114"/>
            <a:ext cx="3965424"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Ananya Jhamb</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EDC254"/>
        </a:solidFill>
      </p:bgPr>
    </p:bg>
    <p:spTree>
      <p:nvGrpSpPr>
        <p:cNvPr id="1" name=""/>
        <p:cNvGrpSpPr/>
        <p:nvPr/>
      </p:nvGrpSpPr>
      <p:grpSpPr>
        <a:xfrm>
          <a:off x="0" y="0"/>
          <a:ext cx="0" cy="0"/>
          <a:chOff x="0" y="0"/>
          <a:chExt cx="0" cy="0"/>
        </a:xfrm>
      </p:grpSpPr>
      <p:sp>
        <p:nvSpPr>
          <p:cNvPr name="TextBox 2" id="2"/>
          <p:cNvSpPr txBox="true"/>
          <p:nvPr/>
        </p:nvSpPr>
        <p:spPr>
          <a:xfrm rot="0">
            <a:off x="835929" y="764958"/>
            <a:ext cx="7585075" cy="980608"/>
          </a:xfrm>
          <a:prstGeom prst="rect">
            <a:avLst/>
          </a:prstGeom>
        </p:spPr>
        <p:txBody>
          <a:bodyPr anchor="t" rtlCol="false" tIns="0" lIns="0" bIns="0" rIns="0">
            <a:spAutoFit/>
          </a:bodyPr>
          <a:lstStyle/>
          <a:p>
            <a:pPr algn="l">
              <a:lnSpc>
                <a:spcPts val="8137"/>
              </a:lnSpc>
              <a:spcBef>
                <a:spcPct val="0"/>
              </a:spcBef>
            </a:pPr>
            <a:r>
              <a:rPr lang="en-US" sz="5812">
                <a:solidFill>
                  <a:srgbClr val="000000"/>
                </a:solidFill>
                <a:latin typeface="League Spartan"/>
                <a:ea typeface="League Spartan"/>
                <a:cs typeface="League Spartan"/>
                <a:sym typeface="League Spartan"/>
              </a:rPr>
              <a:t>FINDINGS</a:t>
            </a:r>
          </a:p>
        </p:txBody>
      </p:sp>
      <p:sp>
        <p:nvSpPr>
          <p:cNvPr name="TextBox 3" id="3"/>
          <p:cNvSpPr txBox="true"/>
          <p:nvPr/>
        </p:nvSpPr>
        <p:spPr>
          <a:xfrm rot="0">
            <a:off x="-119550" y="9012555"/>
            <a:ext cx="6106221" cy="843915"/>
          </a:xfrm>
          <a:prstGeom prst="rect">
            <a:avLst/>
          </a:prstGeom>
        </p:spPr>
        <p:txBody>
          <a:bodyPr anchor="t" rtlCol="false" tIns="0" lIns="0" bIns="0" rIns="0">
            <a:spAutoFit/>
          </a:bodyPr>
          <a:lstStyle/>
          <a:p>
            <a:pPr algn="ctr">
              <a:lnSpc>
                <a:spcPts val="3359"/>
              </a:lnSpc>
            </a:pPr>
          </a:p>
          <a:p>
            <a:pPr algn="ctr">
              <a:lnSpc>
                <a:spcPts val="3359"/>
              </a:lnSpc>
              <a:spcBef>
                <a:spcPct val="0"/>
              </a:spcBef>
            </a:pPr>
            <a:r>
              <a:rPr lang="en-US" sz="2399">
                <a:solidFill>
                  <a:srgbClr val="000000"/>
                </a:solidFill>
                <a:latin typeface="Poppins"/>
                <a:ea typeface="Poppins"/>
                <a:cs typeface="Poppins"/>
                <a:sym typeface="Poppins"/>
              </a:rPr>
              <a:t>Shaibah Raiyan</a:t>
            </a:r>
          </a:p>
        </p:txBody>
      </p:sp>
      <p:sp>
        <p:nvSpPr>
          <p:cNvPr name="TextBox 4" id="4"/>
          <p:cNvSpPr txBox="true"/>
          <p:nvPr/>
        </p:nvSpPr>
        <p:spPr>
          <a:xfrm rot="0">
            <a:off x="835929" y="2124146"/>
            <a:ext cx="12808914" cy="6500303"/>
          </a:xfrm>
          <a:prstGeom prst="rect">
            <a:avLst/>
          </a:prstGeom>
        </p:spPr>
        <p:txBody>
          <a:bodyPr anchor="t" rtlCol="false" tIns="0" lIns="0" bIns="0" rIns="0">
            <a:spAutoFit/>
          </a:bodyPr>
          <a:lstStyle/>
          <a:p>
            <a:pPr algn="l" marL="530588" indent="-265294" lvl="1">
              <a:lnSpc>
                <a:spcPts val="3440"/>
              </a:lnSpc>
              <a:spcBef>
                <a:spcPct val="0"/>
              </a:spcBef>
              <a:buFont typeface="Arial"/>
              <a:buChar char="•"/>
            </a:pPr>
            <a:r>
              <a:rPr lang="en-US" sz="2457" strike="noStrike" u="none">
                <a:solidFill>
                  <a:srgbClr val="000000"/>
                </a:solidFill>
                <a:latin typeface="Poppins"/>
                <a:ea typeface="Poppins"/>
                <a:cs typeface="Poppins"/>
                <a:sym typeface="Poppins"/>
              </a:rPr>
              <a:t>Market Share Shift: While ACHP enrollment increased broadly across both exit and non-exit counties, market share gains were significantly pronounced in areas with competitor flight. ACHP gained 0.82 percentage points in market share in exit counties, compared to only 0.28 percentage points in non-exit counties.</a:t>
            </a:r>
          </a:p>
          <a:p>
            <a:pPr algn="l" marL="530588" indent="-265294" lvl="1">
              <a:lnSpc>
                <a:spcPts val="3440"/>
              </a:lnSpc>
              <a:spcBef>
                <a:spcPct val="0"/>
              </a:spcBef>
              <a:buFont typeface="Arial"/>
              <a:buChar char="•"/>
            </a:pPr>
            <a:r>
              <a:rPr lang="en-US" sz="2457" strike="noStrike" u="none">
                <a:solidFill>
                  <a:srgbClr val="000000"/>
                </a:solidFill>
                <a:latin typeface="Poppins"/>
                <a:ea typeface="Poppins"/>
                <a:cs typeface="Poppins"/>
                <a:sym typeface="Poppins"/>
              </a:rPr>
              <a:t>Timing of Growth: The divergence in market share became starkly visible starting in late 2025 and early 2026, perfectly aligning with the timing of competitor plan exits.</a:t>
            </a:r>
          </a:p>
          <a:p>
            <a:pPr algn="l" marL="552177" indent="-276089" lvl="1">
              <a:lnSpc>
                <a:spcPts val="3580"/>
              </a:lnSpc>
              <a:spcBef>
                <a:spcPct val="0"/>
              </a:spcBef>
              <a:buFont typeface="Arial"/>
              <a:buChar char="•"/>
            </a:pPr>
            <a:r>
              <a:rPr lang="en-US" sz="2557" strike="noStrike" u="none">
                <a:solidFill>
                  <a:srgbClr val="000000"/>
                </a:solidFill>
                <a:latin typeface="Poppins"/>
                <a:ea typeface="Poppins"/>
                <a:cs typeface="Poppins"/>
                <a:sym typeface="Poppins"/>
              </a:rPr>
              <a:t>Drivers of ACHP Pickup: Exploratory analysis shows a modest positive relationship between "exit intensity" (the number of exiting carriers in a market) and ACHP share gain.</a:t>
            </a:r>
          </a:p>
          <a:p>
            <a:pPr algn="l" marL="530588" indent="-265294" lvl="1">
              <a:lnSpc>
                <a:spcPts val="3440"/>
              </a:lnSpc>
              <a:spcBef>
                <a:spcPct val="0"/>
              </a:spcBef>
              <a:buFont typeface="Arial"/>
              <a:buChar char="•"/>
            </a:pPr>
            <a:r>
              <a:rPr lang="en-US" sz="2457" strike="noStrike" u="none">
                <a:solidFill>
                  <a:srgbClr val="000000"/>
                </a:solidFill>
                <a:latin typeface="Poppins"/>
                <a:ea typeface="Poppins"/>
                <a:cs typeface="Poppins"/>
                <a:sym typeface="Poppins"/>
              </a:rPr>
              <a:t>Quality vs. Market Structure: Pre-exit Star Ratings look broadly similar across both high-pickup and low-pickup markets, indicating that the quality of the exiting plans is not the primary variable driving the volume of ACHP's enrollment pickup.</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EDC254"/>
        </a:solidFill>
      </p:bgPr>
    </p:bg>
    <p:spTree>
      <p:nvGrpSpPr>
        <p:cNvPr id="1" name=""/>
        <p:cNvGrpSpPr/>
        <p:nvPr/>
      </p:nvGrpSpPr>
      <p:grpSpPr>
        <a:xfrm>
          <a:off x="0" y="0"/>
          <a:ext cx="0" cy="0"/>
          <a:chOff x="0" y="0"/>
          <a:chExt cx="0" cy="0"/>
        </a:xfrm>
      </p:grpSpPr>
      <p:sp>
        <p:nvSpPr>
          <p:cNvPr name="TextBox 2" id="2"/>
          <p:cNvSpPr txBox="true"/>
          <p:nvPr/>
        </p:nvSpPr>
        <p:spPr>
          <a:xfrm rot="0">
            <a:off x="835929" y="764958"/>
            <a:ext cx="7585075" cy="980608"/>
          </a:xfrm>
          <a:prstGeom prst="rect">
            <a:avLst/>
          </a:prstGeom>
        </p:spPr>
        <p:txBody>
          <a:bodyPr anchor="t" rtlCol="false" tIns="0" lIns="0" bIns="0" rIns="0">
            <a:spAutoFit/>
          </a:bodyPr>
          <a:lstStyle/>
          <a:p>
            <a:pPr algn="l">
              <a:lnSpc>
                <a:spcPts val="8137"/>
              </a:lnSpc>
              <a:spcBef>
                <a:spcPct val="0"/>
              </a:spcBef>
            </a:pPr>
            <a:r>
              <a:rPr lang="en-US" sz="5812">
                <a:solidFill>
                  <a:srgbClr val="000000"/>
                </a:solidFill>
                <a:latin typeface="League Spartan"/>
                <a:ea typeface="League Spartan"/>
                <a:cs typeface="League Spartan"/>
                <a:sym typeface="League Spartan"/>
              </a:rPr>
              <a:t>FINDINGS</a:t>
            </a:r>
          </a:p>
        </p:txBody>
      </p:sp>
      <p:sp>
        <p:nvSpPr>
          <p:cNvPr name="TextBox 3" id="3"/>
          <p:cNvSpPr txBox="true"/>
          <p:nvPr/>
        </p:nvSpPr>
        <p:spPr>
          <a:xfrm rot="0">
            <a:off x="-119550" y="9012555"/>
            <a:ext cx="6106221" cy="424815"/>
          </a:xfrm>
          <a:prstGeom prst="rect">
            <a:avLst/>
          </a:prstGeom>
        </p:spPr>
        <p:txBody>
          <a:bodyPr anchor="t" rtlCol="false" tIns="0" lIns="0" bIns="0" rIns="0">
            <a:spAutoFit/>
          </a:bodyPr>
          <a:lstStyle/>
          <a:p>
            <a:pPr algn="ctr">
              <a:lnSpc>
                <a:spcPts val="3359"/>
              </a:lnSpc>
              <a:spcBef>
                <a:spcPct val="0"/>
              </a:spcBef>
            </a:pPr>
            <a:r>
              <a:rPr lang="en-US" sz="2399">
                <a:solidFill>
                  <a:srgbClr val="000000"/>
                </a:solidFill>
                <a:latin typeface="Poppins"/>
                <a:ea typeface="Poppins"/>
                <a:cs typeface="Poppins"/>
                <a:sym typeface="Poppins"/>
              </a:rPr>
              <a:t>Pinxi Lyu</a:t>
            </a:r>
          </a:p>
        </p:txBody>
      </p:sp>
      <p:sp>
        <p:nvSpPr>
          <p:cNvPr name="TextBox 4" id="4"/>
          <p:cNvSpPr txBox="true"/>
          <p:nvPr/>
        </p:nvSpPr>
        <p:spPr>
          <a:xfrm rot="0">
            <a:off x="835929" y="2124146"/>
            <a:ext cx="12808914" cy="4766753"/>
          </a:xfrm>
          <a:prstGeom prst="rect">
            <a:avLst/>
          </a:prstGeom>
        </p:spPr>
        <p:txBody>
          <a:bodyPr anchor="t" rtlCol="false" tIns="0" lIns="0" bIns="0" rIns="0">
            <a:spAutoFit/>
          </a:bodyPr>
          <a:lstStyle/>
          <a:p>
            <a:pPr algn="l" marL="530588" indent="-265294" lvl="1">
              <a:lnSpc>
                <a:spcPts val="3440"/>
              </a:lnSpc>
              <a:spcBef>
                <a:spcPct val="0"/>
              </a:spcBef>
              <a:buFont typeface="Arial"/>
              <a:buChar char="•"/>
            </a:pPr>
            <a:r>
              <a:rPr lang="en-US" sz="2457">
                <a:solidFill>
                  <a:srgbClr val="000000"/>
                </a:solidFill>
                <a:latin typeface="Poppins"/>
                <a:ea typeface="Poppins"/>
                <a:cs typeface="Poppins"/>
                <a:sym typeface="Poppins"/>
              </a:rPr>
              <a:t>Ex</a:t>
            </a:r>
            <a:r>
              <a:rPr lang="en-US" sz="2457" strike="noStrike" u="none">
                <a:solidFill>
                  <a:srgbClr val="000000"/>
                </a:solidFill>
                <a:latin typeface="Poppins"/>
                <a:ea typeface="Poppins"/>
                <a:cs typeface="Poppins"/>
                <a:sym typeface="Poppins"/>
              </a:rPr>
              <a:t>it </a:t>
            </a:r>
            <a:r>
              <a:rPr lang="en-US" sz="2457" strike="noStrike" u="none">
                <a:solidFill>
                  <a:srgbClr val="000000"/>
                </a:solidFill>
                <a:latin typeface="Poppins"/>
                <a:ea typeface="Poppins"/>
                <a:cs typeface="Poppins"/>
                <a:sym typeface="Poppins"/>
              </a:rPr>
              <a:t>c</a:t>
            </a:r>
            <a:r>
              <a:rPr lang="en-US" sz="2457" strike="noStrike" u="none">
                <a:solidFill>
                  <a:srgbClr val="000000"/>
                </a:solidFill>
                <a:latin typeface="Poppins"/>
                <a:ea typeface="Poppins"/>
                <a:cs typeface="Poppins"/>
                <a:sym typeface="Poppins"/>
              </a:rPr>
              <a:t>o</a:t>
            </a:r>
            <a:r>
              <a:rPr lang="en-US" sz="2457" strike="noStrike" u="none">
                <a:solidFill>
                  <a:srgbClr val="000000"/>
                </a:solidFill>
                <a:latin typeface="Poppins"/>
                <a:ea typeface="Poppins"/>
                <a:cs typeface="Poppins"/>
                <a:sym typeface="Poppins"/>
              </a:rPr>
              <a:t>u</a:t>
            </a:r>
            <a:r>
              <a:rPr lang="en-US" sz="2457" strike="noStrike" u="none">
                <a:solidFill>
                  <a:srgbClr val="000000"/>
                </a:solidFill>
                <a:latin typeface="Poppins"/>
                <a:ea typeface="Poppins"/>
                <a:cs typeface="Poppins"/>
                <a:sym typeface="Poppins"/>
              </a:rPr>
              <a:t>nties sho</a:t>
            </a:r>
            <a:r>
              <a:rPr lang="en-US" sz="2457" strike="noStrike" u="none">
                <a:solidFill>
                  <a:srgbClr val="000000"/>
                </a:solidFill>
                <a:latin typeface="Poppins"/>
                <a:ea typeface="Poppins"/>
                <a:cs typeface="Poppins"/>
                <a:sym typeface="Poppins"/>
              </a:rPr>
              <a:t>w</a:t>
            </a:r>
            <a:r>
              <a:rPr lang="en-US" sz="2457" strike="noStrike" u="none">
                <a:solidFill>
                  <a:srgbClr val="000000"/>
                </a:solidFill>
                <a:latin typeface="Poppins"/>
                <a:ea typeface="Poppins"/>
                <a:cs typeface="Poppins"/>
                <a:sym typeface="Poppins"/>
              </a:rPr>
              <a:t> </a:t>
            </a:r>
            <a:r>
              <a:rPr lang="en-US" sz="2457" strike="noStrike" u="none">
                <a:solidFill>
                  <a:srgbClr val="000000"/>
                </a:solidFill>
                <a:latin typeface="Poppins"/>
                <a:ea typeface="Poppins"/>
                <a:cs typeface="Poppins"/>
                <a:sym typeface="Poppins"/>
              </a:rPr>
              <a:t>h</a:t>
            </a:r>
            <a:r>
              <a:rPr lang="en-US" sz="2457" strike="noStrike" u="none">
                <a:solidFill>
                  <a:srgbClr val="000000"/>
                </a:solidFill>
                <a:latin typeface="Poppins"/>
                <a:ea typeface="Poppins"/>
                <a:cs typeface="Poppins"/>
                <a:sym typeface="Poppins"/>
              </a:rPr>
              <a:t>i</a:t>
            </a:r>
            <a:r>
              <a:rPr lang="en-US" sz="2457" strike="noStrike" u="none">
                <a:solidFill>
                  <a:srgbClr val="000000"/>
                </a:solidFill>
                <a:latin typeface="Poppins"/>
                <a:ea typeface="Poppins"/>
                <a:cs typeface="Poppins"/>
                <a:sym typeface="Poppins"/>
              </a:rPr>
              <a:t>gh</a:t>
            </a:r>
            <a:r>
              <a:rPr lang="en-US" sz="2457" strike="noStrike" u="none">
                <a:solidFill>
                  <a:srgbClr val="000000"/>
                </a:solidFill>
                <a:latin typeface="Poppins"/>
                <a:ea typeface="Poppins"/>
                <a:cs typeface="Poppins"/>
                <a:sym typeface="Poppins"/>
              </a:rPr>
              <a:t>e</a:t>
            </a:r>
            <a:r>
              <a:rPr lang="en-US" sz="2457" strike="noStrike" u="none">
                <a:solidFill>
                  <a:srgbClr val="000000"/>
                </a:solidFill>
                <a:latin typeface="Poppins"/>
                <a:ea typeface="Poppins"/>
                <a:cs typeface="Poppins"/>
                <a:sym typeface="Poppins"/>
              </a:rPr>
              <a:t>r</a:t>
            </a:r>
            <a:r>
              <a:rPr lang="en-US" sz="2457" strike="noStrike" u="none">
                <a:solidFill>
                  <a:srgbClr val="000000"/>
                </a:solidFill>
                <a:latin typeface="Poppins"/>
                <a:ea typeface="Poppins"/>
                <a:cs typeface="Poppins"/>
                <a:sym typeface="Poppins"/>
              </a:rPr>
              <a:t> market</a:t>
            </a:r>
            <a:r>
              <a:rPr lang="en-US" sz="2457" strike="noStrike" u="none">
                <a:solidFill>
                  <a:srgbClr val="000000"/>
                </a:solidFill>
                <a:latin typeface="Poppins"/>
                <a:ea typeface="Poppins"/>
                <a:cs typeface="Poppins"/>
                <a:sym typeface="Poppins"/>
              </a:rPr>
              <a:t>-</a:t>
            </a:r>
            <a:r>
              <a:rPr lang="en-US" sz="2457" strike="noStrike" u="none">
                <a:solidFill>
                  <a:srgbClr val="000000"/>
                </a:solidFill>
                <a:latin typeface="Poppins"/>
                <a:ea typeface="Poppins"/>
                <a:cs typeface="Poppins"/>
                <a:sym typeface="Poppins"/>
              </a:rPr>
              <a:t>s</a:t>
            </a:r>
            <a:r>
              <a:rPr lang="en-US" sz="2457" strike="noStrike" u="none">
                <a:solidFill>
                  <a:srgbClr val="000000"/>
                </a:solidFill>
                <a:latin typeface="Poppins"/>
                <a:ea typeface="Poppins"/>
                <a:cs typeface="Poppins"/>
                <a:sym typeface="Poppins"/>
              </a:rPr>
              <a:t>t</a:t>
            </a:r>
            <a:r>
              <a:rPr lang="en-US" sz="2457" strike="noStrike" u="none">
                <a:solidFill>
                  <a:srgbClr val="000000"/>
                </a:solidFill>
                <a:latin typeface="Poppins"/>
                <a:ea typeface="Poppins"/>
                <a:cs typeface="Poppins"/>
                <a:sym typeface="Poppins"/>
              </a:rPr>
              <a:t>r</a:t>
            </a:r>
            <a:r>
              <a:rPr lang="en-US" sz="2457" strike="noStrike" u="none">
                <a:solidFill>
                  <a:srgbClr val="000000"/>
                </a:solidFill>
                <a:latin typeface="Poppins"/>
                <a:ea typeface="Poppins"/>
                <a:cs typeface="Poppins"/>
                <a:sym typeface="Poppins"/>
              </a:rPr>
              <a:t>u</a:t>
            </a:r>
            <a:r>
              <a:rPr lang="en-US" sz="2457" strike="noStrike" u="none">
                <a:solidFill>
                  <a:srgbClr val="000000"/>
                </a:solidFill>
                <a:latin typeface="Poppins"/>
                <a:ea typeface="Poppins"/>
                <a:cs typeface="Poppins"/>
                <a:sym typeface="Poppins"/>
              </a:rPr>
              <a:t>ctu</a:t>
            </a:r>
            <a:r>
              <a:rPr lang="en-US" sz="2457" strike="noStrike" u="none">
                <a:solidFill>
                  <a:srgbClr val="000000"/>
                </a:solidFill>
                <a:latin typeface="Poppins"/>
                <a:ea typeface="Poppins"/>
                <a:cs typeface="Poppins"/>
                <a:sym typeface="Poppins"/>
              </a:rPr>
              <a:t>r</a:t>
            </a:r>
            <a:r>
              <a:rPr lang="en-US" sz="2457" strike="noStrike" u="none">
                <a:solidFill>
                  <a:srgbClr val="000000"/>
                </a:solidFill>
                <a:latin typeface="Poppins"/>
                <a:ea typeface="Poppins"/>
                <a:cs typeface="Poppins"/>
                <a:sym typeface="Poppins"/>
              </a:rPr>
              <a:t>e inst</a:t>
            </a:r>
            <a:r>
              <a:rPr lang="en-US" sz="2457" strike="noStrike" u="none">
                <a:solidFill>
                  <a:srgbClr val="000000"/>
                </a:solidFill>
                <a:latin typeface="Poppins"/>
                <a:ea typeface="Poppins"/>
                <a:cs typeface="Poppins"/>
                <a:sym typeface="Poppins"/>
              </a:rPr>
              <a:t>ab</a:t>
            </a:r>
            <a:r>
              <a:rPr lang="en-US" sz="2457" strike="noStrike" u="none">
                <a:solidFill>
                  <a:srgbClr val="000000"/>
                </a:solidFill>
                <a:latin typeface="Poppins"/>
                <a:ea typeface="Poppins"/>
                <a:cs typeface="Poppins"/>
                <a:sym typeface="Poppins"/>
              </a:rPr>
              <a:t>ilit</a:t>
            </a:r>
            <a:r>
              <a:rPr lang="en-US" sz="2457" strike="noStrike" u="none">
                <a:solidFill>
                  <a:srgbClr val="000000"/>
                </a:solidFill>
                <a:latin typeface="Poppins"/>
                <a:ea typeface="Poppins"/>
                <a:cs typeface="Poppins"/>
                <a:sym typeface="Poppins"/>
              </a:rPr>
              <a:t>y: E</a:t>
            </a:r>
            <a:r>
              <a:rPr lang="en-US" sz="2457" strike="noStrike" u="none">
                <a:solidFill>
                  <a:srgbClr val="000000"/>
                </a:solidFill>
                <a:latin typeface="Poppins"/>
                <a:ea typeface="Poppins"/>
                <a:cs typeface="Poppins"/>
                <a:sym typeface="Poppins"/>
              </a:rPr>
              <a:t>xit counties </a:t>
            </a:r>
            <a:r>
              <a:rPr lang="en-US" sz="2457" strike="noStrike" u="none">
                <a:solidFill>
                  <a:srgbClr val="000000"/>
                </a:solidFill>
                <a:latin typeface="Poppins"/>
                <a:ea typeface="Poppins"/>
                <a:cs typeface="Poppins"/>
                <a:sym typeface="Poppins"/>
              </a:rPr>
              <a:t>we</a:t>
            </a:r>
            <a:r>
              <a:rPr lang="en-US" sz="2457" strike="noStrike" u="none">
                <a:solidFill>
                  <a:srgbClr val="000000"/>
                </a:solidFill>
                <a:latin typeface="Poppins"/>
                <a:ea typeface="Poppins"/>
                <a:cs typeface="Poppins"/>
                <a:sym typeface="Poppins"/>
              </a:rPr>
              <a:t>re</a:t>
            </a:r>
            <a:r>
              <a:rPr lang="en-US" sz="2457" strike="noStrike" u="none">
                <a:solidFill>
                  <a:srgbClr val="000000"/>
                </a:solidFill>
                <a:latin typeface="Poppins"/>
                <a:ea typeface="Poppins"/>
                <a:cs typeface="Poppins"/>
                <a:sym typeface="Poppins"/>
              </a:rPr>
              <a:t> 3–7×</a:t>
            </a:r>
            <a:r>
              <a:rPr lang="en-US" sz="2457" strike="noStrike" u="none">
                <a:solidFill>
                  <a:srgbClr val="000000"/>
                </a:solidFill>
                <a:latin typeface="Poppins"/>
                <a:ea typeface="Poppins"/>
                <a:cs typeface="Poppins"/>
                <a:sym typeface="Poppins"/>
              </a:rPr>
              <a:t> </a:t>
            </a:r>
            <a:r>
              <a:rPr lang="en-US" sz="2457" strike="noStrike" u="none">
                <a:solidFill>
                  <a:srgbClr val="000000"/>
                </a:solidFill>
                <a:latin typeface="Poppins"/>
                <a:ea typeface="Poppins"/>
                <a:cs typeface="Poppins"/>
                <a:sym typeface="Poppins"/>
              </a:rPr>
              <a:t>m</a:t>
            </a:r>
            <a:r>
              <a:rPr lang="en-US" sz="2457" strike="noStrike" u="none">
                <a:solidFill>
                  <a:srgbClr val="000000"/>
                </a:solidFill>
                <a:latin typeface="Poppins"/>
                <a:ea typeface="Poppins"/>
                <a:cs typeface="Poppins"/>
                <a:sym typeface="Poppins"/>
              </a:rPr>
              <a:t>o</a:t>
            </a:r>
            <a:r>
              <a:rPr lang="en-US" sz="2457" strike="noStrike" u="none">
                <a:solidFill>
                  <a:srgbClr val="000000"/>
                </a:solidFill>
                <a:latin typeface="Poppins"/>
                <a:ea typeface="Poppins"/>
                <a:cs typeface="Poppins"/>
                <a:sym typeface="Poppins"/>
              </a:rPr>
              <a:t>re</a:t>
            </a:r>
            <a:r>
              <a:rPr lang="en-US" sz="2457" strike="noStrike" u="none">
                <a:solidFill>
                  <a:srgbClr val="000000"/>
                </a:solidFill>
                <a:latin typeface="Poppins"/>
                <a:ea typeface="Poppins"/>
                <a:cs typeface="Poppins"/>
                <a:sym typeface="Poppins"/>
              </a:rPr>
              <a:t> </a:t>
            </a:r>
            <a:r>
              <a:rPr lang="en-US" sz="2457" strike="noStrike" u="none">
                <a:solidFill>
                  <a:srgbClr val="000000"/>
                </a:solidFill>
                <a:latin typeface="Poppins"/>
                <a:ea typeface="Poppins"/>
                <a:cs typeface="Poppins"/>
                <a:sym typeface="Poppins"/>
              </a:rPr>
              <a:t>like</a:t>
            </a:r>
            <a:r>
              <a:rPr lang="en-US" sz="2457" strike="noStrike" u="none">
                <a:solidFill>
                  <a:srgbClr val="000000"/>
                </a:solidFill>
                <a:latin typeface="Poppins"/>
                <a:ea typeface="Poppins"/>
                <a:cs typeface="Poppins"/>
                <a:sym typeface="Poppins"/>
              </a:rPr>
              <a:t>ly</a:t>
            </a:r>
            <a:r>
              <a:rPr lang="en-US" sz="2457" strike="noStrike" u="none">
                <a:solidFill>
                  <a:srgbClr val="000000"/>
                </a:solidFill>
                <a:latin typeface="Poppins"/>
                <a:ea typeface="Poppins"/>
                <a:cs typeface="Poppins"/>
                <a:sym typeface="Poppins"/>
              </a:rPr>
              <a:t> </a:t>
            </a:r>
            <a:r>
              <a:rPr lang="en-US" sz="2457" strike="noStrike" u="none">
                <a:solidFill>
                  <a:srgbClr val="000000"/>
                </a:solidFill>
                <a:latin typeface="Poppins"/>
                <a:ea typeface="Poppins"/>
                <a:cs typeface="Poppins"/>
                <a:sym typeface="Poppins"/>
              </a:rPr>
              <a:t>t</a:t>
            </a:r>
            <a:r>
              <a:rPr lang="en-US" sz="2457" strike="noStrike" u="none">
                <a:solidFill>
                  <a:srgbClr val="000000"/>
                </a:solidFill>
                <a:latin typeface="Poppins"/>
                <a:ea typeface="Poppins"/>
                <a:cs typeface="Poppins"/>
                <a:sym typeface="Poppins"/>
              </a:rPr>
              <a:t>h</a:t>
            </a:r>
            <a:r>
              <a:rPr lang="en-US" sz="2457" strike="noStrike" u="none">
                <a:solidFill>
                  <a:srgbClr val="000000"/>
                </a:solidFill>
                <a:latin typeface="Poppins"/>
                <a:ea typeface="Poppins"/>
                <a:cs typeface="Poppins"/>
                <a:sym typeface="Poppins"/>
              </a:rPr>
              <a:t>an non-exit counties t</a:t>
            </a:r>
            <a:r>
              <a:rPr lang="en-US" sz="2457" strike="noStrike" u="none">
                <a:solidFill>
                  <a:srgbClr val="000000"/>
                </a:solidFill>
                <a:latin typeface="Poppins"/>
                <a:ea typeface="Poppins"/>
                <a:cs typeface="Poppins"/>
                <a:sym typeface="Poppins"/>
              </a:rPr>
              <a:t>o</a:t>
            </a:r>
            <a:r>
              <a:rPr lang="en-US" sz="2457" strike="noStrike" u="none">
                <a:solidFill>
                  <a:srgbClr val="000000"/>
                </a:solidFill>
                <a:latin typeface="Poppins"/>
                <a:ea typeface="Poppins"/>
                <a:cs typeface="Poppins"/>
                <a:sym typeface="Poppins"/>
              </a:rPr>
              <a:t> e</a:t>
            </a:r>
            <a:r>
              <a:rPr lang="en-US" sz="2457" strike="noStrike" u="none">
                <a:solidFill>
                  <a:srgbClr val="000000"/>
                </a:solidFill>
                <a:latin typeface="Poppins"/>
                <a:ea typeface="Poppins"/>
                <a:cs typeface="Poppins"/>
                <a:sym typeface="Poppins"/>
              </a:rPr>
              <a:t>xp</a:t>
            </a:r>
            <a:r>
              <a:rPr lang="en-US" sz="2457" strike="noStrike" u="none">
                <a:solidFill>
                  <a:srgbClr val="000000"/>
                </a:solidFill>
                <a:latin typeface="Poppins"/>
                <a:ea typeface="Poppins"/>
                <a:cs typeface="Poppins"/>
                <a:sym typeface="Poppins"/>
              </a:rPr>
              <a:t>er</a:t>
            </a:r>
            <a:r>
              <a:rPr lang="en-US" sz="2457" strike="noStrike" u="none">
                <a:solidFill>
                  <a:srgbClr val="000000"/>
                </a:solidFill>
                <a:latin typeface="Poppins"/>
                <a:ea typeface="Poppins"/>
                <a:cs typeface="Poppins"/>
                <a:sym typeface="Poppins"/>
              </a:rPr>
              <a:t>i</a:t>
            </a:r>
            <a:r>
              <a:rPr lang="en-US" sz="2457" strike="noStrike" u="none">
                <a:solidFill>
                  <a:srgbClr val="000000"/>
                </a:solidFill>
                <a:latin typeface="Poppins"/>
                <a:ea typeface="Poppins"/>
                <a:cs typeface="Poppins"/>
                <a:sym typeface="Poppins"/>
              </a:rPr>
              <a:t>ence </a:t>
            </a:r>
            <a:r>
              <a:rPr lang="en-US" sz="2457" strike="noStrike" u="none">
                <a:solidFill>
                  <a:srgbClr val="000000"/>
                </a:solidFill>
                <a:latin typeface="Poppins"/>
                <a:ea typeface="Poppins"/>
                <a:cs typeface="Poppins"/>
                <a:sym typeface="Poppins"/>
              </a:rPr>
              <a:t>l</a:t>
            </a:r>
            <a:r>
              <a:rPr lang="en-US" sz="2457" strike="noStrike" u="none">
                <a:solidFill>
                  <a:srgbClr val="000000"/>
                </a:solidFill>
                <a:latin typeface="Poppins"/>
                <a:ea typeface="Poppins"/>
                <a:cs typeface="Poppins"/>
                <a:sym typeface="Poppins"/>
              </a:rPr>
              <a:t>ar</a:t>
            </a:r>
            <a:r>
              <a:rPr lang="en-US" sz="2457" strike="noStrike" u="none">
                <a:solidFill>
                  <a:srgbClr val="000000"/>
                </a:solidFill>
                <a:latin typeface="Poppins"/>
                <a:ea typeface="Poppins"/>
                <a:cs typeface="Poppins"/>
                <a:sym typeface="Poppins"/>
              </a:rPr>
              <a:t>g</a:t>
            </a:r>
            <a:r>
              <a:rPr lang="en-US" sz="2457" strike="noStrike" u="none">
                <a:solidFill>
                  <a:srgbClr val="000000"/>
                </a:solidFill>
                <a:latin typeface="Poppins"/>
                <a:ea typeface="Poppins"/>
                <a:cs typeface="Poppins"/>
                <a:sym typeface="Poppins"/>
              </a:rPr>
              <a:t>e </a:t>
            </a:r>
            <a:r>
              <a:rPr lang="en-US" sz="2457" strike="noStrike" u="none">
                <a:solidFill>
                  <a:srgbClr val="000000"/>
                </a:solidFill>
                <a:latin typeface="Poppins"/>
                <a:ea typeface="Poppins"/>
                <a:cs typeface="Poppins"/>
                <a:sym typeface="Poppins"/>
              </a:rPr>
              <a:t>con</a:t>
            </a:r>
            <a:r>
              <a:rPr lang="en-US" sz="2457" strike="noStrike" u="none">
                <a:solidFill>
                  <a:srgbClr val="000000"/>
                </a:solidFill>
                <a:latin typeface="Poppins"/>
                <a:ea typeface="Poppins"/>
                <a:cs typeface="Poppins"/>
                <a:sym typeface="Poppins"/>
              </a:rPr>
              <a:t>ce</a:t>
            </a:r>
            <a:r>
              <a:rPr lang="en-US" sz="2457" strike="noStrike" u="none">
                <a:solidFill>
                  <a:srgbClr val="000000"/>
                </a:solidFill>
                <a:latin typeface="Poppins"/>
                <a:ea typeface="Poppins"/>
                <a:cs typeface="Poppins"/>
                <a:sym typeface="Poppins"/>
              </a:rPr>
              <a:t>n</a:t>
            </a:r>
            <a:r>
              <a:rPr lang="en-US" sz="2457" strike="noStrike" u="none">
                <a:solidFill>
                  <a:srgbClr val="000000"/>
                </a:solidFill>
                <a:latin typeface="Poppins"/>
                <a:ea typeface="Poppins"/>
                <a:cs typeface="Poppins"/>
                <a:sym typeface="Poppins"/>
              </a:rPr>
              <a:t>trati</a:t>
            </a:r>
            <a:r>
              <a:rPr lang="en-US" sz="2457" strike="noStrike" u="none">
                <a:solidFill>
                  <a:srgbClr val="000000"/>
                </a:solidFill>
                <a:latin typeface="Poppins"/>
                <a:ea typeface="Poppins"/>
                <a:cs typeface="Poppins"/>
                <a:sym typeface="Poppins"/>
              </a:rPr>
              <a:t>o</a:t>
            </a:r>
            <a:r>
              <a:rPr lang="en-US" sz="2457" strike="noStrike" u="none">
                <a:solidFill>
                  <a:srgbClr val="000000"/>
                </a:solidFill>
                <a:latin typeface="Poppins"/>
                <a:ea typeface="Poppins"/>
                <a:cs typeface="Poppins"/>
                <a:sym typeface="Poppins"/>
              </a:rPr>
              <a:t>n in</a:t>
            </a:r>
            <a:r>
              <a:rPr lang="en-US" sz="2457" strike="noStrike" u="none">
                <a:solidFill>
                  <a:srgbClr val="000000"/>
                </a:solidFill>
                <a:latin typeface="Poppins"/>
                <a:ea typeface="Poppins"/>
                <a:cs typeface="Poppins"/>
                <a:sym typeface="Poppins"/>
              </a:rPr>
              <a:t>c</a:t>
            </a:r>
            <a:r>
              <a:rPr lang="en-US" sz="2457" strike="noStrike" u="none">
                <a:solidFill>
                  <a:srgbClr val="000000"/>
                </a:solidFill>
                <a:latin typeface="Poppins"/>
                <a:ea typeface="Poppins"/>
                <a:cs typeface="Poppins"/>
                <a:sym typeface="Poppins"/>
              </a:rPr>
              <a:t>reas</a:t>
            </a:r>
            <a:r>
              <a:rPr lang="en-US" sz="2457" strike="noStrike" u="none">
                <a:solidFill>
                  <a:srgbClr val="000000"/>
                </a:solidFill>
                <a:latin typeface="Poppins"/>
                <a:ea typeface="Poppins"/>
                <a:cs typeface="Poppins"/>
                <a:sym typeface="Poppins"/>
              </a:rPr>
              <a:t>es </a:t>
            </a:r>
            <a:r>
              <a:rPr lang="en-US" sz="2457" strike="noStrike" u="none">
                <a:solidFill>
                  <a:srgbClr val="000000"/>
                </a:solidFill>
                <a:latin typeface="Poppins"/>
                <a:ea typeface="Poppins"/>
                <a:cs typeface="Poppins"/>
                <a:sym typeface="Poppins"/>
              </a:rPr>
              <a:t>(ΔH</a:t>
            </a:r>
            <a:r>
              <a:rPr lang="en-US" sz="2457" strike="noStrike" u="none">
                <a:solidFill>
                  <a:srgbClr val="000000"/>
                </a:solidFill>
                <a:latin typeface="Poppins"/>
                <a:ea typeface="Poppins"/>
                <a:cs typeface="Poppins"/>
                <a:sym typeface="Poppins"/>
              </a:rPr>
              <a:t>H</a:t>
            </a:r>
            <a:r>
              <a:rPr lang="en-US" sz="2457" strike="noStrike" u="none">
                <a:solidFill>
                  <a:srgbClr val="000000"/>
                </a:solidFill>
                <a:latin typeface="Poppins"/>
                <a:ea typeface="Poppins"/>
                <a:cs typeface="Poppins"/>
                <a:sym typeface="Poppins"/>
              </a:rPr>
              <a:t>I</a:t>
            </a:r>
            <a:r>
              <a:rPr lang="en-US" sz="2457" strike="noStrike" u="none">
                <a:solidFill>
                  <a:srgbClr val="000000"/>
                </a:solidFill>
                <a:latin typeface="Poppins"/>
                <a:ea typeface="Poppins"/>
                <a:cs typeface="Poppins"/>
                <a:sym typeface="Poppins"/>
              </a:rPr>
              <a:t> t</a:t>
            </a:r>
            <a:r>
              <a:rPr lang="en-US" sz="2457" strike="noStrike" u="none">
                <a:solidFill>
                  <a:srgbClr val="000000"/>
                </a:solidFill>
                <a:latin typeface="Poppins"/>
                <a:ea typeface="Poppins"/>
                <a:cs typeface="Poppins"/>
                <a:sym typeface="Poppins"/>
              </a:rPr>
              <a:t>h</a:t>
            </a:r>
            <a:r>
              <a:rPr lang="en-US" sz="2457" strike="noStrike" u="none">
                <a:solidFill>
                  <a:srgbClr val="000000"/>
                </a:solidFill>
                <a:latin typeface="Poppins"/>
                <a:ea typeface="Poppins"/>
                <a:cs typeface="Poppins"/>
                <a:sym typeface="Poppins"/>
              </a:rPr>
              <a:t>r</a:t>
            </a:r>
            <a:r>
              <a:rPr lang="en-US" sz="2457" strike="noStrike" u="none">
                <a:solidFill>
                  <a:srgbClr val="000000"/>
                </a:solidFill>
                <a:latin typeface="Poppins"/>
                <a:ea typeface="Poppins"/>
                <a:cs typeface="Poppins"/>
                <a:sym typeface="Poppins"/>
              </a:rPr>
              <a:t>e</a:t>
            </a:r>
            <a:r>
              <a:rPr lang="en-US" sz="2457" strike="noStrike" u="none">
                <a:solidFill>
                  <a:srgbClr val="000000"/>
                </a:solidFill>
                <a:latin typeface="Poppins"/>
                <a:ea typeface="Poppins"/>
                <a:cs typeface="Poppins"/>
                <a:sym typeface="Poppins"/>
              </a:rPr>
              <a:t>sho</a:t>
            </a:r>
            <a:r>
              <a:rPr lang="en-US" sz="2457" strike="noStrike" u="none">
                <a:solidFill>
                  <a:srgbClr val="000000"/>
                </a:solidFill>
                <a:latin typeface="Poppins"/>
                <a:ea typeface="Poppins"/>
                <a:cs typeface="Poppins"/>
                <a:sym typeface="Poppins"/>
              </a:rPr>
              <a:t>l</a:t>
            </a:r>
            <a:r>
              <a:rPr lang="en-US" sz="2457" strike="noStrike" u="none">
                <a:solidFill>
                  <a:srgbClr val="000000"/>
                </a:solidFill>
                <a:latin typeface="Poppins"/>
                <a:ea typeface="Poppins"/>
                <a:cs typeface="Poppins"/>
                <a:sym typeface="Poppins"/>
              </a:rPr>
              <a:t>ds</a:t>
            </a:r>
            <a:r>
              <a:rPr lang="en-US" sz="2457" strike="noStrike" u="none">
                <a:solidFill>
                  <a:srgbClr val="000000"/>
                </a:solidFill>
                <a:latin typeface="Poppins"/>
                <a:ea typeface="Poppins"/>
                <a:cs typeface="Poppins"/>
                <a:sym typeface="Poppins"/>
              </a:rPr>
              <a:t>),</a:t>
            </a:r>
            <a:r>
              <a:rPr lang="en-US" sz="2457" strike="noStrike" u="none">
                <a:solidFill>
                  <a:srgbClr val="000000"/>
                </a:solidFill>
                <a:latin typeface="Poppins"/>
                <a:ea typeface="Poppins"/>
                <a:cs typeface="Poppins"/>
                <a:sym typeface="Poppins"/>
              </a:rPr>
              <a:t> i</a:t>
            </a:r>
            <a:r>
              <a:rPr lang="en-US" sz="2457" strike="noStrike" u="none">
                <a:solidFill>
                  <a:srgbClr val="000000"/>
                </a:solidFill>
                <a:latin typeface="Poppins"/>
                <a:ea typeface="Poppins"/>
                <a:cs typeface="Poppins"/>
                <a:sym typeface="Poppins"/>
              </a:rPr>
              <a:t>nd</a:t>
            </a:r>
            <a:r>
              <a:rPr lang="en-US" sz="2457" strike="noStrike" u="none">
                <a:solidFill>
                  <a:srgbClr val="000000"/>
                </a:solidFill>
                <a:latin typeface="Poppins"/>
                <a:ea typeface="Poppins"/>
                <a:cs typeface="Poppins"/>
                <a:sym typeface="Poppins"/>
              </a:rPr>
              <a:t>i</a:t>
            </a:r>
            <a:r>
              <a:rPr lang="en-US" sz="2457" strike="noStrike" u="none">
                <a:solidFill>
                  <a:srgbClr val="000000"/>
                </a:solidFill>
                <a:latin typeface="Poppins"/>
                <a:ea typeface="Poppins"/>
                <a:cs typeface="Poppins"/>
                <a:sym typeface="Poppins"/>
              </a:rPr>
              <a:t>c</a:t>
            </a:r>
            <a:r>
              <a:rPr lang="en-US" sz="2457" strike="noStrike" u="none">
                <a:solidFill>
                  <a:srgbClr val="000000"/>
                </a:solidFill>
                <a:latin typeface="Poppins"/>
                <a:ea typeface="Poppins"/>
                <a:cs typeface="Poppins"/>
                <a:sym typeface="Poppins"/>
              </a:rPr>
              <a:t>atin</a:t>
            </a:r>
            <a:r>
              <a:rPr lang="en-US" sz="2457" strike="noStrike" u="none">
                <a:solidFill>
                  <a:srgbClr val="000000"/>
                </a:solidFill>
                <a:latin typeface="Poppins"/>
                <a:ea typeface="Poppins"/>
                <a:cs typeface="Poppins"/>
                <a:sym typeface="Poppins"/>
              </a:rPr>
              <a:t>g</a:t>
            </a:r>
            <a:r>
              <a:rPr lang="en-US" sz="2457" strike="noStrike" u="none">
                <a:solidFill>
                  <a:srgbClr val="000000"/>
                </a:solidFill>
                <a:latin typeface="Poppins"/>
                <a:ea typeface="Poppins"/>
                <a:cs typeface="Poppins"/>
                <a:sym typeface="Poppins"/>
              </a:rPr>
              <a:t> </a:t>
            </a:r>
            <a:r>
              <a:rPr lang="en-US" sz="2457" strike="noStrike" u="none">
                <a:solidFill>
                  <a:srgbClr val="000000"/>
                </a:solidFill>
                <a:latin typeface="Poppins"/>
                <a:ea typeface="Poppins"/>
                <a:cs typeface="Poppins"/>
                <a:sym typeface="Poppins"/>
              </a:rPr>
              <a:t>“</a:t>
            </a:r>
            <a:r>
              <a:rPr lang="en-US" sz="2457" strike="noStrike" u="none">
                <a:solidFill>
                  <a:srgbClr val="000000"/>
                </a:solidFill>
                <a:latin typeface="Poppins"/>
                <a:ea typeface="Poppins"/>
                <a:cs typeface="Poppins"/>
                <a:sym typeface="Poppins"/>
              </a:rPr>
              <a:t>winner</a:t>
            </a:r>
            <a:r>
              <a:rPr lang="en-US" sz="2457" strike="noStrike" u="none">
                <a:solidFill>
                  <a:srgbClr val="000000"/>
                </a:solidFill>
                <a:latin typeface="Poppins"/>
                <a:ea typeface="Poppins"/>
                <a:cs typeface="Poppins"/>
                <a:sym typeface="Poppins"/>
              </a:rPr>
              <a:t>‑</a:t>
            </a:r>
            <a:r>
              <a:rPr lang="en-US" sz="2457" strike="noStrike" u="none">
                <a:solidFill>
                  <a:srgbClr val="000000"/>
                </a:solidFill>
                <a:latin typeface="Poppins"/>
                <a:ea typeface="Poppins"/>
                <a:cs typeface="Poppins"/>
                <a:sym typeface="Poppins"/>
              </a:rPr>
              <a:t>take</a:t>
            </a:r>
            <a:r>
              <a:rPr lang="en-US" sz="2457" strike="noStrike" u="none">
                <a:solidFill>
                  <a:srgbClr val="000000"/>
                </a:solidFill>
                <a:latin typeface="Poppins"/>
                <a:ea typeface="Poppins"/>
                <a:cs typeface="Poppins"/>
                <a:sym typeface="Poppins"/>
              </a:rPr>
              <a:t>‑mos</a:t>
            </a:r>
            <a:r>
              <a:rPr lang="en-US" sz="2457" strike="noStrike" u="none">
                <a:solidFill>
                  <a:srgbClr val="000000"/>
                </a:solidFill>
                <a:latin typeface="Poppins"/>
                <a:ea typeface="Poppins"/>
                <a:cs typeface="Poppins"/>
                <a:sym typeface="Poppins"/>
              </a:rPr>
              <a:t>t</a:t>
            </a:r>
            <a:r>
              <a:rPr lang="en-US" sz="2457" strike="noStrike" u="none">
                <a:solidFill>
                  <a:srgbClr val="000000"/>
                </a:solidFill>
                <a:latin typeface="Poppins"/>
                <a:ea typeface="Poppins"/>
                <a:cs typeface="Poppins"/>
                <a:sym typeface="Poppins"/>
              </a:rPr>
              <a:t>”</a:t>
            </a:r>
            <a:r>
              <a:rPr lang="en-US" sz="2457" strike="noStrike" u="none">
                <a:solidFill>
                  <a:srgbClr val="000000"/>
                </a:solidFill>
                <a:latin typeface="Poppins"/>
                <a:ea typeface="Poppins"/>
                <a:cs typeface="Poppins"/>
                <a:sym typeface="Poppins"/>
              </a:rPr>
              <a:t> d</a:t>
            </a:r>
            <a:r>
              <a:rPr lang="en-US" sz="2457" strike="noStrike" u="none">
                <a:solidFill>
                  <a:srgbClr val="000000"/>
                </a:solidFill>
                <a:latin typeface="Poppins"/>
                <a:ea typeface="Poppins"/>
                <a:cs typeface="Poppins"/>
                <a:sym typeface="Poppins"/>
              </a:rPr>
              <a:t>ynamics i</a:t>
            </a:r>
            <a:r>
              <a:rPr lang="en-US" sz="2457" strike="noStrike" u="none">
                <a:solidFill>
                  <a:srgbClr val="000000"/>
                </a:solidFill>
                <a:latin typeface="Poppins"/>
                <a:ea typeface="Poppins"/>
                <a:cs typeface="Poppins"/>
                <a:sym typeface="Poppins"/>
              </a:rPr>
              <a:t>n</a:t>
            </a:r>
            <a:r>
              <a:rPr lang="en-US" sz="2457" strike="noStrike" u="none">
                <a:solidFill>
                  <a:srgbClr val="000000"/>
                </a:solidFill>
                <a:latin typeface="Poppins"/>
                <a:ea typeface="Poppins"/>
                <a:cs typeface="Poppins"/>
                <a:sym typeface="Poppins"/>
              </a:rPr>
              <a:t> a </a:t>
            </a:r>
            <a:r>
              <a:rPr lang="en-US" sz="2457" strike="noStrike" u="none">
                <a:solidFill>
                  <a:srgbClr val="000000"/>
                </a:solidFill>
                <a:latin typeface="Poppins"/>
                <a:ea typeface="Poppins"/>
                <a:cs typeface="Poppins"/>
                <a:sym typeface="Poppins"/>
              </a:rPr>
              <a:t>s</a:t>
            </a:r>
            <a:r>
              <a:rPr lang="en-US" sz="2457" strike="noStrike" u="none">
                <a:solidFill>
                  <a:srgbClr val="000000"/>
                </a:solidFill>
                <a:latin typeface="Poppins"/>
                <a:ea typeface="Poppins"/>
                <a:cs typeface="Poppins"/>
                <a:sym typeface="Poppins"/>
              </a:rPr>
              <a:t>u</a:t>
            </a:r>
            <a:r>
              <a:rPr lang="en-US" sz="2457" strike="noStrike" u="none">
                <a:solidFill>
                  <a:srgbClr val="000000"/>
                </a:solidFill>
                <a:latin typeface="Poppins"/>
                <a:ea typeface="Poppins"/>
                <a:cs typeface="Poppins"/>
                <a:sym typeface="Poppins"/>
              </a:rPr>
              <a:t>b</a:t>
            </a:r>
            <a:r>
              <a:rPr lang="en-US" sz="2457" strike="noStrike" u="none">
                <a:solidFill>
                  <a:srgbClr val="000000"/>
                </a:solidFill>
                <a:latin typeface="Poppins"/>
                <a:ea typeface="Poppins"/>
                <a:cs typeface="Poppins"/>
                <a:sym typeface="Poppins"/>
              </a:rPr>
              <a:t>set of mar</a:t>
            </a:r>
            <a:r>
              <a:rPr lang="en-US" sz="2457" strike="noStrike" u="none">
                <a:solidFill>
                  <a:srgbClr val="000000"/>
                </a:solidFill>
                <a:latin typeface="Poppins"/>
                <a:ea typeface="Poppins"/>
                <a:cs typeface="Poppins"/>
                <a:sym typeface="Poppins"/>
              </a:rPr>
              <a:t>k</a:t>
            </a:r>
            <a:r>
              <a:rPr lang="en-US" sz="2457" strike="noStrike" u="none">
                <a:solidFill>
                  <a:srgbClr val="000000"/>
                </a:solidFill>
                <a:latin typeface="Poppins"/>
                <a:ea typeface="Poppins"/>
                <a:cs typeface="Poppins"/>
                <a:sym typeface="Poppins"/>
              </a:rPr>
              <a:t>ets.</a:t>
            </a:r>
          </a:p>
          <a:p>
            <a:pPr algn="l" marL="530588" indent="-265294" lvl="1">
              <a:lnSpc>
                <a:spcPts val="3440"/>
              </a:lnSpc>
              <a:spcBef>
                <a:spcPct val="0"/>
              </a:spcBef>
              <a:buFont typeface="Arial"/>
              <a:buChar char="•"/>
            </a:pPr>
            <a:r>
              <a:rPr lang="en-US" sz="2457" strike="noStrike" u="none">
                <a:solidFill>
                  <a:srgbClr val="000000"/>
                </a:solidFill>
                <a:latin typeface="Poppins"/>
                <a:ea typeface="Poppins"/>
                <a:cs typeface="Poppins"/>
                <a:sym typeface="Poppins"/>
              </a:rPr>
              <a:t>Triage reveals both opportunity and defense risk among high-instability counties. Among counties with large concentration jumps (ΔHHI &gt; 0.05):</a:t>
            </a:r>
          </a:p>
          <a:p>
            <a:pPr algn="l" marL="1061175" indent="-353725" lvl="2">
              <a:lnSpc>
                <a:spcPts val="3440"/>
              </a:lnSpc>
              <a:spcBef>
                <a:spcPct val="0"/>
              </a:spcBef>
              <a:buFont typeface="Arial"/>
              <a:buChar char="⚬"/>
            </a:pPr>
            <a:r>
              <a:rPr lang="en-US" sz="2457" strike="noStrike" u="none">
                <a:solidFill>
                  <a:srgbClr val="000000"/>
                </a:solidFill>
                <a:latin typeface="Poppins"/>
                <a:ea typeface="Poppins"/>
                <a:cs typeface="Poppins"/>
                <a:sym typeface="Poppins"/>
              </a:rPr>
              <a:t>185 counties: concentration↑ &amp; ACHP share↑ (opportunity + execution risk)</a:t>
            </a:r>
          </a:p>
          <a:p>
            <a:pPr algn="l" marL="1061175" indent="-353725" lvl="2">
              <a:lnSpc>
                <a:spcPts val="3440"/>
              </a:lnSpc>
              <a:spcBef>
                <a:spcPct val="0"/>
              </a:spcBef>
              <a:buFont typeface="Arial"/>
              <a:buChar char="⚬"/>
            </a:pPr>
            <a:r>
              <a:rPr lang="en-US" sz="2457" strike="noStrike" u="none">
                <a:solidFill>
                  <a:srgbClr val="000000"/>
                </a:solidFill>
                <a:latin typeface="Poppins"/>
                <a:ea typeface="Poppins"/>
                <a:cs typeface="Poppins"/>
                <a:sym typeface="Poppins"/>
              </a:rPr>
              <a:t>73 counties: concentration↑ &amp; ACHP share↓ (defense risk)</a:t>
            </a:r>
          </a:p>
          <a:p>
            <a:pPr algn="l">
              <a:lnSpc>
                <a:spcPts val="3440"/>
              </a:lnSpc>
              <a:spcBef>
                <a:spcPct val="0"/>
              </a:spcBef>
            </a:pPr>
          </a:p>
          <a:p>
            <a:pPr algn="l">
              <a:lnSpc>
                <a:spcPts val="344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951821" y="146017"/>
            <a:ext cx="9330730" cy="1366868"/>
            <a:chOff x="0" y="0"/>
            <a:chExt cx="2457476" cy="359998"/>
          </a:xfrm>
        </p:grpSpPr>
        <p:sp>
          <p:nvSpPr>
            <p:cNvPr name="Freeform 3" id="3"/>
            <p:cNvSpPr/>
            <p:nvPr/>
          </p:nvSpPr>
          <p:spPr>
            <a:xfrm flipH="false" flipV="false" rot="0">
              <a:off x="0" y="0"/>
              <a:ext cx="2457476" cy="359998"/>
            </a:xfrm>
            <a:custGeom>
              <a:avLst/>
              <a:gdLst/>
              <a:ahLst/>
              <a:cxnLst/>
              <a:rect r="r" b="b" t="t" l="l"/>
              <a:pathLst>
                <a:path h="359998" w="2457476">
                  <a:moveTo>
                    <a:pt x="42316" y="0"/>
                  </a:moveTo>
                  <a:lnTo>
                    <a:pt x="2415160" y="0"/>
                  </a:lnTo>
                  <a:cubicBezTo>
                    <a:pt x="2426383" y="0"/>
                    <a:pt x="2437146" y="4458"/>
                    <a:pt x="2445082" y="12394"/>
                  </a:cubicBezTo>
                  <a:cubicBezTo>
                    <a:pt x="2453018" y="20330"/>
                    <a:pt x="2457476" y="31093"/>
                    <a:pt x="2457476" y="42316"/>
                  </a:cubicBezTo>
                  <a:lnTo>
                    <a:pt x="2457476" y="317682"/>
                  </a:lnTo>
                  <a:cubicBezTo>
                    <a:pt x="2457476" y="341053"/>
                    <a:pt x="2438531" y="359998"/>
                    <a:pt x="2415160" y="359998"/>
                  </a:cubicBezTo>
                  <a:lnTo>
                    <a:pt x="42316" y="359998"/>
                  </a:lnTo>
                  <a:cubicBezTo>
                    <a:pt x="18945" y="359998"/>
                    <a:pt x="0" y="341053"/>
                    <a:pt x="0" y="317682"/>
                  </a:cubicBezTo>
                  <a:lnTo>
                    <a:pt x="0" y="42316"/>
                  </a:lnTo>
                  <a:cubicBezTo>
                    <a:pt x="0" y="18945"/>
                    <a:pt x="18945" y="0"/>
                    <a:pt x="42316" y="0"/>
                  </a:cubicBezTo>
                  <a:close/>
                </a:path>
              </a:pathLst>
            </a:custGeom>
            <a:solidFill>
              <a:srgbClr val="EDC254"/>
            </a:solidFill>
          </p:spPr>
        </p:sp>
        <p:sp>
          <p:nvSpPr>
            <p:cNvPr name="TextBox 4" id="4"/>
            <p:cNvSpPr txBox="true"/>
            <p:nvPr/>
          </p:nvSpPr>
          <p:spPr>
            <a:xfrm>
              <a:off x="0" y="-76200"/>
              <a:ext cx="2457476" cy="436198"/>
            </a:xfrm>
            <a:prstGeom prst="rect">
              <a:avLst/>
            </a:prstGeom>
          </p:spPr>
          <p:txBody>
            <a:bodyPr anchor="ctr" rtlCol="false" tIns="50800" lIns="50800" bIns="50800" rIns="50800"/>
            <a:lstStyle/>
            <a:p>
              <a:pPr algn="ctr">
                <a:lnSpc>
                  <a:spcPts val="5459"/>
                </a:lnSpc>
              </a:pPr>
              <a:r>
                <a:rPr lang="en-US" sz="3899">
                  <a:solidFill>
                    <a:srgbClr val="000000"/>
                  </a:solidFill>
                  <a:latin typeface="Archivo Black"/>
                  <a:ea typeface="Archivo Black"/>
                  <a:cs typeface="Archivo Black"/>
                  <a:sym typeface="Archivo Black"/>
                </a:rPr>
                <a:t>Interpretation of Results</a:t>
              </a:r>
            </a:p>
          </p:txBody>
        </p:sp>
      </p:grpSp>
      <p:sp>
        <p:nvSpPr>
          <p:cNvPr name="TextBox 5" id="5"/>
          <p:cNvSpPr txBox="true"/>
          <p:nvPr/>
        </p:nvSpPr>
        <p:spPr>
          <a:xfrm rot="0">
            <a:off x="1028700" y="7247938"/>
            <a:ext cx="16064070" cy="2714956"/>
          </a:xfrm>
          <a:prstGeom prst="rect">
            <a:avLst/>
          </a:prstGeom>
        </p:spPr>
        <p:txBody>
          <a:bodyPr anchor="t" rtlCol="false" tIns="0" lIns="0" bIns="0" rIns="0">
            <a:spAutoFit/>
          </a:bodyPr>
          <a:lstStyle/>
          <a:p>
            <a:pPr algn="l">
              <a:lnSpc>
                <a:spcPts val="3131"/>
              </a:lnSpc>
              <a:spcBef>
                <a:spcPct val="0"/>
              </a:spcBef>
            </a:pPr>
            <a:r>
              <a:rPr lang="en-US" sz="2236">
                <a:solidFill>
                  <a:srgbClr val="000000"/>
                </a:solidFill>
                <a:latin typeface="Open Sauce"/>
                <a:ea typeface="Open Sauce"/>
                <a:cs typeface="Open Sauce"/>
                <a:sym typeface="Open Sauce"/>
              </a:rPr>
              <a:t>The findings indicate that ACHP’s localized growth is not simply a byproduct of a rising tide in the overall Medicare Advantage market; rather, ACHP is highly effective at capturing post-exit market reallocation. The step-change in relative market position proves that ACHP is actively converting market disruption (competitor withdrawals) into direct, competitive pickup. Furthermore, the lack of correlation between pre-exit Star Ratings and ACHP pickup suggests that consumer switching in these volatile counties is driven more by structural market necessity—beneficiaries needing to find a new plan due to an exit—than by beneficiaries strictly optimizing for plan quality metrics.</a:t>
            </a:r>
          </a:p>
        </p:txBody>
      </p:sp>
      <p:sp>
        <p:nvSpPr>
          <p:cNvPr name="TextBox 6" id="6"/>
          <p:cNvSpPr txBox="true"/>
          <p:nvPr/>
        </p:nvSpPr>
        <p:spPr>
          <a:xfrm rot="0">
            <a:off x="1028700" y="2044535"/>
            <a:ext cx="7884066" cy="5330402"/>
          </a:xfrm>
          <a:prstGeom prst="rect">
            <a:avLst/>
          </a:prstGeom>
        </p:spPr>
        <p:txBody>
          <a:bodyPr anchor="t" rtlCol="false" tIns="0" lIns="0" bIns="0" rIns="0">
            <a:spAutoFit/>
          </a:bodyPr>
          <a:lstStyle/>
          <a:p>
            <a:pPr algn="l">
              <a:lnSpc>
                <a:spcPts val="3698"/>
              </a:lnSpc>
            </a:pPr>
            <a:r>
              <a:rPr lang="en-US" sz="2641" b="true">
                <a:solidFill>
                  <a:srgbClr val="2A0947"/>
                </a:solidFill>
                <a:latin typeface="Arial MT Pro Bold"/>
                <a:ea typeface="Arial MT Pro Bold"/>
                <a:cs typeface="Arial MT Pro Bold"/>
                <a:sym typeface="Arial MT Pro Bold"/>
              </a:rPr>
              <a:t>Analytical results</a:t>
            </a:r>
          </a:p>
          <a:p>
            <a:pPr algn="l">
              <a:lnSpc>
                <a:spcPts val="2998"/>
              </a:lnSpc>
            </a:pPr>
          </a:p>
          <a:p>
            <a:pPr algn="l" marL="462382" indent="-231191" lvl="1">
              <a:lnSpc>
                <a:spcPts val="2998"/>
              </a:lnSpc>
              <a:buFont typeface="Arial"/>
              <a:buChar char="•"/>
            </a:pPr>
            <a:r>
              <a:rPr lang="en-US" b="true" sz="2141">
                <a:solidFill>
                  <a:srgbClr val="2A0947"/>
                </a:solidFill>
                <a:latin typeface="Arial MT Pro Bold"/>
                <a:ea typeface="Arial MT Pro Bold"/>
                <a:cs typeface="Arial MT Pro Bold"/>
                <a:sym typeface="Arial MT Pro Bold"/>
              </a:rPr>
              <a:t>ACHP enrollment increased in both exit and non-exit counties from 2025-01 to 2026-03.</a:t>
            </a:r>
          </a:p>
          <a:p>
            <a:pPr algn="l" marL="462382" indent="-231191" lvl="1">
              <a:lnSpc>
                <a:spcPts val="2998"/>
              </a:lnSpc>
              <a:buFont typeface="Arial"/>
              <a:buChar char="•"/>
            </a:pPr>
            <a:r>
              <a:rPr lang="en-US" b="true" sz="2141">
                <a:solidFill>
                  <a:srgbClr val="2A0947"/>
                </a:solidFill>
                <a:latin typeface="Arial MT Pro Bold"/>
                <a:ea typeface="Arial MT Pro Bold"/>
                <a:cs typeface="Arial MT Pro Bold"/>
                <a:sym typeface="Arial MT Pro Bold"/>
              </a:rPr>
              <a:t>ACHP market share increased more strongly in exit counties than in non-exit counties.</a:t>
            </a:r>
          </a:p>
          <a:p>
            <a:pPr algn="l" marL="462382" indent="-231191" lvl="1">
              <a:lnSpc>
                <a:spcPts val="2998"/>
              </a:lnSpc>
              <a:buFont typeface="Arial"/>
              <a:buChar char="•"/>
            </a:pPr>
            <a:r>
              <a:rPr lang="en-US" b="true" sz="2141">
                <a:solidFill>
                  <a:srgbClr val="2A0947"/>
                </a:solidFill>
                <a:latin typeface="Arial MT Pro Bold"/>
                <a:ea typeface="Arial MT Pro Bold"/>
                <a:cs typeface="Arial MT Pro Bold"/>
                <a:sym typeface="Arial MT Pro Bold"/>
              </a:rPr>
              <a:t>From 2025-12 to 2026-03, ACHP share rose from 10.22% to 11.04% in exit counties.</a:t>
            </a:r>
          </a:p>
          <a:p>
            <a:pPr algn="l" marL="462382" indent="-231191" lvl="1">
              <a:lnSpc>
                <a:spcPts val="2998"/>
              </a:lnSpc>
              <a:buFont typeface="Arial"/>
              <a:buChar char="•"/>
            </a:pPr>
            <a:r>
              <a:rPr lang="en-US" b="true" sz="2141">
                <a:solidFill>
                  <a:srgbClr val="2A0947"/>
                </a:solidFill>
                <a:latin typeface="Arial MT Pro Bold"/>
                <a:ea typeface="Arial MT Pro Bold"/>
                <a:cs typeface="Arial MT Pro Bold"/>
                <a:sym typeface="Arial MT Pro Bold"/>
              </a:rPr>
              <a:t>Over the same period, ACHP share rose from 10.11% to 10.39% in non-exit counties.</a:t>
            </a:r>
          </a:p>
          <a:p>
            <a:pPr algn="l" marL="462382" indent="-231191" lvl="1">
              <a:lnSpc>
                <a:spcPts val="2998"/>
              </a:lnSpc>
              <a:buFont typeface="Arial"/>
              <a:buChar char="•"/>
            </a:pPr>
            <a:r>
              <a:rPr lang="en-US" b="true" sz="2141">
                <a:solidFill>
                  <a:srgbClr val="2A0947"/>
                </a:solidFill>
                <a:latin typeface="Arial MT Pro Bold"/>
                <a:ea typeface="Arial MT Pro Bold"/>
                <a:cs typeface="Arial MT Pro Bold"/>
                <a:sym typeface="Arial MT Pro Bold"/>
              </a:rPr>
              <a:t>County-level outcomes were highly uneven, with some counties showing strong gains and others showing weak or negative change.</a:t>
            </a:r>
          </a:p>
          <a:p>
            <a:pPr algn="l">
              <a:lnSpc>
                <a:spcPts val="2998"/>
              </a:lnSpc>
              <a:spcBef>
                <a:spcPct val="0"/>
              </a:spcBef>
            </a:pPr>
          </a:p>
        </p:txBody>
      </p:sp>
      <p:sp>
        <p:nvSpPr>
          <p:cNvPr name="TextBox 7" id="7"/>
          <p:cNvSpPr txBox="true"/>
          <p:nvPr/>
        </p:nvSpPr>
        <p:spPr>
          <a:xfrm rot="0">
            <a:off x="15831377" y="9688573"/>
            <a:ext cx="2002854" cy="453390"/>
          </a:xfrm>
          <a:prstGeom prst="rect">
            <a:avLst/>
          </a:prstGeom>
        </p:spPr>
        <p:txBody>
          <a:bodyPr anchor="t" rtlCol="false" tIns="0" lIns="0" bIns="0" rIns="0">
            <a:spAutoFit/>
          </a:bodyPr>
          <a:lstStyle/>
          <a:p>
            <a:pPr algn="ctr">
              <a:lnSpc>
                <a:spcPts val="3359"/>
              </a:lnSpc>
              <a:spcBef>
                <a:spcPct val="0"/>
              </a:spcBef>
            </a:pPr>
            <a:r>
              <a:rPr lang="en-US" b="true" sz="2399">
                <a:solidFill>
                  <a:srgbClr val="000000"/>
                </a:solidFill>
                <a:latin typeface="Times New Roman MT Bold"/>
                <a:ea typeface="Times New Roman MT Bold"/>
                <a:cs typeface="Times New Roman MT Bold"/>
                <a:sym typeface="Times New Roman MT Bold"/>
              </a:rPr>
              <a:t>Shaibah Raiyan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019" y="9866473"/>
            <a:ext cx="6578600" cy="641350"/>
            <a:chOff x="0" y="0"/>
            <a:chExt cx="1732635" cy="168915"/>
          </a:xfrm>
        </p:grpSpPr>
        <p:sp>
          <p:nvSpPr>
            <p:cNvPr name="Freeform 3" id="3"/>
            <p:cNvSpPr/>
            <p:nvPr/>
          </p:nvSpPr>
          <p:spPr>
            <a:xfrm flipH="false" flipV="false" rot="0">
              <a:off x="0" y="0"/>
              <a:ext cx="1732635" cy="168915"/>
            </a:xfrm>
            <a:custGeom>
              <a:avLst/>
              <a:gdLst/>
              <a:ahLst/>
              <a:cxnLst/>
              <a:rect r="r" b="b" t="t" l="l"/>
              <a:pathLst>
                <a:path h="168915" w="1732635">
                  <a:moveTo>
                    <a:pt x="0" y="0"/>
                  </a:moveTo>
                  <a:lnTo>
                    <a:pt x="1732635" y="0"/>
                  </a:lnTo>
                  <a:lnTo>
                    <a:pt x="1732635" y="168915"/>
                  </a:lnTo>
                  <a:lnTo>
                    <a:pt x="0" y="168915"/>
                  </a:lnTo>
                  <a:close/>
                </a:path>
              </a:pathLst>
            </a:custGeom>
            <a:solidFill>
              <a:srgbClr val="EDC254"/>
            </a:solidFill>
          </p:spPr>
        </p:sp>
        <p:sp>
          <p:nvSpPr>
            <p:cNvPr name="TextBox 4" id="4"/>
            <p:cNvSpPr txBox="true"/>
            <p:nvPr/>
          </p:nvSpPr>
          <p:spPr>
            <a:xfrm>
              <a:off x="0" y="-47625"/>
              <a:ext cx="1732635" cy="21654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134921" y="-320675"/>
            <a:ext cx="6578600" cy="641350"/>
            <a:chOff x="0" y="0"/>
            <a:chExt cx="1732635" cy="168915"/>
          </a:xfrm>
        </p:grpSpPr>
        <p:sp>
          <p:nvSpPr>
            <p:cNvPr name="Freeform 6" id="6"/>
            <p:cNvSpPr/>
            <p:nvPr/>
          </p:nvSpPr>
          <p:spPr>
            <a:xfrm flipH="false" flipV="false" rot="0">
              <a:off x="0" y="0"/>
              <a:ext cx="1732635" cy="168915"/>
            </a:xfrm>
            <a:custGeom>
              <a:avLst/>
              <a:gdLst/>
              <a:ahLst/>
              <a:cxnLst/>
              <a:rect r="r" b="b" t="t" l="l"/>
              <a:pathLst>
                <a:path h="168915" w="1732635">
                  <a:moveTo>
                    <a:pt x="0" y="0"/>
                  </a:moveTo>
                  <a:lnTo>
                    <a:pt x="1732635" y="0"/>
                  </a:lnTo>
                  <a:lnTo>
                    <a:pt x="1732635" y="168915"/>
                  </a:lnTo>
                  <a:lnTo>
                    <a:pt x="0" y="168915"/>
                  </a:lnTo>
                  <a:close/>
                </a:path>
              </a:pathLst>
            </a:custGeom>
            <a:solidFill>
              <a:srgbClr val="EDC254"/>
            </a:solidFill>
          </p:spPr>
        </p:sp>
        <p:sp>
          <p:nvSpPr>
            <p:cNvPr name="TextBox 7" id="7"/>
            <p:cNvSpPr txBox="true"/>
            <p:nvPr/>
          </p:nvSpPr>
          <p:spPr>
            <a:xfrm>
              <a:off x="0" y="-47625"/>
              <a:ext cx="1732635" cy="21654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5400000">
            <a:off x="16760688" y="1103414"/>
            <a:ext cx="1878686" cy="469671"/>
          </a:xfrm>
          <a:custGeom>
            <a:avLst/>
            <a:gdLst/>
            <a:ahLst/>
            <a:cxnLst/>
            <a:rect r="r" b="b" t="t" l="l"/>
            <a:pathLst>
              <a:path h="469671" w="1878686">
                <a:moveTo>
                  <a:pt x="0" y="0"/>
                </a:moveTo>
                <a:lnTo>
                  <a:pt x="1878686" y="0"/>
                </a:lnTo>
                <a:lnTo>
                  <a:pt x="1878686" y="469671"/>
                </a:lnTo>
                <a:lnTo>
                  <a:pt x="0" y="469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293479"/>
            <a:ext cx="3713163" cy="1327567"/>
          </a:xfrm>
          <a:prstGeom prst="rect">
            <a:avLst/>
          </a:prstGeom>
        </p:spPr>
        <p:txBody>
          <a:bodyPr anchor="t" rtlCol="false" tIns="0" lIns="0" bIns="0" rIns="0">
            <a:spAutoFit/>
          </a:bodyPr>
          <a:lstStyle/>
          <a:p>
            <a:pPr algn="l">
              <a:lnSpc>
                <a:spcPts val="5052"/>
              </a:lnSpc>
              <a:spcBef>
                <a:spcPct val="0"/>
              </a:spcBef>
            </a:pPr>
            <a:r>
              <a:rPr lang="en-US" sz="3608">
                <a:solidFill>
                  <a:srgbClr val="000000"/>
                </a:solidFill>
                <a:latin typeface="Times New Roman MT"/>
                <a:ea typeface="Times New Roman MT"/>
                <a:cs typeface="Times New Roman MT"/>
                <a:sym typeface="Times New Roman MT"/>
              </a:rPr>
              <a:t>BUSINESS IMPLICATION</a:t>
            </a:r>
          </a:p>
        </p:txBody>
      </p:sp>
      <p:sp>
        <p:nvSpPr>
          <p:cNvPr name="TextBox 10" id="10"/>
          <p:cNvSpPr txBox="true"/>
          <p:nvPr/>
        </p:nvSpPr>
        <p:spPr>
          <a:xfrm rot="0">
            <a:off x="1028700" y="1554371"/>
            <a:ext cx="5637508" cy="629605"/>
          </a:xfrm>
          <a:prstGeom prst="rect">
            <a:avLst/>
          </a:prstGeom>
        </p:spPr>
        <p:txBody>
          <a:bodyPr anchor="t" rtlCol="false" tIns="0" lIns="0" bIns="0" rIns="0">
            <a:spAutoFit/>
          </a:bodyPr>
          <a:lstStyle/>
          <a:p>
            <a:pPr algn="l">
              <a:lnSpc>
                <a:spcPts val="5197"/>
              </a:lnSpc>
              <a:spcBef>
                <a:spcPct val="0"/>
              </a:spcBef>
            </a:pPr>
            <a:r>
              <a:rPr lang="en-US" sz="3712">
                <a:solidFill>
                  <a:srgbClr val="000000"/>
                </a:solidFill>
                <a:latin typeface="League Spartan"/>
                <a:ea typeface="League Spartan"/>
                <a:cs typeface="League Spartan"/>
                <a:sym typeface="League Spartan"/>
              </a:rPr>
              <a:t>&amp;RECOMMENDATIONS</a:t>
            </a:r>
          </a:p>
        </p:txBody>
      </p:sp>
      <p:sp>
        <p:nvSpPr>
          <p:cNvPr name="TextBox 11" id="11"/>
          <p:cNvSpPr txBox="true"/>
          <p:nvPr/>
        </p:nvSpPr>
        <p:spPr>
          <a:xfrm rot="0">
            <a:off x="2279873" y="9788367"/>
            <a:ext cx="2461989" cy="398780"/>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Archivo Black"/>
                <a:ea typeface="Archivo Black"/>
                <a:cs typeface="Archivo Black"/>
                <a:sym typeface="Archivo Black"/>
              </a:rPr>
              <a:t>Shaibah Raiyan</a:t>
            </a:r>
          </a:p>
        </p:txBody>
      </p:sp>
      <p:sp>
        <p:nvSpPr>
          <p:cNvPr name="TextBox 12" id="12"/>
          <p:cNvSpPr txBox="true"/>
          <p:nvPr/>
        </p:nvSpPr>
        <p:spPr>
          <a:xfrm rot="0">
            <a:off x="1028700" y="2220442"/>
            <a:ext cx="16780983" cy="7370797"/>
          </a:xfrm>
          <a:prstGeom prst="rect">
            <a:avLst/>
          </a:prstGeom>
        </p:spPr>
        <p:txBody>
          <a:bodyPr anchor="t" rtlCol="false" tIns="0" lIns="0" bIns="0" rIns="0">
            <a:spAutoFit/>
          </a:bodyPr>
          <a:lstStyle/>
          <a:p>
            <a:pPr algn="l">
              <a:lnSpc>
                <a:spcPts val="3235"/>
              </a:lnSpc>
              <a:spcBef>
                <a:spcPct val="0"/>
              </a:spcBef>
            </a:pPr>
            <a:r>
              <a:rPr lang="en-US" sz="2311">
                <a:solidFill>
                  <a:srgbClr val="000000"/>
                </a:solidFill>
                <a:latin typeface="Archivo Black"/>
                <a:ea typeface="Archivo Black"/>
                <a:cs typeface="Archivo Black"/>
                <a:sym typeface="Archivo Black"/>
              </a:rPr>
              <a:t>1. Build an Early-Warning System Monitor star rating trends, HHI shifts, and carrier filing signals monthly — prioritizing counties with high PPO and HMO-POS concentration. Use SCC monthly enrollment patterns (county/contract) plus annual Landscape updates to flag counties where competitor contraction is likely driving member reallocation.</a:t>
            </a:r>
          </a:p>
          <a:p>
            <a:pPr algn="l">
              <a:lnSpc>
                <a:spcPts val="3235"/>
              </a:lnSpc>
              <a:spcBef>
                <a:spcPct val="0"/>
              </a:spcBef>
            </a:pPr>
          </a:p>
          <a:p>
            <a:pPr algn="l">
              <a:lnSpc>
                <a:spcPts val="3235"/>
              </a:lnSpc>
              <a:spcBef>
                <a:spcPct val="0"/>
              </a:spcBef>
            </a:pPr>
            <a:r>
              <a:rPr lang="en-US" sz="2311">
                <a:solidFill>
                  <a:srgbClr val="000000"/>
                </a:solidFill>
                <a:latin typeface="Archivo Black"/>
                <a:ea typeface="Archivo Black"/>
                <a:cs typeface="Archivo Black"/>
                <a:sym typeface="Archivo Black"/>
              </a:rPr>
              <a:t>2. Use Star Rating Decline as the Trigger High Pickup counties saw star ratings fall to -0.27 post-exit, signaling strong competitor withdrawal. A declining star rating is not a warning — it is the earliest indicator that ACHP's opportunity window is opening. When this signal appears, immediately secure plan filings, activate broker outreach, and establish local market presence ahead of open enrollment.</a:t>
            </a:r>
          </a:p>
          <a:p>
            <a:pPr algn="l">
              <a:lnSpc>
                <a:spcPts val="3235"/>
              </a:lnSpc>
              <a:spcBef>
                <a:spcPct val="0"/>
              </a:spcBef>
            </a:pPr>
          </a:p>
          <a:p>
            <a:pPr algn="l">
              <a:lnSpc>
                <a:spcPts val="3235"/>
              </a:lnSpc>
              <a:spcBef>
                <a:spcPct val="0"/>
              </a:spcBef>
            </a:pPr>
            <a:r>
              <a:rPr lang="en-US" sz="2311">
                <a:solidFill>
                  <a:srgbClr val="000000"/>
                </a:solidFill>
                <a:latin typeface="Archivo Black"/>
                <a:ea typeface="Archivo Black"/>
                <a:cs typeface="Archivo Black"/>
                <a:sym typeface="Archivo Black"/>
              </a:rPr>
              <a:t>3. Implement a County Triage Framework Classify flagged counties into two action tracks:</a:t>
            </a:r>
          </a:p>
          <a:p>
            <a:pPr algn="l">
              <a:lnSpc>
                <a:spcPts val="3235"/>
              </a:lnSpc>
              <a:spcBef>
                <a:spcPct val="0"/>
              </a:spcBef>
            </a:pPr>
            <a:r>
              <a:rPr lang="en-US" sz="2311">
                <a:solidFill>
                  <a:srgbClr val="000000"/>
                </a:solidFill>
                <a:latin typeface="Archivo Black"/>
                <a:ea typeface="Archivo Black"/>
                <a:cs typeface="Archivo Black"/>
                <a:sym typeface="Archivo Black"/>
              </a:rPr>
              <a:t>Expand — concentration↑ &amp; ACHP share↑ (185 counties): double down, scale what's working</a:t>
            </a:r>
          </a:p>
          <a:p>
            <a:pPr algn="l">
              <a:lnSpc>
                <a:spcPts val="3235"/>
              </a:lnSpc>
              <a:spcBef>
                <a:spcPct val="0"/>
              </a:spcBef>
            </a:pPr>
            <a:r>
              <a:rPr lang="en-US" sz="2311">
                <a:solidFill>
                  <a:srgbClr val="000000"/>
                </a:solidFill>
                <a:latin typeface="Archivo Black"/>
                <a:ea typeface="Archivo Black"/>
                <a:cs typeface="Archivo Black"/>
                <a:sym typeface="Archivo Black"/>
              </a:rPr>
              <a:t>Defend — concentration↑ &amp; ACHP share↓ (73 counties): immediate intervention to protect existing members</a:t>
            </a:r>
          </a:p>
          <a:p>
            <a:pPr algn="l">
              <a:lnSpc>
                <a:spcPts val="3235"/>
              </a:lnSpc>
              <a:spcBef>
                <a:spcPct val="0"/>
              </a:spcBef>
            </a:pPr>
            <a:r>
              <a:rPr lang="en-US" sz="2311">
                <a:solidFill>
                  <a:srgbClr val="000000"/>
                </a:solidFill>
                <a:latin typeface="Archivo Black"/>
                <a:ea typeface="Archivo Black"/>
                <a:cs typeface="Archivo Black"/>
                <a:sym typeface="Archivo Black"/>
              </a:rPr>
              <a:t>This avoids a one-size-fits-all response and focuses limited resources where impact and risk are highest.</a:t>
            </a:r>
          </a:p>
          <a:p>
            <a:pPr algn="l">
              <a:lnSpc>
                <a:spcPts val="3235"/>
              </a:lnSpc>
              <a:spcBef>
                <a:spcPct val="0"/>
              </a:spcBef>
            </a:pPr>
            <a:r>
              <a:rPr lang="en-US" sz="2311">
                <a:solidFill>
                  <a:srgbClr val="000000"/>
                </a:solidFill>
                <a:latin typeface="Archivo Black"/>
                <a:ea typeface="Archivo Black"/>
                <a:cs typeface="Archivo Black"/>
                <a:sym typeface="Archivo Black"/>
              </a:rPr>
              <a:t>Closing line: Carrier exits are the new normal. The 3-month pickup window is short — ACHP must be positioned before displaced beneficiaries make their switching decisions, not after.</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52997" y="8991099"/>
            <a:ext cx="1878686" cy="469671"/>
          </a:xfrm>
          <a:custGeom>
            <a:avLst/>
            <a:gdLst/>
            <a:ahLst/>
            <a:cxnLst/>
            <a:rect r="r" b="b" t="t" l="l"/>
            <a:pathLst>
              <a:path h="469671" w="1878686">
                <a:moveTo>
                  <a:pt x="0" y="0"/>
                </a:moveTo>
                <a:lnTo>
                  <a:pt x="1878686" y="0"/>
                </a:lnTo>
                <a:lnTo>
                  <a:pt x="1878686" y="469672"/>
                </a:lnTo>
                <a:lnTo>
                  <a:pt x="0" y="469672"/>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217820"/>
            <a:ext cx="4641850" cy="699565"/>
            <a:chOff x="0" y="0"/>
            <a:chExt cx="1222545" cy="184248"/>
          </a:xfrm>
        </p:grpSpPr>
        <p:sp>
          <p:nvSpPr>
            <p:cNvPr name="Freeform 4" id="4"/>
            <p:cNvSpPr/>
            <p:nvPr/>
          </p:nvSpPr>
          <p:spPr>
            <a:xfrm flipH="false" flipV="false" rot="0">
              <a:off x="0" y="0"/>
              <a:ext cx="1222545" cy="184248"/>
            </a:xfrm>
            <a:custGeom>
              <a:avLst/>
              <a:gdLst/>
              <a:ahLst/>
              <a:cxnLst/>
              <a:rect r="r" b="b" t="t" l="l"/>
              <a:pathLst>
                <a:path h="184248" w="1222545">
                  <a:moveTo>
                    <a:pt x="0" y="0"/>
                  </a:moveTo>
                  <a:lnTo>
                    <a:pt x="1222545" y="0"/>
                  </a:lnTo>
                  <a:lnTo>
                    <a:pt x="1222545" y="184248"/>
                  </a:lnTo>
                  <a:lnTo>
                    <a:pt x="0" y="184248"/>
                  </a:lnTo>
                  <a:close/>
                </a:path>
              </a:pathLst>
            </a:custGeom>
            <a:solidFill>
              <a:srgbClr val="EDC254"/>
            </a:solidFill>
          </p:spPr>
        </p:sp>
        <p:sp>
          <p:nvSpPr>
            <p:cNvPr name="TextBox 5" id="5"/>
            <p:cNvSpPr txBox="true"/>
            <p:nvPr/>
          </p:nvSpPr>
          <p:spPr>
            <a:xfrm>
              <a:off x="0" y="-47625"/>
              <a:ext cx="1222545" cy="23187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136106" y="1113045"/>
            <a:ext cx="9849574" cy="997246"/>
          </a:xfrm>
          <a:prstGeom prst="rect">
            <a:avLst/>
          </a:prstGeom>
        </p:spPr>
        <p:txBody>
          <a:bodyPr anchor="t" rtlCol="false" tIns="0" lIns="0" bIns="0" rIns="0">
            <a:spAutoFit/>
          </a:bodyPr>
          <a:lstStyle/>
          <a:p>
            <a:pPr algn="ctr">
              <a:lnSpc>
                <a:spcPts val="8258"/>
              </a:lnSpc>
              <a:spcBef>
                <a:spcPct val="0"/>
              </a:spcBef>
            </a:pPr>
            <a:r>
              <a:rPr lang="en-US" sz="5898">
                <a:solidFill>
                  <a:srgbClr val="000000"/>
                </a:solidFill>
                <a:latin typeface="League Spartan"/>
                <a:ea typeface="League Spartan"/>
                <a:cs typeface="League Spartan"/>
                <a:sym typeface="League Spartan"/>
              </a:rPr>
              <a:t>EXECUTIVE SUMMARY</a:t>
            </a:r>
          </a:p>
        </p:txBody>
      </p:sp>
      <p:sp>
        <p:nvSpPr>
          <p:cNvPr name="TextBox 7" id="7"/>
          <p:cNvSpPr txBox="true"/>
          <p:nvPr/>
        </p:nvSpPr>
        <p:spPr>
          <a:xfrm rot="0">
            <a:off x="4136106" y="4986364"/>
            <a:ext cx="12617450" cy="1354667"/>
          </a:xfrm>
          <a:prstGeom prst="rect">
            <a:avLst/>
          </a:prstGeom>
        </p:spPr>
        <p:txBody>
          <a:bodyPr anchor="t" rtlCol="false" tIns="0" lIns="0" bIns="0" rIns="0">
            <a:spAutoFit/>
          </a:bodyPr>
          <a:lstStyle/>
          <a:p>
            <a:pPr algn="l">
              <a:lnSpc>
                <a:spcPts val="3558"/>
              </a:lnSpc>
              <a:spcBef>
                <a:spcPct val="0"/>
              </a:spcBef>
            </a:pPr>
            <a:r>
              <a:rPr lang="en-US" sz="2541">
                <a:solidFill>
                  <a:srgbClr val="2A0947"/>
                </a:solidFill>
                <a:latin typeface="Poppins"/>
                <a:ea typeface="Poppins"/>
                <a:cs typeface="Poppins"/>
                <a:sym typeface="Poppins"/>
              </a:rPr>
              <a:t>CVS, UHC, and HCSC exited 607 MA plans across 43 states and 1,268 counties in 2025–2026, displacing thousands of beneficiaries. It was unknown whether ACHP community plans absorbed this enrollment and at what quality cost.</a:t>
            </a:r>
          </a:p>
        </p:txBody>
      </p:sp>
      <p:grpSp>
        <p:nvGrpSpPr>
          <p:cNvPr name="Group 8" id="8"/>
          <p:cNvGrpSpPr/>
          <p:nvPr/>
        </p:nvGrpSpPr>
        <p:grpSpPr>
          <a:xfrm rot="0">
            <a:off x="13646150" y="1217820"/>
            <a:ext cx="4641850" cy="699565"/>
            <a:chOff x="0" y="0"/>
            <a:chExt cx="1222545" cy="184248"/>
          </a:xfrm>
        </p:grpSpPr>
        <p:sp>
          <p:nvSpPr>
            <p:cNvPr name="Freeform 9" id="9"/>
            <p:cNvSpPr/>
            <p:nvPr/>
          </p:nvSpPr>
          <p:spPr>
            <a:xfrm flipH="false" flipV="false" rot="0">
              <a:off x="0" y="0"/>
              <a:ext cx="1222545" cy="184248"/>
            </a:xfrm>
            <a:custGeom>
              <a:avLst/>
              <a:gdLst/>
              <a:ahLst/>
              <a:cxnLst/>
              <a:rect r="r" b="b" t="t" l="l"/>
              <a:pathLst>
                <a:path h="184248" w="1222545">
                  <a:moveTo>
                    <a:pt x="0" y="0"/>
                  </a:moveTo>
                  <a:lnTo>
                    <a:pt x="1222545" y="0"/>
                  </a:lnTo>
                  <a:lnTo>
                    <a:pt x="1222545" y="184248"/>
                  </a:lnTo>
                  <a:lnTo>
                    <a:pt x="0" y="184248"/>
                  </a:lnTo>
                  <a:close/>
                </a:path>
              </a:pathLst>
            </a:custGeom>
            <a:solidFill>
              <a:srgbClr val="EDC254"/>
            </a:solidFill>
          </p:spPr>
        </p:sp>
        <p:sp>
          <p:nvSpPr>
            <p:cNvPr name="TextBox 10" id="10"/>
            <p:cNvSpPr txBox="true"/>
            <p:nvPr/>
          </p:nvSpPr>
          <p:spPr>
            <a:xfrm>
              <a:off x="0" y="-47625"/>
              <a:ext cx="1222545" cy="23187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4174987" y="9493847"/>
            <a:ext cx="3965424"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Ananya Jhamb</a:t>
            </a:r>
          </a:p>
        </p:txBody>
      </p:sp>
      <p:grpSp>
        <p:nvGrpSpPr>
          <p:cNvPr name="Group 12" id="12"/>
          <p:cNvGrpSpPr/>
          <p:nvPr/>
        </p:nvGrpSpPr>
        <p:grpSpPr>
          <a:xfrm rot="0">
            <a:off x="0" y="5143500"/>
            <a:ext cx="3328150" cy="1116595"/>
            <a:chOff x="0" y="0"/>
            <a:chExt cx="876550" cy="294083"/>
          </a:xfrm>
        </p:grpSpPr>
        <p:sp>
          <p:nvSpPr>
            <p:cNvPr name="Freeform 13" id="13"/>
            <p:cNvSpPr/>
            <p:nvPr/>
          </p:nvSpPr>
          <p:spPr>
            <a:xfrm flipH="false" flipV="false" rot="0">
              <a:off x="0" y="0"/>
              <a:ext cx="876550" cy="294083"/>
            </a:xfrm>
            <a:custGeom>
              <a:avLst/>
              <a:gdLst/>
              <a:ahLst/>
              <a:cxnLst/>
              <a:rect r="r" b="b" t="t" l="l"/>
              <a:pathLst>
                <a:path h="294083" w="876550">
                  <a:moveTo>
                    <a:pt x="0" y="0"/>
                  </a:moveTo>
                  <a:lnTo>
                    <a:pt x="876550" y="0"/>
                  </a:lnTo>
                  <a:lnTo>
                    <a:pt x="876550" y="294083"/>
                  </a:lnTo>
                  <a:lnTo>
                    <a:pt x="0" y="294083"/>
                  </a:lnTo>
                  <a:close/>
                </a:path>
              </a:pathLst>
            </a:custGeom>
            <a:solidFill>
              <a:srgbClr val="EDC254"/>
            </a:solidFill>
          </p:spPr>
        </p:sp>
        <p:sp>
          <p:nvSpPr>
            <p:cNvPr name="TextBox 14" id="14"/>
            <p:cNvSpPr txBox="true"/>
            <p:nvPr/>
          </p:nvSpPr>
          <p:spPr>
            <a:xfrm>
              <a:off x="0" y="-47625"/>
              <a:ext cx="876550" cy="341708"/>
            </a:xfrm>
            <a:prstGeom prst="rect">
              <a:avLst/>
            </a:prstGeom>
          </p:spPr>
          <p:txBody>
            <a:bodyPr anchor="ctr" rtlCol="false" tIns="50800" lIns="50800" bIns="50800" rIns="50800"/>
            <a:lstStyle/>
            <a:p>
              <a:pPr algn="ctr">
                <a:lnSpc>
                  <a:spcPts val="2659"/>
                </a:lnSpc>
              </a:pPr>
              <a:r>
                <a:rPr lang="en-US" sz="1899">
                  <a:solidFill>
                    <a:srgbClr val="FFFFFF"/>
                  </a:solidFill>
                  <a:latin typeface="Archivo Black"/>
                  <a:ea typeface="Archivo Black"/>
                  <a:cs typeface="Archivo Black"/>
                  <a:sym typeface="Archivo Black"/>
                </a:rPr>
                <a:t>PROBLEM</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52997" y="8991099"/>
            <a:ext cx="1878686" cy="469671"/>
          </a:xfrm>
          <a:custGeom>
            <a:avLst/>
            <a:gdLst/>
            <a:ahLst/>
            <a:cxnLst/>
            <a:rect r="r" b="b" t="t" l="l"/>
            <a:pathLst>
              <a:path h="469671" w="1878686">
                <a:moveTo>
                  <a:pt x="0" y="0"/>
                </a:moveTo>
                <a:lnTo>
                  <a:pt x="1878686" y="0"/>
                </a:lnTo>
                <a:lnTo>
                  <a:pt x="1878686" y="469672"/>
                </a:lnTo>
                <a:lnTo>
                  <a:pt x="0" y="469672"/>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217820"/>
            <a:ext cx="4641850" cy="699565"/>
            <a:chOff x="0" y="0"/>
            <a:chExt cx="1222545" cy="184248"/>
          </a:xfrm>
        </p:grpSpPr>
        <p:sp>
          <p:nvSpPr>
            <p:cNvPr name="Freeform 4" id="4"/>
            <p:cNvSpPr/>
            <p:nvPr/>
          </p:nvSpPr>
          <p:spPr>
            <a:xfrm flipH="false" flipV="false" rot="0">
              <a:off x="0" y="0"/>
              <a:ext cx="1222545" cy="184248"/>
            </a:xfrm>
            <a:custGeom>
              <a:avLst/>
              <a:gdLst/>
              <a:ahLst/>
              <a:cxnLst/>
              <a:rect r="r" b="b" t="t" l="l"/>
              <a:pathLst>
                <a:path h="184248" w="1222545">
                  <a:moveTo>
                    <a:pt x="0" y="0"/>
                  </a:moveTo>
                  <a:lnTo>
                    <a:pt x="1222545" y="0"/>
                  </a:lnTo>
                  <a:lnTo>
                    <a:pt x="1222545" y="184248"/>
                  </a:lnTo>
                  <a:lnTo>
                    <a:pt x="0" y="184248"/>
                  </a:lnTo>
                  <a:close/>
                </a:path>
              </a:pathLst>
            </a:custGeom>
            <a:solidFill>
              <a:srgbClr val="EDC254"/>
            </a:solidFill>
          </p:spPr>
        </p:sp>
        <p:sp>
          <p:nvSpPr>
            <p:cNvPr name="TextBox 5" id="5"/>
            <p:cNvSpPr txBox="true"/>
            <p:nvPr/>
          </p:nvSpPr>
          <p:spPr>
            <a:xfrm>
              <a:off x="0" y="-47625"/>
              <a:ext cx="1222545" cy="23187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136106" y="1113045"/>
            <a:ext cx="9849574" cy="997246"/>
          </a:xfrm>
          <a:prstGeom prst="rect">
            <a:avLst/>
          </a:prstGeom>
        </p:spPr>
        <p:txBody>
          <a:bodyPr anchor="t" rtlCol="false" tIns="0" lIns="0" bIns="0" rIns="0">
            <a:spAutoFit/>
          </a:bodyPr>
          <a:lstStyle/>
          <a:p>
            <a:pPr algn="ctr">
              <a:lnSpc>
                <a:spcPts val="8258"/>
              </a:lnSpc>
              <a:spcBef>
                <a:spcPct val="0"/>
              </a:spcBef>
            </a:pPr>
            <a:r>
              <a:rPr lang="en-US" sz="5898">
                <a:solidFill>
                  <a:srgbClr val="000000"/>
                </a:solidFill>
                <a:latin typeface="League Spartan"/>
                <a:ea typeface="League Spartan"/>
                <a:cs typeface="League Spartan"/>
                <a:sym typeface="League Spartan"/>
              </a:rPr>
              <a:t>EXECUTIVE SUMMARY</a:t>
            </a:r>
          </a:p>
        </p:txBody>
      </p:sp>
      <p:grpSp>
        <p:nvGrpSpPr>
          <p:cNvPr name="Group 7" id="7"/>
          <p:cNvGrpSpPr/>
          <p:nvPr/>
        </p:nvGrpSpPr>
        <p:grpSpPr>
          <a:xfrm rot="0">
            <a:off x="13646150" y="1217820"/>
            <a:ext cx="4641850" cy="699565"/>
            <a:chOff x="0" y="0"/>
            <a:chExt cx="1222545" cy="184248"/>
          </a:xfrm>
        </p:grpSpPr>
        <p:sp>
          <p:nvSpPr>
            <p:cNvPr name="Freeform 8" id="8"/>
            <p:cNvSpPr/>
            <p:nvPr/>
          </p:nvSpPr>
          <p:spPr>
            <a:xfrm flipH="false" flipV="false" rot="0">
              <a:off x="0" y="0"/>
              <a:ext cx="1222545" cy="184248"/>
            </a:xfrm>
            <a:custGeom>
              <a:avLst/>
              <a:gdLst/>
              <a:ahLst/>
              <a:cxnLst/>
              <a:rect r="r" b="b" t="t" l="l"/>
              <a:pathLst>
                <a:path h="184248" w="1222545">
                  <a:moveTo>
                    <a:pt x="0" y="0"/>
                  </a:moveTo>
                  <a:lnTo>
                    <a:pt x="1222545" y="0"/>
                  </a:lnTo>
                  <a:lnTo>
                    <a:pt x="1222545" y="184248"/>
                  </a:lnTo>
                  <a:lnTo>
                    <a:pt x="0" y="184248"/>
                  </a:lnTo>
                  <a:close/>
                </a:path>
              </a:pathLst>
            </a:custGeom>
            <a:solidFill>
              <a:srgbClr val="EDC254"/>
            </a:solidFill>
          </p:spPr>
        </p:sp>
        <p:sp>
          <p:nvSpPr>
            <p:cNvPr name="TextBox 9" id="9"/>
            <p:cNvSpPr txBox="true"/>
            <p:nvPr/>
          </p:nvSpPr>
          <p:spPr>
            <a:xfrm>
              <a:off x="0" y="-47625"/>
              <a:ext cx="1222545" cy="23187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5452997" y="9511958"/>
            <a:ext cx="3965424"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Pinxi Lyu</a:t>
            </a:r>
          </a:p>
        </p:txBody>
      </p:sp>
      <p:sp>
        <p:nvSpPr>
          <p:cNvPr name="TextBox 11" id="11"/>
          <p:cNvSpPr txBox="true"/>
          <p:nvPr/>
        </p:nvSpPr>
        <p:spPr>
          <a:xfrm rot="0">
            <a:off x="3714455" y="3159682"/>
            <a:ext cx="14573545" cy="5430319"/>
          </a:xfrm>
          <a:prstGeom prst="rect">
            <a:avLst/>
          </a:prstGeom>
        </p:spPr>
        <p:txBody>
          <a:bodyPr anchor="t" rtlCol="false" tIns="0" lIns="0" bIns="0" rIns="0">
            <a:spAutoFit/>
          </a:bodyPr>
          <a:lstStyle/>
          <a:p>
            <a:pPr algn="l">
              <a:lnSpc>
                <a:spcPts val="3589"/>
              </a:lnSpc>
              <a:spcBef>
                <a:spcPct val="0"/>
              </a:spcBef>
            </a:pPr>
            <a:r>
              <a:rPr lang="en-US" sz="2563">
                <a:solidFill>
                  <a:srgbClr val="2A0947"/>
                </a:solidFill>
                <a:latin typeface="Poppins"/>
                <a:ea typeface="Poppins"/>
                <a:cs typeface="Poppins"/>
                <a:sym typeface="Poppins"/>
              </a:rPr>
              <a:t>We combined CMS Landscape (CY2025 and CY2026) and monthly SCC MA enrollment data through Jan 2025 to March 2026, standardized state/county/organization naming to align records across sources, and defined markets as State × County × Parent Organization. Using an anti-join (set-difference) approach, we identified “exit markets” where a parent organization operated in 2025 but was absent in 2026, then quantified 2025 market size (contracts, contract-plan combinations, and plan counts) and extracted plan-level details for those exits. We flagged ACHP enrollment using the ACHP contract crosswalk and classified counties as “exit” vs “non-exit” based on whether any exit market occurred in the county. Finally, we evaluated ACHP performance through monthly trends and a pre/post comparison (Dec 2025 vs Mar 2026), measuring changes in ACHP enrollment and ACHP enrollment share, and visualized these trends for exit vs non-exit counties.</a:t>
            </a:r>
          </a:p>
        </p:txBody>
      </p:sp>
      <p:grpSp>
        <p:nvGrpSpPr>
          <p:cNvPr name="Group 12" id="12"/>
          <p:cNvGrpSpPr/>
          <p:nvPr/>
        </p:nvGrpSpPr>
        <p:grpSpPr>
          <a:xfrm rot="0">
            <a:off x="268032" y="5345263"/>
            <a:ext cx="3328150" cy="1116595"/>
            <a:chOff x="0" y="0"/>
            <a:chExt cx="876550" cy="294083"/>
          </a:xfrm>
        </p:grpSpPr>
        <p:sp>
          <p:nvSpPr>
            <p:cNvPr name="Freeform 13" id="13"/>
            <p:cNvSpPr/>
            <p:nvPr/>
          </p:nvSpPr>
          <p:spPr>
            <a:xfrm flipH="false" flipV="false" rot="0">
              <a:off x="0" y="0"/>
              <a:ext cx="876550" cy="294083"/>
            </a:xfrm>
            <a:custGeom>
              <a:avLst/>
              <a:gdLst/>
              <a:ahLst/>
              <a:cxnLst/>
              <a:rect r="r" b="b" t="t" l="l"/>
              <a:pathLst>
                <a:path h="294083" w="876550">
                  <a:moveTo>
                    <a:pt x="0" y="0"/>
                  </a:moveTo>
                  <a:lnTo>
                    <a:pt x="876550" y="0"/>
                  </a:lnTo>
                  <a:lnTo>
                    <a:pt x="876550" y="294083"/>
                  </a:lnTo>
                  <a:lnTo>
                    <a:pt x="0" y="294083"/>
                  </a:lnTo>
                  <a:close/>
                </a:path>
              </a:pathLst>
            </a:custGeom>
            <a:solidFill>
              <a:srgbClr val="EDC254"/>
            </a:solidFill>
          </p:spPr>
        </p:sp>
        <p:sp>
          <p:nvSpPr>
            <p:cNvPr name="TextBox 14" id="14"/>
            <p:cNvSpPr txBox="true"/>
            <p:nvPr/>
          </p:nvSpPr>
          <p:spPr>
            <a:xfrm>
              <a:off x="0" y="-47625"/>
              <a:ext cx="876550" cy="341708"/>
            </a:xfrm>
            <a:prstGeom prst="rect">
              <a:avLst/>
            </a:prstGeom>
          </p:spPr>
          <p:txBody>
            <a:bodyPr anchor="ctr" rtlCol="false" tIns="50800" lIns="50800" bIns="50800" rIns="50800"/>
            <a:lstStyle/>
            <a:p>
              <a:pPr algn="ctr">
                <a:lnSpc>
                  <a:spcPts val="2659"/>
                </a:lnSpc>
              </a:pPr>
              <a:r>
                <a:rPr lang="en-US" sz="1899">
                  <a:solidFill>
                    <a:srgbClr val="FFFFFF"/>
                  </a:solidFill>
                  <a:latin typeface="Archivo Black"/>
                  <a:ea typeface="Archivo Black"/>
                  <a:cs typeface="Archivo Black"/>
                  <a:sym typeface="Archivo Black"/>
                </a:rPr>
                <a:t>Analytics APPROACH</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52997" y="8991099"/>
            <a:ext cx="1878686" cy="469671"/>
          </a:xfrm>
          <a:custGeom>
            <a:avLst/>
            <a:gdLst/>
            <a:ahLst/>
            <a:cxnLst/>
            <a:rect r="r" b="b" t="t" l="l"/>
            <a:pathLst>
              <a:path h="469671" w="1878686">
                <a:moveTo>
                  <a:pt x="0" y="0"/>
                </a:moveTo>
                <a:lnTo>
                  <a:pt x="1878686" y="0"/>
                </a:lnTo>
                <a:lnTo>
                  <a:pt x="1878686" y="469672"/>
                </a:lnTo>
                <a:lnTo>
                  <a:pt x="0" y="469672"/>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217820"/>
            <a:ext cx="4641850" cy="699565"/>
            <a:chOff x="0" y="0"/>
            <a:chExt cx="1222545" cy="184248"/>
          </a:xfrm>
        </p:grpSpPr>
        <p:sp>
          <p:nvSpPr>
            <p:cNvPr name="Freeform 4" id="4"/>
            <p:cNvSpPr/>
            <p:nvPr/>
          </p:nvSpPr>
          <p:spPr>
            <a:xfrm flipH="false" flipV="false" rot="0">
              <a:off x="0" y="0"/>
              <a:ext cx="1222545" cy="184248"/>
            </a:xfrm>
            <a:custGeom>
              <a:avLst/>
              <a:gdLst/>
              <a:ahLst/>
              <a:cxnLst/>
              <a:rect r="r" b="b" t="t" l="l"/>
              <a:pathLst>
                <a:path h="184248" w="1222545">
                  <a:moveTo>
                    <a:pt x="0" y="0"/>
                  </a:moveTo>
                  <a:lnTo>
                    <a:pt x="1222545" y="0"/>
                  </a:lnTo>
                  <a:lnTo>
                    <a:pt x="1222545" y="184248"/>
                  </a:lnTo>
                  <a:lnTo>
                    <a:pt x="0" y="184248"/>
                  </a:lnTo>
                  <a:close/>
                </a:path>
              </a:pathLst>
            </a:custGeom>
            <a:solidFill>
              <a:srgbClr val="EDC254"/>
            </a:solidFill>
          </p:spPr>
        </p:sp>
        <p:sp>
          <p:nvSpPr>
            <p:cNvPr name="TextBox 5" id="5"/>
            <p:cNvSpPr txBox="true"/>
            <p:nvPr/>
          </p:nvSpPr>
          <p:spPr>
            <a:xfrm>
              <a:off x="0" y="-47625"/>
              <a:ext cx="1222545" cy="23187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136106" y="1113045"/>
            <a:ext cx="9849574" cy="997246"/>
          </a:xfrm>
          <a:prstGeom prst="rect">
            <a:avLst/>
          </a:prstGeom>
        </p:spPr>
        <p:txBody>
          <a:bodyPr anchor="t" rtlCol="false" tIns="0" lIns="0" bIns="0" rIns="0">
            <a:spAutoFit/>
          </a:bodyPr>
          <a:lstStyle/>
          <a:p>
            <a:pPr algn="ctr">
              <a:lnSpc>
                <a:spcPts val="8258"/>
              </a:lnSpc>
              <a:spcBef>
                <a:spcPct val="0"/>
              </a:spcBef>
            </a:pPr>
            <a:r>
              <a:rPr lang="en-US" sz="5898">
                <a:solidFill>
                  <a:srgbClr val="000000"/>
                </a:solidFill>
                <a:latin typeface="League Spartan"/>
                <a:ea typeface="League Spartan"/>
                <a:cs typeface="League Spartan"/>
                <a:sym typeface="League Spartan"/>
              </a:rPr>
              <a:t>EXECUTIVE SUMMARY</a:t>
            </a:r>
          </a:p>
        </p:txBody>
      </p:sp>
      <p:sp>
        <p:nvSpPr>
          <p:cNvPr name="TextBox 7" id="7"/>
          <p:cNvSpPr txBox="true"/>
          <p:nvPr/>
        </p:nvSpPr>
        <p:spPr>
          <a:xfrm rot="0">
            <a:off x="3867291" y="3756196"/>
            <a:ext cx="14420709" cy="1354667"/>
          </a:xfrm>
          <a:prstGeom prst="rect">
            <a:avLst/>
          </a:prstGeom>
        </p:spPr>
        <p:txBody>
          <a:bodyPr anchor="t" rtlCol="false" tIns="0" lIns="0" bIns="0" rIns="0">
            <a:spAutoFit/>
          </a:bodyPr>
          <a:lstStyle/>
          <a:p>
            <a:pPr algn="l">
              <a:lnSpc>
                <a:spcPts val="3558"/>
              </a:lnSpc>
            </a:pPr>
            <a:r>
              <a:rPr lang="en-US" sz="2541">
                <a:solidFill>
                  <a:srgbClr val="2A0947"/>
                </a:solidFill>
                <a:latin typeface="Poppins"/>
                <a:ea typeface="Poppins"/>
                <a:cs typeface="Poppins"/>
                <a:sym typeface="Poppins"/>
              </a:rPr>
              <a:t>1.</a:t>
            </a:r>
            <a:r>
              <a:rPr lang="en-US" sz="2541" b="true">
                <a:solidFill>
                  <a:srgbClr val="2A0947"/>
                </a:solidFill>
                <a:latin typeface="Poppins Bold"/>
                <a:ea typeface="Poppins Bold"/>
                <a:cs typeface="Poppins Bold"/>
                <a:sym typeface="Poppins Bold"/>
              </a:rPr>
              <a:t>Plan type match does not drive pickup</a:t>
            </a:r>
            <a:r>
              <a:rPr lang="en-US" sz="2541">
                <a:solidFill>
                  <a:srgbClr val="2A0947"/>
                </a:solidFill>
                <a:latin typeface="Poppins"/>
                <a:ea typeface="Poppins"/>
                <a:cs typeface="Poppins"/>
                <a:sym typeface="Poppins"/>
              </a:rPr>
              <a:t>. </a:t>
            </a:r>
          </a:p>
          <a:p>
            <a:pPr algn="l">
              <a:lnSpc>
                <a:spcPts val="3558"/>
              </a:lnSpc>
              <a:spcBef>
                <a:spcPct val="0"/>
              </a:spcBef>
            </a:pPr>
            <a:r>
              <a:rPr lang="en-US" sz="2541">
                <a:solidFill>
                  <a:srgbClr val="2A0947"/>
                </a:solidFill>
                <a:latin typeface="Poppins"/>
                <a:ea typeface="Poppins"/>
                <a:cs typeface="Poppins"/>
                <a:sym typeface="Poppins"/>
              </a:rPr>
              <a:t>Low Pickup counties had stronger D-SNP alignment yet lower pickup. High Pickup counties had the largest PPO and HMO-POS gaps — and the highest gains.</a:t>
            </a:r>
          </a:p>
        </p:txBody>
      </p:sp>
      <p:grpSp>
        <p:nvGrpSpPr>
          <p:cNvPr name="Group 8" id="8"/>
          <p:cNvGrpSpPr/>
          <p:nvPr/>
        </p:nvGrpSpPr>
        <p:grpSpPr>
          <a:xfrm rot="0">
            <a:off x="13646150" y="1217820"/>
            <a:ext cx="4641850" cy="699565"/>
            <a:chOff x="0" y="0"/>
            <a:chExt cx="1222545" cy="184248"/>
          </a:xfrm>
        </p:grpSpPr>
        <p:sp>
          <p:nvSpPr>
            <p:cNvPr name="Freeform 9" id="9"/>
            <p:cNvSpPr/>
            <p:nvPr/>
          </p:nvSpPr>
          <p:spPr>
            <a:xfrm flipH="false" flipV="false" rot="0">
              <a:off x="0" y="0"/>
              <a:ext cx="1222545" cy="184248"/>
            </a:xfrm>
            <a:custGeom>
              <a:avLst/>
              <a:gdLst/>
              <a:ahLst/>
              <a:cxnLst/>
              <a:rect r="r" b="b" t="t" l="l"/>
              <a:pathLst>
                <a:path h="184248" w="1222545">
                  <a:moveTo>
                    <a:pt x="0" y="0"/>
                  </a:moveTo>
                  <a:lnTo>
                    <a:pt x="1222545" y="0"/>
                  </a:lnTo>
                  <a:lnTo>
                    <a:pt x="1222545" y="184248"/>
                  </a:lnTo>
                  <a:lnTo>
                    <a:pt x="0" y="184248"/>
                  </a:lnTo>
                  <a:close/>
                </a:path>
              </a:pathLst>
            </a:custGeom>
            <a:solidFill>
              <a:srgbClr val="EDC254"/>
            </a:solidFill>
          </p:spPr>
        </p:sp>
        <p:sp>
          <p:nvSpPr>
            <p:cNvPr name="TextBox 10" id="10"/>
            <p:cNvSpPr txBox="true"/>
            <p:nvPr/>
          </p:nvSpPr>
          <p:spPr>
            <a:xfrm>
              <a:off x="0" y="-47625"/>
              <a:ext cx="1222545" cy="23187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4322576" y="9535114"/>
            <a:ext cx="3965424"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Dixin Guo,Pinxi Lyu</a:t>
            </a:r>
          </a:p>
        </p:txBody>
      </p:sp>
      <p:grpSp>
        <p:nvGrpSpPr>
          <p:cNvPr name="Group 12" id="12"/>
          <p:cNvGrpSpPr/>
          <p:nvPr/>
        </p:nvGrpSpPr>
        <p:grpSpPr>
          <a:xfrm rot="0">
            <a:off x="0" y="4676391"/>
            <a:ext cx="3328150" cy="1116595"/>
            <a:chOff x="0" y="0"/>
            <a:chExt cx="876550" cy="294083"/>
          </a:xfrm>
        </p:grpSpPr>
        <p:sp>
          <p:nvSpPr>
            <p:cNvPr name="Freeform 13" id="13"/>
            <p:cNvSpPr/>
            <p:nvPr/>
          </p:nvSpPr>
          <p:spPr>
            <a:xfrm flipH="false" flipV="false" rot="0">
              <a:off x="0" y="0"/>
              <a:ext cx="876550" cy="294083"/>
            </a:xfrm>
            <a:custGeom>
              <a:avLst/>
              <a:gdLst/>
              <a:ahLst/>
              <a:cxnLst/>
              <a:rect r="r" b="b" t="t" l="l"/>
              <a:pathLst>
                <a:path h="294083" w="876550">
                  <a:moveTo>
                    <a:pt x="0" y="0"/>
                  </a:moveTo>
                  <a:lnTo>
                    <a:pt x="876550" y="0"/>
                  </a:lnTo>
                  <a:lnTo>
                    <a:pt x="876550" y="294083"/>
                  </a:lnTo>
                  <a:lnTo>
                    <a:pt x="0" y="294083"/>
                  </a:lnTo>
                  <a:close/>
                </a:path>
              </a:pathLst>
            </a:custGeom>
            <a:solidFill>
              <a:srgbClr val="EDC254"/>
            </a:solidFill>
          </p:spPr>
        </p:sp>
        <p:sp>
          <p:nvSpPr>
            <p:cNvPr name="TextBox 14" id="14"/>
            <p:cNvSpPr txBox="true"/>
            <p:nvPr/>
          </p:nvSpPr>
          <p:spPr>
            <a:xfrm>
              <a:off x="0" y="-47625"/>
              <a:ext cx="876550" cy="341708"/>
            </a:xfrm>
            <a:prstGeom prst="rect">
              <a:avLst/>
            </a:prstGeom>
          </p:spPr>
          <p:txBody>
            <a:bodyPr anchor="ctr" rtlCol="false" tIns="50800" lIns="50800" bIns="50800" rIns="50800"/>
            <a:lstStyle/>
            <a:p>
              <a:pPr algn="ctr">
                <a:lnSpc>
                  <a:spcPts val="2659"/>
                </a:lnSpc>
              </a:pPr>
              <a:r>
                <a:rPr lang="en-US" sz="1899">
                  <a:solidFill>
                    <a:srgbClr val="FFFFFF"/>
                  </a:solidFill>
                  <a:latin typeface="Archivo Black"/>
                  <a:ea typeface="Archivo Black"/>
                  <a:cs typeface="Archivo Black"/>
                  <a:sym typeface="Archivo Black"/>
                </a:rPr>
                <a:t>KEY FINDINGS</a:t>
              </a:r>
            </a:p>
          </p:txBody>
        </p:sp>
      </p:grpSp>
      <p:sp>
        <p:nvSpPr>
          <p:cNvPr name="TextBox 15" id="15"/>
          <p:cNvSpPr txBox="true"/>
          <p:nvPr/>
        </p:nvSpPr>
        <p:spPr>
          <a:xfrm rot="0">
            <a:off x="3867291" y="5716786"/>
            <a:ext cx="14420709" cy="1354667"/>
          </a:xfrm>
          <a:prstGeom prst="rect">
            <a:avLst/>
          </a:prstGeom>
        </p:spPr>
        <p:txBody>
          <a:bodyPr anchor="t" rtlCol="false" tIns="0" lIns="0" bIns="0" rIns="0">
            <a:spAutoFit/>
          </a:bodyPr>
          <a:lstStyle/>
          <a:p>
            <a:pPr algn="l">
              <a:lnSpc>
                <a:spcPts val="3558"/>
              </a:lnSpc>
            </a:pPr>
            <a:r>
              <a:rPr lang="en-US" sz="2541">
                <a:solidFill>
                  <a:srgbClr val="2A0947"/>
                </a:solidFill>
                <a:latin typeface="Poppins"/>
                <a:ea typeface="Poppins"/>
                <a:cs typeface="Poppins"/>
                <a:sym typeface="Poppins"/>
              </a:rPr>
              <a:t>2.</a:t>
            </a:r>
            <a:r>
              <a:rPr lang="en-US" sz="2541" b="true">
                <a:solidFill>
                  <a:srgbClr val="2A0947"/>
                </a:solidFill>
                <a:latin typeface="Poppins Bold"/>
                <a:ea typeface="Poppins Bold"/>
                <a:cs typeface="Poppins Bold"/>
                <a:sym typeface="Poppins Bold"/>
              </a:rPr>
              <a:t>Quality fell most where ACHP gained most.</a:t>
            </a:r>
          </a:p>
          <a:p>
            <a:pPr algn="l">
              <a:lnSpc>
                <a:spcPts val="3558"/>
              </a:lnSpc>
              <a:spcBef>
                <a:spcPct val="0"/>
              </a:spcBef>
            </a:pPr>
            <a:r>
              <a:rPr lang="en-US" sz="2541">
                <a:solidFill>
                  <a:srgbClr val="2A0947"/>
                </a:solidFill>
                <a:latin typeface="Poppins"/>
                <a:ea typeface="Poppins"/>
                <a:cs typeface="Poppins"/>
                <a:sym typeface="Poppins"/>
              </a:rPr>
              <a:t>High Pickup counties saw widespread quality decline post-exit (IQR to -0.27). Strong competitors left, beneficiaries had fewer options, and ACHP pickup followed.</a:t>
            </a:r>
          </a:p>
        </p:txBody>
      </p:sp>
      <p:sp>
        <p:nvSpPr>
          <p:cNvPr name="TextBox 16" id="16"/>
          <p:cNvSpPr txBox="true"/>
          <p:nvPr/>
        </p:nvSpPr>
        <p:spPr>
          <a:xfrm rot="0">
            <a:off x="3867291" y="7402112"/>
            <a:ext cx="14420709" cy="1802342"/>
          </a:xfrm>
          <a:prstGeom prst="rect">
            <a:avLst/>
          </a:prstGeom>
        </p:spPr>
        <p:txBody>
          <a:bodyPr anchor="t" rtlCol="false" tIns="0" lIns="0" bIns="0" rIns="0">
            <a:spAutoFit/>
          </a:bodyPr>
          <a:lstStyle/>
          <a:p>
            <a:pPr algn="l" marL="0" indent="0" lvl="0">
              <a:lnSpc>
                <a:spcPts val="3558"/>
              </a:lnSpc>
              <a:spcBef>
                <a:spcPct val="0"/>
              </a:spcBef>
            </a:pPr>
            <a:r>
              <a:rPr lang="en-US" sz="2541" strike="noStrike" u="none">
                <a:solidFill>
                  <a:srgbClr val="2A0947"/>
                </a:solidFill>
                <a:latin typeface="Poppins"/>
                <a:ea typeface="Poppins"/>
                <a:cs typeface="Poppins"/>
                <a:sym typeface="Poppins"/>
              </a:rPr>
              <a:t>3</a:t>
            </a:r>
            <a:r>
              <a:rPr lang="en-US" b="true" sz="2541" strike="noStrike" u="none">
                <a:solidFill>
                  <a:srgbClr val="2A0947"/>
                </a:solidFill>
                <a:latin typeface="Poppins Bold"/>
                <a:ea typeface="Poppins Bold"/>
                <a:cs typeface="Poppins Bold"/>
                <a:sym typeface="Poppins Bold"/>
              </a:rPr>
              <a:t>. Tr</a:t>
            </a:r>
            <a:r>
              <a:rPr lang="en-US" b="true" sz="2541" strike="noStrike" u="none">
                <a:solidFill>
                  <a:srgbClr val="2A0947"/>
                </a:solidFill>
                <a:latin typeface="Poppins Bold"/>
                <a:ea typeface="Poppins Bold"/>
                <a:cs typeface="Poppins Bold"/>
                <a:sym typeface="Poppins Bold"/>
              </a:rPr>
              <a:t>i</a:t>
            </a:r>
            <a:r>
              <a:rPr lang="en-US" b="true" sz="2541" strike="noStrike" u="none">
                <a:solidFill>
                  <a:srgbClr val="2A0947"/>
                </a:solidFill>
                <a:latin typeface="Poppins Bold"/>
                <a:ea typeface="Poppins Bold"/>
                <a:cs typeface="Poppins Bold"/>
                <a:sym typeface="Poppins Bold"/>
              </a:rPr>
              <a:t>a</a:t>
            </a:r>
            <a:r>
              <a:rPr lang="en-US" b="true" sz="2541" strike="noStrike" u="none">
                <a:solidFill>
                  <a:srgbClr val="2A0947"/>
                </a:solidFill>
                <a:latin typeface="Poppins Bold"/>
                <a:ea typeface="Poppins Bold"/>
                <a:cs typeface="Poppins Bold"/>
                <a:sym typeface="Poppins Bold"/>
              </a:rPr>
              <a:t>g</a:t>
            </a:r>
            <a:r>
              <a:rPr lang="en-US" b="true" sz="2541" strike="noStrike" u="none">
                <a:solidFill>
                  <a:srgbClr val="2A0947"/>
                </a:solidFill>
                <a:latin typeface="Poppins Bold"/>
                <a:ea typeface="Poppins Bold"/>
                <a:cs typeface="Poppins Bold"/>
                <a:sym typeface="Poppins Bold"/>
              </a:rPr>
              <a:t>e reveals bot</a:t>
            </a:r>
            <a:r>
              <a:rPr lang="en-US" b="true" sz="2541" strike="noStrike" u="none">
                <a:solidFill>
                  <a:srgbClr val="2A0947"/>
                </a:solidFill>
                <a:latin typeface="Poppins Bold"/>
                <a:ea typeface="Poppins Bold"/>
                <a:cs typeface="Poppins Bold"/>
                <a:sym typeface="Poppins Bold"/>
              </a:rPr>
              <a:t>h </a:t>
            </a:r>
            <a:r>
              <a:rPr lang="en-US" b="true" sz="2541" strike="noStrike" u="none">
                <a:solidFill>
                  <a:srgbClr val="2A0947"/>
                </a:solidFill>
                <a:latin typeface="Poppins Bold"/>
                <a:ea typeface="Poppins Bold"/>
                <a:cs typeface="Poppins Bold"/>
                <a:sym typeface="Poppins Bold"/>
              </a:rPr>
              <a:t>opportunity and defense risk among high-instability counties.</a:t>
            </a:r>
          </a:p>
          <a:p>
            <a:pPr algn="l" marL="0" indent="0" lvl="0">
              <a:lnSpc>
                <a:spcPts val="3558"/>
              </a:lnSpc>
              <a:spcBef>
                <a:spcPct val="0"/>
              </a:spcBef>
            </a:pPr>
            <a:r>
              <a:rPr lang="en-US" b="true" sz="2541" strike="noStrike" u="none">
                <a:solidFill>
                  <a:srgbClr val="2A0947"/>
                </a:solidFill>
                <a:latin typeface="Poppins Bold"/>
                <a:ea typeface="Poppins Bold"/>
                <a:cs typeface="Poppins Bold"/>
                <a:sym typeface="Poppins Bold"/>
              </a:rPr>
              <a:t> </a:t>
            </a:r>
            <a:r>
              <a:rPr lang="en-US" sz="2541" strike="noStrike" u="none">
                <a:solidFill>
                  <a:srgbClr val="2A0947"/>
                </a:solidFill>
                <a:latin typeface="Poppins"/>
                <a:ea typeface="Poppins"/>
                <a:cs typeface="Poppins"/>
                <a:sym typeface="Poppins"/>
              </a:rPr>
              <a:t>Am</a:t>
            </a:r>
            <a:r>
              <a:rPr lang="en-US" sz="2541" strike="noStrike" u="none">
                <a:solidFill>
                  <a:srgbClr val="2A0947"/>
                </a:solidFill>
                <a:latin typeface="Poppins"/>
                <a:ea typeface="Poppins"/>
                <a:cs typeface="Poppins"/>
                <a:sym typeface="Poppins"/>
              </a:rPr>
              <a:t>ong co</a:t>
            </a:r>
            <a:r>
              <a:rPr lang="en-US" sz="2541" strike="noStrike" u="none">
                <a:solidFill>
                  <a:srgbClr val="2A0947"/>
                </a:solidFill>
                <a:latin typeface="Poppins"/>
                <a:ea typeface="Poppins"/>
                <a:cs typeface="Poppins"/>
                <a:sym typeface="Poppins"/>
              </a:rPr>
              <a:t>un</a:t>
            </a:r>
            <a:r>
              <a:rPr lang="en-US" sz="2541" strike="noStrike" u="none">
                <a:solidFill>
                  <a:srgbClr val="2A0947"/>
                </a:solidFill>
                <a:latin typeface="Poppins"/>
                <a:ea typeface="Poppins"/>
                <a:cs typeface="Poppins"/>
                <a:sym typeface="Poppins"/>
              </a:rPr>
              <a:t>ti</a:t>
            </a:r>
            <a:r>
              <a:rPr lang="en-US" sz="2541" strike="noStrike" u="none">
                <a:solidFill>
                  <a:srgbClr val="2A0947"/>
                </a:solidFill>
                <a:latin typeface="Poppins"/>
                <a:ea typeface="Poppins"/>
                <a:cs typeface="Poppins"/>
                <a:sym typeface="Poppins"/>
              </a:rPr>
              <a:t>e</a:t>
            </a:r>
            <a:r>
              <a:rPr lang="en-US" sz="2541" strike="noStrike" u="none">
                <a:solidFill>
                  <a:srgbClr val="2A0947"/>
                </a:solidFill>
                <a:latin typeface="Poppins"/>
                <a:ea typeface="Poppins"/>
                <a:cs typeface="Poppins"/>
                <a:sym typeface="Poppins"/>
              </a:rPr>
              <a:t>s </a:t>
            </a:r>
            <a:r>
              <a:rPr lang="en-US" sz="2541" strike="noStrike" u="none">
                <a:solidFill>
                  <a:srgbClr val="2A0947"/>
                </a:solidFill>
                <a:latin typeface="Poppins"/>
                <a:ea typeface="Poppins"/>
                <a:cs typeface="Poppins"/>
                <a:sym typeface="Poppins"/>
              </a:rPr>
              <a:t>wi</a:t>
            </a:r>
            <a:r>
              <a:rPr lang="en-US" sz="2541" strike="noStrike" u="none">
                <a:solidFill>
                  <a:srgbClr val="2A0947"/>
                </a:solidFill>
                <a:latin typeface="Poppins"/>
                <a:ea typeface="Poppins"/>
                <a:cs typeface="Poppins"/>
                <a:sym typeface="Poppins"/>
              </a:rPr>
              <a:t>t</a:t>
            </a:r>
            <a:r>
              <a:rPr lang="en-US" sz="2541" strike="noStrike" u="none">
                <a:solidFill>
                  <a:srgbClr val="2A0947"/>
                </a:solidFill>
                <a:latin typeface="Poppins"/>
                <a:ea typeface="Poppins"/>
                <a:cs typeface="Poppins"/>
                <a:sym typeface="Poppins"/>
              </a:rPr>
              <a:t>h</a:t>
            </a:r>
            <a:r>
              <a:rPr lang="en-US" sz="2541" strike="noStrike" u="none">
                <a:solidFill>
                  <a:srgbClr val="2A0947"/>
                </a:solidFill>
                <a:latin typeface="Poppins"/>
                <a:ea typeface="Poppins"/>
                <a:cs typeface="Poppins"/>
                <a:sym typeface="Poppins"/>
              </a:rPr>
              <a:t> </a:t>
            </a:r>
            <a:r>
              <a:rPr lang="en-US" sz="2541" strike="noStrike" u="none">
                <a:solidFill>
                  <a:srgbClr val="2A0947"/>
                </a:solidFill>
                <a:latin typeface="Poppins"/>
                <a:ea typeface="Poppins"/>
                <a:cs typeface="Poppins"/>
                <a:sym typeface="Poppins"/>
              </a:rPr>
              <a:t>l</a:t>
            </a:r>
            <a:r>
              <a:rPr lang="en-US" sz="2541" strike="noStrike" u="none">
                <a:solidFill>
                  <a:srgbClr val="2A0947"/>
                </a:solidFill>
                <a:latin typeface="Poppins"/>
                <a:ea typeface="Poppins"/>
                <a:cs typeface="Poppins"/>
                <a:sym typeface="Poppins"/>
              </a:rPr>
              <a:t>ar</a:t>
            </a:r>
            <a:r>
              <a:rPr lang="en-US" sz="2541" strike="noStrike" u="none">
                <a:solidFill>
                  <a:srgbClr val="2A0947"/>
                </a:solidFill>
                <a:latin typeface="Poppins"/>
                <a:ea typeface="Poppins"/>
                <a:cs typeface="Poppins"/>
                <a:sym typeface="Poppins"/>
              </a:rPr>
              <a:t>g</a:t>
            </a:r>
            <a:r>
              <a:rPr lang="en-US" sz="2541" strike="noStrike" u="none">
                <a:solidFill>
                  <a:srgbClr val="2A0947"/>
                </a:solidFill>
                <a:latin typeface="Poppins"/>
                <a:ea typeface="Poppins"/>
                <a:cs typeface="Poppins"/>
                <a:sym typeface="Poppins"/>
              </a:rPr>
              <a:t>e </a:t>
            </a:r>
            <a:r>
              <a:rPr lang="en-US" sz="2541" strike="noStrike" u="none">
                <a:solidFill>
                  <a:srgbClr val="2A0947"/>
                </a:solidFill>
                <a:latin typeface="Poppins"/>
                <a:ea typeface="Poppins"/>
                <a:cs typeface="Poppins"/>
                <a:sym typeface="Poppins"/>
              </a:rPr>
              <a:t>conc</a:t>
            </a:r>
            <a:r>
              <a:rPr lang="en-US" sz="2541" strike="noStrike" u="none">
                <a:solidFill>
                  <a:srgbClr val="2A0947"/>
                </a:solidFill>
                <a:latin typeface="Poppins"/>
                <a:ea typeface="Poppins"/>
                <a:cs typeface="Poppins"/>
                <a:sym typeface="Poppins"/>
              </a:rPr>
              <a:t>e</a:t>
            </a:r>
            <a:r>
              <a:rPr lang="en-US" sz="2541" strike="noStrike" u="none">
                <a:solidFill>
                  <a:srgbClr val="2A0947"/>
                </a:solidFill>
                <a:latin typeface="Poppins"/>
                <a:ea typeface="Poppins"/>
                <a:cs typeface="Poppins"/>
                <a:sym typeface="Poppins"/>
              </a:rPr>
              <a:t>nt</a:t>
            </a:r>
            <a:r>
              <a:rPr lang="en-US" sz="2541" strike="noStrike" u="none">
                <a:solidFill>
                  <a:srgbClr val="2A0947"/>
                </a:solidFill>
                <a:latin typeface="Poppins"/>
                <a:ea typeface="Poppins"/>
                <a:cs typeface="Poppins"/>
                <a:sym typeface="Poppins"/>
              </a:rPr>
              <a:t>r</a:t>
            </a:r>
            <a:r>
              <a:rPr lang="en-US" sz="2541" strike="noStrike" u="none">
                <a:solidFill>
                  <a:srgbClr val="2A0947"/>
                </a:solidFill>
                <a:latin typeface="Poppins"/>
                <a:ea typeface="Poppins"/>
                <a:cs typeface="Poppins"/>
                <a:sym typeface="Poppins"/>
              </a:rPr>
              <a:t>a</a:t>
            </a:r>
            <a:r>
              <a:rPr lang="en-US" sz="2541" strike="noStrike" u="none">
                <a:solidFill>
                  <a:srgbClr val="2A0947"/>
                </a:solidFill>
                <a:latin typeface="Poppins"/>
                <a:ea typeface="Poppins"/>
                <a:cs typeface="Poppins"/>
                <a:sym typeface="Poppins"/>
              </a:rPr>
              <a:t>tion </a:t>
            </a:r>
            <a:r>
              <a:rPr lang="en-US" sz="2541" strike="noStrike" u="none">
                <a:solidFill>
                  <a:srgbClr val="2A0947"/>
                </a:solidFill>
                <a:latin typeface="Poppins"/>
                <a:ea typeface="Poppins"/>
                <a:cs typeface="Poppins"/>
                <a:sym typeface="Poppins"/>
              </a:rPr>
              <a:t>jumps</a:t>
            </a:r>
            <a:r>
              <a:rPr lang="en-US" sz="2541" strike="noStrike" u="none">
                <a:solidFill>
                  <a:srgbClr val="2A0947"/>
                </a:solidFill>
                <a:latin typeface="Poppins"/>
                <a:ea typeface="Poppins"/>
                <a:cs typeface="Poppins"/>
                <a:sym typeface="Poppins"/>
              </a:rPr>
              <a:t> </a:t>
            </a:r>
            <a:r>
              <a:rPr lang="en-US" sz="2541" strike="noStrike" u="none">
                <a:solidFill>
                  <a:srgbClr val="2A0947"/>
                </a:solidFill>
                <a:latin typeface="Poppins"/>
                <a:ea typeface="Poppins"/>
                <a:cs typeface="Poppins"/>
                <a:sym typeface="Poppins"/>
              </a:rPr>
              <a:t>(ΔH</a:t>
            </a:r>
            <a:r>
              <a:rPr lang="en-US" sz="2541" strike="noStrike" u="none">
                <a:solidFill>
                  <a:srgbClr val="2A0947"/>
                </a:solidFill>
                <a:latin typeface="Poppins"/>
                <a:ea typeface="Poppins"/>
                <a:cs typeface="Poppins"/>
                <a:sym typeface="Poppins"/>
              </a:rPr>
              <a:t>H</a:t>
            </a:r>
            <a:r>
              <a:rPr lang="en-US" sz="2541" strike="noStrike" u="none">
                <a:solidFill>
                  <a:srgbClr val="2A0947"/>
                </a:solidFill>
                <a:latin typeface="Poppins"/>
                <a:ea typeface="Poppins"/>
                <a:cs typeface="Poppins"/>
                <a:sym typeface="Poppins"/>
              </a:rPr>
              <a:t>I</a:t>
            </a:r>
            <a:r>
              <a:rPr lang="en-US" sz="2541" strike="noStrike" u="none">
                <a:solidFill>
                  <a:srgbClr val="2A0947"/>
                </a:solidFill>
                <a:latin typeface="Poppins"/>
                <a:ea typeface="Poppins"/>
                <a:cs typeface="Poppins"/>
                <a:sym typeface="Poppins"/>
              </a:rPr>
              <a:t> </a:t>
            </a:r>
            <a:r>
              <a:rPr lang="en-US" sz="2541" strike="noStrike" u="none">
                <a:solidFill>
                  <a:srgbClr val="2A0947"/>
                </a:solidFill>
                <a:latin typeface="Poppins"/>
                <a:ea typeface="Poppins"/>
                <a:cs typeface="Poppins"/>
                <a:sym typeface="Poppins"/>
              </a:rPr>
              <a:t>&gt;</a:t>
            </a:r>
            <a:r>
              <a:rPr lang="en-US" sz="2541" strike="noStrike" u="none">
                <a:solidFill>
                  <a:srgbClr val="2A0947"/>
                </a:solidFill>
                <a:latin typeface="Poppins"/>
                <a:ea typeface="Poppins"/>
                <a:cs typeface="Poppins"/>
                <a:sym typeface="Poppins"/>
              </a:rPr>
              <a:t> </a:t>
            </a:r>
            <a:r>
              <a:rPr lang="en-US" sz="2541" strike="noStrike" u="none">
                <a:solidFill>
                  <a:srgbClr val="2A0947"/>
                </a:solidFill>
                <a:latin typeface="Poppins"/>
                <a:ea typeface="Poppins"/>
                <a:cs typeface="Poppins"/>
                <a:sym typeface="Poppins"/>
              </a:rPr>
              <a:t>0</a:t>
            </a:r>
            <a:r>
              <a:rPr lang="en-US" sz="2541" strike="noStrike" u="none">
                <a:solidFill>
                  <a:srgbClr val="2A0947"/>
                </a:solidFill>
                <a:latin typeface="Poppins"/>
                <a:ea typeface="Poppins"/>
                <a:cs typeface="Poppins"/>
                <a:sym typeface="Poppins"/>
              </a:rPr>
              <a:t>.</a:t>
            </a:r>
            <a:r>
              <a:rPr lang="en-US" sz="2541" strike="noStrike" u="none">
                <a:solidFill>
                  <a:srgbClr val="2A0947"/>
                </a:solidFill>
                <a:latin typeface="Poppins"/>
                <a:ea typeface="Poppins"/>
                <a:cs typeface="Poppins"/>
                <a:sym typeface="Poppins"/>
              </a:rPr>
              <a:t>05):</a:t>
            </a:r>
          </a:p>
          <a:p>
            <a:pPr algn="l" marL="0" indent="0" lvl="0">
              <a:lnSpc>
                <a:spcPts val="3558"/>
              </a:lnSpc>
              <a:spcBef>
                <a:spcPct val="0"/>
              </a:spcBef>
            </a:pPr>
            <a:r>
              <a:rPr lang="en-US" sz="2541" strike="noStrike" u="none">
                <a:solidFill>
                  <a:srgbClr val="2A0947"/>
                </a:solidFill>
                <a:latin typeface="Poppins"/>
                <a:ea typeface="Poppins"/>
                <a:cs typeface="Poppins"/>
                <a:sym typeface="Poppins"/>
              </a:rPr>
              <a:t>185 counties: concentration↑ &amp; ACHP share↑ (opportunity + execution risk)</a:t>
            </a:r>
          </a:p>
          <a:p>
            <a:pPr algn="l" marL="0" indent="0" lvl="0">
              <a:lnSpc>
                <a:spcPts val="3558"/>
              </a:lnSpc>
              <a:spcBef>
                <a:spcPct val="0"/>
              </a:spcBef>
            </a:pPr>
            <a:r>
              <a:rPr lang="en-US" sz="2541" strike="noStrike" u="none">
                <a:solidFill>
                  <a:srgbClr val="2A0947"/>
                </a:solidFill>
                <a:latin typeface="Poppins"/>
                <a:ea typeface="Poppins"/>
                <a:cs typeface="Poppins"/>
                <a:sym typeface="Poppins"/>
              </a:rPr>
              <a:t>73 counties: concentration↑ &amp; ACHP share↓ (defense risk)</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52997" y="8991099"/>
            <a:ext cx="1878686" cy="469671"/>
          </a:xfrm>
          <a:custGeom>
            <a:avLst/>
            <a:gdLst/>
            <a:ahLst/>
            <a:cxnLst/>
            <a:rect r="r" b="b" t="t" l="l"/>
            <a:pathLst>
              <a:path h="469671" w="1878686">
                <a:moveTo>
                  <a:pt x="0" y="0"/>
                </a:moveTo>
                <a:lnTo>
                  <a:pt x="1878686" y="0"/>
                </a:lnTo>
                <a:lnTo>
                  <a:pt x="1878686" y="469672"/>
                </a:lnTo>
                <a:lnTo>
                  <a:pt x="0" y="469672"/>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217820"/>
            <a:ext cx="4641850" cy="699565"/>
            <a:chOff x="0" y="0"/>
            <a:chExt cx="1222545" cy="184248"/>
          </a:xfrm>
        </p:grpSpPr>
        <p:sp>
          <p:nvSpPr>
            <p:cNvPr name="Freeform 4" id="4"/>
            <p:cNvSpPr/>
            <p:nvPr/>
          </p:nvSpPr>
          <p:spPr>
            <a:xfrm flipH="false" flipV="false" rot="0">
              <a:off x="0" y="0"/>
              <a:ext cx="1222545" cy="184248"/>
            </a:xfrm>
            <a:custGeom>
              <a:avLst/>
              <a:gdLst/>
              <a:ahLst/>
              <a:cxnLst/>
              <a:rect r="r" b="b" t="t" l="l"/>
              <a:pathLst>
                <a:path h="184248" w="1222545">
                  <a:moveTo>
                    <a:pt x="0" y="0"/>
                  </a:moveTo>
                  <a:lnTo>
                    <a:pt x="1222545" y="0"/>
                  </a:lnTo>
                  <a:lnTo>
                    <a:pt x="1222545" y="184248"/>
                  </a:lnTo>
                  <a:lnTo>
                    <a:pt x="0" y="184248"/>
                  </a:lnTo>
                  <a:close/>
                </a:path>
              </a:pathLst>
            </a:custGeom>
            <a:solidFill>
              <a:srgbClr val="EDC254"/>
            </a:solidFill>
          </p:spPr>
        </p:sp>
        <p:sp>
          <p:nvSpPr>
            <p:cNvPr name="TextBox 5" id="5"/>
            <p:cNvSpPr txBox="true"/>
            <p:nvPr/>
          </p:nvSpPr>
          <p:spPr>
            <a:xfrm>
              <a:off x="0" y="-47625"/>
              <a:ext cx="1222545" cy="23187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136106" y="1113045"/>
            <a:ext cx="9849574" cy="997246"/>
          </a:xfrm>
          <a:prstGeom prst="rect">
            <a:avLst/>
          </a:prstGeom>
        </p:spPr>
        <p:txBody>
          <a:bodyPr anchor="t" rtlCol="false" tIns="0" lIns="0" bIns="0" rIns="0">
            <a:spAutoFit/>
          </a:bodyPr>
          <a:lstStyle/>
          <a:p>
            <a:pPr algn="ctr">
              <a:lnSpc>
                <a:spcPts val="8258"/>
              </a:lnSpc>
              <a:spcBef>
                <a:spcPct val="0"/>
              </a:spcBef>
            </a:pPr>
            <a:r>
              <a:rPr lang="en-US" sz="5898">
                <a:solidFill>
                  <a:srgbClr val="000000"/>
                </a:solidFill>
                <a:latin typeface="League Spartan"/>
                <a:ea typeface="League Spartan"/>
                <a:cs typeface="League Spartan"/>
                <a:sym typeface="League Spartan"/>
              </a:rPr>
              <a:t>EXECUTIVE SUMMARY</a:t>
            </a:r>
          </a:p>
        </p:txBody>
      </p:sp>
      <p:grpSp>
        <p:nvGrpSpPr>
          <p:cNvPr name="Group 7" id="7"/>
          <p:cNvGrpSpPr/>
          <p:nvPr/>
        </p:nvGrpSpPr>
        <p:grpSpPr>
          <a:xfrm rot="0">
            <a:off x="13646150" y="1217820"/>
            <a:ext cx="4641850" cy="699565"/>
            <a:chOff x="0" y="0"/>
            <a:chExt cx="1222545" cy="184248"/>
          </a:xfrm>
        </p:grpSpPr>
        <p:sp>
          <p:nvSpPr>
            <p:cNvPr name="Freeform 8" id="8"/>
            <p:cNvSpPr/>
            <p:nvPr/>
          </p:nvSpPr>
          <p:spPr>
            <a:xfrm flipH="false" flipV="false" rot="0">
              <a:off x="0" y="0"/>
              <a:ext cx="1222545" cy="184248"/>
            </a:xfrm>
            <a:custGeom>
              <a:avLst/>
              <a:gdLst/>
              <a:ahLst/>
              <a:cxnLst/>
              <a:rect r="r" b="b" t="t" l="l"/>
              <a:pathLst>
                <a:path h="184248" w="1222545">
                  <a:moveTo>
                    <a:pt x="0" y="0"/>
                  </a:moveTo>
                  <a:lnTo>
                    <a:pt x="1222545" y="0"/>
                  </a:lnTo>
                  <a:lnTo>
                    <a:pt x="1222545" y="184248"/>
                  </a:lnTo>
                  <a:lnTo>
                    <a:pt x="0" y="184248"/>
                  </a:lnTo>
                  <a:close/>
                </a:path>
              </a:pathLst>
            </a:custGeom>
            <a:solidFill>
              <a:srgbClr val="EDC254"/>
            </a:solidFill>
          </p:spPr>
        </p:sp>
        <p:sp>
          <p:nvSpPr>
            <p:cNvPr name="TextBox 9" id="9"/>
            <p:cNvSpPr txBox="true"/>
            <p:nvPr/>
          </p:nvSpPr>
          <p:spPr>
            <a:xfrm>
              <a:off x="0" y="-47625"/>
              <a:ext cx="1222545" cy="23187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4322576" y="9535114"/>
            <a:ext cx="3965424"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Pinxi Lyu</a:t>
            </a:r>
          </a:p>
        </p:txBody>
      </p:sp>
      <p:sp>
        <p:nvSpPr>
          <p:cNvPr name="TextBox 11" id="11"/>
          <p:cNvSpPr txBox="true"/>
          <p:nvPr/>
        </p:nvSpPr>
        <p:spPr>
          <a:xfrm rot="0">
            <a:off x="3646130" y="4250019"/>
            <a:ext cx="14641870" cy="3145367"/>
          </a:xfrm>
          <a:prstGeom prst="rect">
            <a:avLst/>
          </a:prstGeom>
        </p:spPr>
        <p:txBody>
          <a:bodyPr anchor="t" rtlCol="false" tIns="0" lIns="0" bIns="0" rIns="0">
            <a:spAutoFit/>
          </a:bodyPr>
          <a:lstStyle/>
          <a:p>
            <a:pPr algn="l">
              <a:lnSpc>
                <a:spcPts val="3558"/>
              </a:lnSpc>
              <a:spcBef>
                <a:spcPct val="0"/>
              </a:spcBef>
            </a:pPr>
            <a:r>
              <a:rPr lang="en-US" sz="2541">
                <a:solidFill>
                  <a:srgbClr val="2A0947"/>
                </a:solidFill>
                <a:latin typeface="Poppins"/>
                <a:ea typeface="Poppins"/>
                <a:cs typeface="Poppins"/>
                <a:sym typeface="Poppins"/>
              </a:rPr>
              <a:t>National carrier exits between 2025 and 2026 created market disruption in specific counties. Comparing SCC enrollment trends in exit vs non-exit counties shows that ACHP increased enrollment and market share more strongly in exit counties, indicating that exits opened a measurable share-gain opportunity. County-level results highlight a small set of “hotspot” counties contributing the largest absolute ACHP enrollment gains and share increases, which can be prioritized for targeted growth actions and replicated in similar markets.</a:t>
            </a:r>
          </a:p>
        </p:txBody>
      </p:sp>
      <p:grpSp>
        <p:nvGrpSpPr>
          <p:cNvPr name="Group 12" id="12"/>
          <p:cNvGrpSpPr/>
          <p:nvPr/>
        </p:nvGrpSpPr>
        <p:grpSpPr>
          <a:xfrm rot="0">
            <a:off x="0" y="5143500"/>
            <a:ext cx="3328150" cy="1116595"/>
            <a:chOff x="0" y="0"/>
            <a:chExt cx="876550" cy="294083"/>
          </a:xfrm>
        </p:grpSpPr>
        <p:sp>
          <p:nvSpPr>
            <p:cNvPr name="Freeform 13" id="13"/>
            <p:cNvSpPr/>
            <p:nvPr/>
          </p:nvSpPr>
          <p:spPr>
            <a:xfrm flipH="false" flipV="false" rot="0">
              <a:off x="0" y="0"/>
              <a:ext cx="876550" cy="294083"/>
            </a:xfrm>
            <a:custGeom>
              <a:avLst/>
              <a:gdLst/>
              <a:ahLst/>
              <a:cxnLst/>
              <a:rect r="r" b="b" t="t" l="l"/>
              <a:pathLst>
                <a:path h="294083" w="876550">
                  <a:moveTo>
                    <a:pt x="0" y="0"/>
                  </a:moveTo>
                  <a:lnTo>
                    <a:pt x="876550" y="0"/>
                  </a:lnTo>
                  <a:lnTo>
                    <a:pt x="876550" y="294083"/>
                  </a:lnTo>
                  <a:lnTo>
                    <a:pt x="0" y="294083"/>
                  </a:lnTo>
                  <a:close/>
                </a:path>
              </a:pathLst>
            </a:custGeom>
            <a:solidFill>
              <a:srgbClr val="EDC254"/>
            </a:solidFill>
          </p:spPr>
        </p:sp>
        <p:sp>
          <p:nvSpPr>
            <p:cNvPr name="TextBox 14" id="14"/>
            <p:cNvSpPr txBox="true"/>
            <p:nvPr/>
          </p:nvSpPr>
          <p:spPr>
            <a:xfrm>
              <a:off x="0" y="-47625"/>
              <a:ext cx="876550" cy="341708"/>
            </a:xfrm>
            <a:prstGeom prst="rect">
              <a:avLst/>
            </a:prstGeom>
          </p:spPr>
          <p:txBody>
            <a:bodyPr anchor="ctr" rtlCol="false" tIns="50800" lIns="50800" bIns="50800" rIns="50800"/>
            <a:lstStyle/>
            <a:p>
              <a:pPr algn="ctr">
                <a:lnSpc>
                  <a:spcPts val="2659"/>
                </a:lnSpc>
              </a:pPr>
              <a:r>
                <a:rPr lang="en-US" sz="1899">
                  <a:solidFill>
                    <a:srgbClr val="FFFFFF"/>
                  </a:solidFill>
                  <a:latin typeface="Archivo Black"/>
                  <a:ea typeface="Archivo Black"/>
                  <a:cs typeface="Archivo Black"/>
                  <a:sym typeface="Archivo Black"/>
                </a:rPr>
                <a:t>Business Impact</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52997" y="8991099"/>
            <a:ext cx="1878686" cy="469671"/>
          </a:xfrm>
          <a:custGeom>
            <a:avLst/>
            <a:gdLst/>
            <a:ahLst/>
            <a:cxnLst/>
            <a:rect r="r" b="b" t="t" l="l"/>
            <a:pathLst>
              <a:path h="469671" w="1878686">
                <a:moveTo>
                  <a:pt x="0" y="0"/>
                </a:moveTo>
                <a:lnTo>
                  <a:pt x="1878686" y="0"/>
                </a:lnTo>
                <a:lnTo>
                  <a:pt x="1878686" y="469672"/>
                </a:lnTo>
                <a:lnTo>
                  <a:pt x="0" y="469672"/>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217820"/>
            <a:ext cx="4641850" cy="699565"/>
            <a:chOff x="0" y="0"/>
            <a:chExt cx="1222545" cy="184248"/>
          </a:xfrm>
        </p:grpSpPr>
        <p:sp>
          <p:nvSpPr>
            <p:cNvPr name="Freeform 4" id="4"/>
            <p:cNvSpPr/>
            <p:nvPr/>
          </p:nvSpPr>
          <p:spPr>
            <a:xfrm flipH="false" flipV="false" rot="0">
              <a:off x="0" y="0"/>
              <a:ext cx="1222545" cy="184248"/>
            </a:xfrm>
            <a:custGeom>
              <a:avLst/>
              <a:gdLst/>
              <a:ahLst/>
              <a:cxnLst/>
              <a:rect r="r" b="b" t="t" l="l"/>
              <a:pathLst>
                <a:path h="184248" w="1222545">
                  <a:moveTo>
                    <a:pt x="0" y="0"/>
                  </a:moveTo>
                  <a:lnTo>
                    <a:pt x="1222545" y="0"/>
                  </a:lnTo>
                  <a:lnTo>
                    <a:pt x="1222545" y="184248"/>
                  </a:lnTo>
                  <a:lnTo>
                    <a:pt x="0" y="184248"/>
                  </a:lnTo>
                  <a:close/>
                </a:path>
              </a:pathLst>
            </a:custGeom>
            <a:solidFill>
              <a:srgbClr val="EDC254"/>
            </a:solidFill>
          </p:spPr>
        </p:sp>
        <p:sp>
          <p:nvSpPr>
            <p:cNvPr name="TextBox 5" id="5"/>
            <p:cNvSpPr txBox="true"/>
            <p:nvPr/>
          </p:nvSpPr>
          <p:spPr>
            <a:xfrm>
              <a:off x="0" y="-47625"/>
              <a:ext cx="1222545" cy="23187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136106" y="1113045"/>
            <a:ext cx="9849574" cy="997246"/>
          </a:xfrm>
          <a:prstGeom prst="rect">
            <a:avLst/>
          </a:prstGeom>
        </p:spPr>
        <p:txBody>
          <a:bodyPr anchor="t" rtlCol="false" tIns="0" lIns="0" bIns="0" rIns="0">
            <a:spAutoFit/>
          </a:bodyPr>
          <a:lstStyle/>
          <a:p>
            <a:pPr algn="ctr">
              <a:lnSpc>
                <a:spcPts val="8258"/>
              </a:lnSpc>
              <a:spcBef>
                <a:spcPct val="0"/>
              </a:spcBef>
            </a:pPr>
            <a:r>
              <a:rPr lang="en-US" sz="5898">
                <a:solidFill>
                  <a:srgbClr val="000000"/>
                </a:solidFill>
                <a:latin typeface="League Spartan"/>
                <a:ea typeface="League Spartan"/>
                <a:cs typeface="League Spartan"/>
                <a:sym typeface="League Spartan"/>
              </a:rPr>
              <a:t>EXECUTIVE SUMMARY</a:t>
            </a:r>
          </a:p>
        </p:txBody>
      </p:sp>
      <p:grpSp>
        <p:nvGrpSpPr>
          <p:cNvPr name="Group 7" id="7"/>
          <p:cNvGrpSpPr/>
          <p:nvPr/>
        </p:nvGrpSpPr>
        <p:grpSpPr>
          <a:xfrm rot="0">
            <a:off x="13646150" y="1217820"/>
            <a:ext cx="4641850" cy="699565"/>
            <a:chOff x="0" y="0"/>
            <a:chExt cx="1222545" cy="184248"/>
          </a:xfrm>
        </p:grpSpPr>
        <p:sp>
          <p:nvSpPr>
            <p:cNvPr name="Freeform 8" id="8"/>
            <p:cNvSpPr/>
            <p:nvPr/>
          </p:nvSpPr>
          <p:spPr>
            <a:xfrm flipH="false" flipV="false" rot="0">
              <a:off x="0" y="0"/>
              <a:ext cx="1222545" cy="184248"/>
            </a:xfrm>
            <a:custGeom>
              <a:avLst/>
              <a:gdLst/>
              <a:ahLst/>
              <a:cxnLst/>
              <a:rect r="r" b="b" t="t" l="l"/>
              <a:pathLst>
                <a:path h="184248" w="1222545">
                  <a:moveTo>
                    <a:pt x="0" y="0"/>
                  </a:moveTo>
                  <a:lnTo>
                    <a:pt x="1222545" y="0"/>
                  </a:lnTo>
                  <a:lnTo>
                    <a:pt x="1222545" y="184248"/>
                  </a:lnTo>
                  <a:lnTo>
                    <a:pt x="0" y="184248"/>
                  </a:lnTo>
                  <a:close/>
                </a:path>
              </a:pathLst>
            </a:custGeom>
            <a:solidFill>
              <a:srgbClr val="EDC254"/>
            </a:solidFill>
          </p:spPr>
        </p:sp>
        <p:sp>
          <p:nvSpPr>
            <p:cNvPr name="TextBox 9" id="9"/>
            <p:cNvSpPr txBox="true"/>
            <p:nvPr/>
          </p:nvSpPr>
          <p:spPr>
            <a:xfrm>
              <a:off x="0" y="-47625"/>
              <a:ext cx="1222545" cy="23187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2677487" y="9384571"/>
            <a:ext cx="5551022" cy="517065"/>
          </a:xfrm>
          <a:prstGeom prst="rect">
            <a:avLst/>
          </a:prstGeom>
        </p:spPr>
        <p:txBody>
          <a:bodyPr anchor="t" rtlCol="false" tIns="0" lIns="0" bIns="0" rIns="0">
            <a:spAutoFit/>
          </a:bodyPr>
          <a:lstStyle/>
          <a:p>
            <a:pPr algn="l">
              <a:lnSpc>
                <a:spcPts val="4136"/>
              </a:lnSpc>
              <a:spcBef>
                <a:spcPct val="0"/>
              </a:spcBef>
            </a:pPr>
            <a:r>
              <a:rPr lang="en-US" sz="2954">
                <a:solidFill>
                  <a:srgbClr val="2A0947"/>
                </a:solidFill>
                <a:latin typeface="Poppins"/>
                <a:ea typeface="Poppins"/>
                <a:cs typeface="Poppins"/>
                <a:sym typeface="Poppins"/>
              </a:rPr>
              <a:t>Dixin Guo，Yifu Huang</a:t>
            </a:r>
          </a:p>
        </p:txBody>
      </p:sp>
      <p:sp>
        <p:nvSpPr>
          <p:cNvPr name="TextBox 11" id="11"/>
          <p:cNvSpPr txBox="true"/>
          <p:nvPr/>
        </p:nvSpPr>
        <p:spPr>
          <a:xfrm rot="0">
            <a:off x="3646130" y="4250019"/>
            <a:ext cx="14641870" cy="459317"/>
          </a:xfrm>
          <a:prstGeom prst="rect">
            <a:avLst/>
          </a:prstGeom>
        </p:spPr>
        <p:txBody>
          <a:bodyPr anchor="t" rtlCol="false" tIns="0" lIns="0" bIns="0" rIns="0">
            <a:spAutoFit/>
          </a:bodyPr>
          <a:lstStyle/>
          <a:p>
            <a:pPr algn="l">
              <a:lnSpc>
                <a:spcPts val="3558"/>
              </a:lnSpc>
              <a:spcBef>
                <a:spcPct val="0"/>
              </a:spcBef>
            </a:pPr>
          </a:p>
        </p:txBody>
      </p:sp>
      <p:grpSp>
        <p:nvGrpSpPr>
          <p:cNvPr name="Group 12" id="12"/>
          <p:cNvGrpSpPr/>
          <p:nvPr/>
        </p:nvGrpSpPr>
        <p:grpSpPr>
          <a:xfrm rot="0">
            <a:off x="0" y="5143500"/>
            <a:ext cx="3328150" cy="1116595"/>
            <a:chOff x="0" y="0"/>
            <a:chExt cx="876550" cy="294083"/>
          </a:xfrm>
        </p:grpSpPr>
        <p:sp>
          <p:nvSpPr>
            <p:cNvPr name="Freeform 13" id="13"/>
            <p:cNvSpPr/>
            <p:nvPr/>
          </p:nvSpPr>
          <p:spPr>
            <a:xfrm flipH="false" flipV="false" rot="0">
              <a:off x="0" y="0"/>
              <a:ext cx="876550" cy="294083"/>
            </a:xfrm>
            <a:custGeom>
              <a:avLst/>
              <a:gdLst/>
              <a:ahLst/>
              <a:cxnLst/>
              <a:rect r="r" b="b" t="t" l="l"/>
              <a:pathLst>
                <a:path h="294083" w="876550">
                  <a:moveTo>
                    <a:pt x="0" y="0"/>
                  </a:moveTo>
                  <a:lnTo>
                    <a:pt x="876550" y="0"/>
                  </a:lnTo>
                  <a:lnTo>
                    <a:pt x="876550" y="294083"/>
                  </a:lnTo>
                  <a:lnTo>
                    <a:pt x="0" y="294083"/>
                  </a:lnTo>
                  <a:close/>
                </a:path>
              </a:pathLst>
            </a:custGeom>
            <a:solidFill>
              <a:srgbClr val="EDC254"/>
            </a:solidFill>
          </p:spPr>
        </p:sp>
        <p:sp>
          <p:nvSpPr>
            <p:cNvPr name="TextBox 14" id="14"/>
            <p:cNvSpPr txBox="true"/>
            <p:nvPr/>
          </p:nvSpPr>
          <p:spPr>
            <a:xfrm>
              <a:off x="0" y="-47625"/>
              <a:ext cx="876550" cy="341708"/>
            </a:xfrm>
            <a:prstGeom prst="rect">
              <a:avLst/>
            </a:prstGeom>
          </p:spPr>
          <p:txBody>
            <a:bodyPr anchor="ctr" rtlCol="false" tIns="50800" lIns="50800" bIns="50800" rIns="50800"/>
            <a:lstStyle/>
            <a:p>
              <a:pPr algn="ctr">
                <a:lnSpc>
                  <a:spcPts val="2659"/>
                </a:lnSpc>
              </a:pPr>
              <a:r>
                <a:rPr lang="en-US" sz="1899">
                  <a:solidFill>
                    <a:srgbClr val="FFFFFF"/>
                  </a:solidFill>
                  <a:latin typeface="Archivo Black"/>
                  <a:ea typeface="Archivo Black"/>
                  <a:cs typeface="Archivo Black"/>
                  <a:sym typeface="Archivo Black"/>
                </a:rPr>
                <a:t>Recommedation</a:t>
              </a:r>
            </a:p>
          </p:txBody>
        </p:sp>
      </p:grpSp>
      <p:sp>
        <p:nvSpPr>
          <p:cNvPr name="TextBox 15" id="15"/>
          <p:cNvSpPr txBox="true"/>
          <p:nvPr/>
        </p:nvSpPr>
        <p:spPr>
          <a:xfrm rot="0">
            <a:off x="3489145" y="3354669"/>
            <a:ext cx="14641870" cy="4936067"/>
          </a:xfrm>
          <a:prstGeom prst="rect">
            <a:avLst/>
          </a:prstGeom>
        </p:spPr>
        <p:txBody>
          <a:bodyPr anchor="t" rtlCol="false" tIns="0" lIns="0" bIns="0" rIns="0">
            <a:spAutoFit/>
          </a:bodyPr>
          <a:lstStyle/>
          <a:p>
            <a:pPr algn="l">
              <a:lnSpc>
                <a:spcPts val="3558"/>
              </a:lnSpc>
              <a:spcBef>
                <a:spcPct val="0"/>
              </a:spcBef>
            </a:pPr>
            <a:r>
              <a:rPr lang="en-US" sz="2541">
                <a:solidFill>
                  <a:srgbClr val="2A0947"/>
                </a:solidFill>
                <a:latin typeface="Poppins"/>
                <a:ea typeface="Poppins"/>
                <a:cs typeface="Poppins"/>
                <a:sym typeface="Poppins"/>
              </a:rPr>
              <a:t>ACHP should build a carrier exit early-warning system that monitors star rating trends, HHI shifts, and carrier filing signals monthly, prioritizing counties with high PPO and HMO-POS concentration. Our analysis shows that High Pickup counties experienced star rating declines extending to -0.27 post-exit, indicating that strong competitors were withdrawing and market quality was deteriorating — these are precisely the markets where ACHP achieved its highest enrollment gains. When declining star ratings and rising market concentration are detected in a county, ACHP should immediately secure plan filings, activate broker outreach, and establish local market presence ahead of the open enrollment window — so that when beneficiaries are forced to choose, ACHP is already a visible and accessible option, not a late entrant competing after switching decisions have already been made.</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68245" y="262323"/>
            <a:ext cx="5159797" cy="457836"/>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Archivo Black"/>
                <a:ea typeface="Archivo Black"/>
                <a:cs typeface="Archivo Black"/>
                <a:sym typeface="Archivo Black"/>
              </a:rPr>
              <a:t>Sponsor Meeting Takeaways</a:t>
            </a:r>
          </a:p>
        </p:txBody>
      </p:sp>
      <p:sp>
        <p:nvSpPr>
          <p:cNvPr name="TextBox 3" id="3"/>
          <p:cNvSpPr txBox="true"/>
          <p:nvPr/>
        </p:nvSpPr>
        <p:spPr>
          <a:xfrm rot="0">
            <a:off x="568245" y="1127760"/>
            <a:ext cx="7596863" cy="4080510"/>
          </a:xfrm>
          <a:prstGeom prst="rect">
            <a:avLst/>
          </a:prstGeom>
        </p:spPr>
        <p:txBody>
          <a:bodyPr anchor="t" rtlCol="false" tIns="0" lIns="0" bIns="0" rIns="0">
            <a:spAutoFit/>
          </a:bodyPr>
          <a:lstStyle/>
          <a:p>
            <a:pPr algn="l">
              <a:lnSpc>
                <a:spcPts val="2939"/>
              </a:lnSpc>
              <a:spcBef>
                <a:spcPct val="0"/>
              </a:spcBef>
            </a:pPr>
            <a:r>
              <a:rPr lang="en-US" sz="2099">
                <a:solidFill>
                  <a:srgbClr val="FF5757"/>
                </a:solidFill>
                <a:latin typeface="Archivo Black"/>
                <a:ea typeface="Archivo Black"/>
                <a:cs typeface="Archivo Black"/>
                <a:sym typeface="Archivo Black"/>
              </a:rPr>
              <a:t>How to Define Competitiveness </a:t>
            </a:r>
          </a:p>
          <a:p>
            <a:pPr algn="l">
              <a:lnSpc>
                <a:spcPts val="2939"/>
              </a:lnSpc>
              <a:spcBef>
                <a:spcPct val="0"/>
              </a:spcBef>
            </a:pPr>
            <a:r>
              <a:rPr lang="en-US" sz="2099">
                <a:solidFill>
                  <a:srgbClr val="000000"/>
                </a:solidFill>
                <a:latin typeface="Archivo Black"/>
                <a:ea typeface="Archivo Black"/>
                <a:cs typeface="Archivo Black"/>
                <a:sym typeface="Archivo Black"/>
              </a:rPr>
              <a:t>The sponsor made clear that competitiveness is multi-dimensional, not just enrollment growth. Key KPIs to prioritize:</a:t>
            </a:r>
          </a:p>
          <a:p>
            <a:pPr algn="l">
              <a:lnSpc>
                <a:spcPts val="2939"/>
              </a:lnSpc>
              <a:spcBef>
                <a:spcPct val="0"/>
              </a:spcBef>
            </a:pPr>
            <a:r>
              <a:rPr lang="en-US" sz="2099">
                <a:solidFill>
                  <a:srgbClr val="000000"/>
                </a:solidFill>
                <a:latin typeface="Archivo Black"/>
                <a:ea typeface="Archivo Black"/>
                <a:cs typeface="Archivo Black"/>
                <a:sym typeface="Archivo Black"/>
              </a:rPr>
              <a:t>•Affordability — this is a central metric the sponsor emphasized</a:t>
            </a:r>
          </a:p>
          <a:p>
            <a:pPr algn="l">
              <a:lnSpc>
                <a:spcPts val="2939"/>
              </a:lnSpc>
              <a:spcBef>
                <a:spcPct val="0"/>
              </a:spcBef>
            </a:pPr>
            <a:r>
              <a:rPr lang="en-US" sz="2099">
                <a:solidFill>
                  <a:srgbClr val="000000"/>
                </a:solidFill>
                <a:latin typeface="Archivo Black"/>
                <a:ea typeface="Archivo Black"/>
                <a:cs typeface="Archivo Black"/>
                <a:sym typeface="Archivo Black"/>
              </a:rPr>
              <a:t>•Specific condition-based affordability indicators flagged: diabetes, hypertension, childhood disability</a:t>
            </a:r>
          </a:p>
          <a:p>
            <a:pPr algn="l">
              <a:lnSpc>
                <a:spcPts val="2939"/>
              </a:lnSpc>
              <a:spcBef>
                <a:spcPct val="0"/>
              </a:spcBef>
            </a:pPr>
            <a:r>
              <a:rPr lang="en-US" sz="2099">
                <a:solidFill>
                  <a:srgbClr val="000000"/>
                </a:solidFill>
                <a:latin typeface="Archivo Black"/>
                <a:ea typeface="Archivo Black"/>
                <a:cs typeface="Archivo Black"/>
                <a:sym typeface="Archivo Black"/>
              </a:rPr>
              <a:t>Any data point that is insightful around how ACHP thinks about affordability should be </a:t>
            </a:r>
          </a:p>
        </p:txBody>
      </p:sp>
      <p:sp>
        <p:nvSpPr>
          <p:cNvPr name="TextBox 4" id="4"/>
          <p:cNvSpPr txBox="true"/>
          <p:nvPr/>
        </p:nvSpPr>
        <p:spPr>
          <a:xfrm rot="0">
            <a:off x="764851" y="6291373"/>
            <a:ext cx="7002770" cy="3337560"/>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Archivo Black"/>
                <a:ea typeface="Archivo Black"/>
                <a:cs typeface="Archivo Black"/>
                <a:sym typeface="Archivo Black"/>
              </a:rPr>
              <a:t>•National carrier exit — how large insurers are going in and out of markets is a critical dynamic to track</a:t>
            </a:r>
          </a:p>
          <a:p>
            <a:pPr algn="l">
              <a:lnSpc>
                <a:spcPts val="2939"/>
              </a:lnSpc>
              <a:spcBef>
                <a:spcPct val="0"/>
              </a:spcBef>
            </a:pPr>
            <a:r>
              <a:rPr lang="en-US" sz="2099">
                <a:solidFill>
                  <a:srgbClr val="000000"/>
                </a:solidFill>
                <a:latin typeface="Archivo Black"/>
                <a:ea typeface="Archivo Black"/>
                <a:cs typeface="Archivo Black"/>
                <a:sym typeface="Archivo Black"/>
              </a:rPr>
              <a:t>•Oncology drugs — patients are living longer but the cost is very high; sponsor framed it as: "They love folks living longer but it's expensive"</a:t>
            </a:r>
          </a:p>
          <a:p>
            <a:pPr algn="l">
              <a:lnSpc>
                <a:spcPts val="2939"/>
              </a:lnSpc>
              <a:spcBef>
                <a:spcPct val="0"/>
              </a:spcBef>
            </a:pPr>
            <a:r>
              <a:rPr lang="en-US" sz="2099">
                <a:solidFill>
                  <a:srgbClr val="000000"/>
                </a:solidFill>
                <a:latin typeface="Archivo Black"/>
                <a:ea typeface="Archivo Black"/>
                <a:cs typeface="Archivo Black"/>
                <a:sym typeface="Archivo Black"/>
              </a:rPr>
              <a:t>•GLP-1 drugs (e.g., Ozempic/Wegovy) — high-cost, growing utilization, major affordability pressure</a:t>
            </a:r>
          </a:p>
        </p:txBody>
      </p:sp>
      <p:sp>
        <p:nvSpPr>
          <p:cNvPr name="TextBox 5" id="5"/>
          <p:cNvSpPr txBox="true"/>
          <p:nvPr/>
        </p:nvSpPr>
        <p:spPr>
          <a:xfrm rot="0">
            <a:off x="10002330" y="5936932"/>
            <a:ext cx="4787846" cy="2725420"/>
          </a:xfrm>
          <a:prstGeom prst="rect">
            <a:avLst/>
          </a:prstGeom>
        </p:spPr>
        <p:txBody>
          <a:bodyPr anchor="t" rtlCol="false" tIns="0" lIns="0" bIns="0" rIns="0">
            <a:spAutoFit/>
          </a:bodyPr>
          <a:lstStyle/>
          <a:p>
            <a:pPr algn="l">
              <a:lnSpc>
                <a:spcPts val="3079"/>
              </a:lnSpc>
              <a:spcBef>
                <a:spcPct val="0"/>
              </a:spcBef>
            </a:pPr>
            <a:r>
              <a:rPr lang="en-US" sz="2199">
                <a:solidFill>
                  <a:srgbClr val="FF5757"/>
                </a:solidFill>
                <a:latin typeface="Archivo Black"/>
                <a:ea typeface="Archivo Black"/>
                <a:cs typeface="Archivo Black"/>
                <a:sym typeface="Archivo Black"/>
              </a:rPr>
              <a:t>Priority Regions &amp; Markets </a:t>
            </a:r>
          </a:p>
          <a:p>
            <a:pPr algn="l">
              <a:lnSpc>
                <a:spcPts val="3079"/>
              </a:lnSpc>
              <a:spcBef>
                <a:spcPct val="0"/>
              </a:spcBef>
            </a:pPr>
            <a:r>
              <a:rPr lang="en-US" sz="2199">
                <a:solidFill>
                  <a:srgbClr val="000000"/>
                </a:solidFill>
                <a:latin typeface="Archivo Black"/>
                <a:ea typeface="Archivo Black"/>
                <a:cs typeface="Archivo Black"/>
                <a:sym typeface="Archivo Black"/>
              </a:rPr>
              <a:t>•The sponsor specifically called out:</a:t>
            </a:r>
          </a:p>
          <a:p>
            <a:pPr algn="l">
              <a:lnSpc>
                <a:spcPts val="3079"/>
              </a:lnSpc>
              <a:spcBef>
                <a:spcPct val="0"/>
              </a:spcBef>
            </a:pPr>
            <a:r>
              <a:rPr lang="en-US" sz="2199">
                <a:solidFill>
                  <a:srgbClr val="000000"/>
                </a:solidFill>
                <a:latin typeface="Archivo Black"/>
                <a:ea typeface="Archivo Black"/>
                <a:cs typeface="Archivo Black"/>
                <a:sym typeface="Archivo Black"/>
              </a:rPr>
              <a:t>•Midwest as the priority geographic focus</a:t>
            </a:r>
          </a:p>
          <a:p>
            <a:pPr algn="l">
              <a:lnSpc>
                <a:spcPts val="3079"/>
              </a:lnSpc>
              <a:spcBef>
                <a:spcPct val="0"/>
              </a:spcBef>
            </a:pPr>
            <a:r>
              <a:rPr lang="en-US" sz="2199">
                <a:solidFill>
                  <a:srgbClr val="000000"/>
                </a:solidFill>
                <a:latin typeface="Archivo Black"/>
                <a:ea typeface="Archivo Black"/>
                <a:cs typeface="Archivo Black"/>
                <a:sym typeface="Archivo Black"/>
              </a:rPr>
              <a:t>•Mentioned Wisconsin and Michigan</a:t>
            </a:r>
          </a:p>
        </p:txBody>
      </p:sp>
      <p:sp>
        <p:nvSpPr>
          <p:cNvPr name="TextBox 6" id="6"/>
          <p:cNvSpPr txBox="true"/>
          <p:nvPr/>
        </p:nvSpPr>
        <p:spPr>
          <a:xfrm rot="0">
            <a:off x="9364731" y="1127760"/>
            <a:ext cx="7695319" cy="2966085"/>
          </a:xfrm>
          <a:prstGeom prst="rect">
            <a:avLst/>
          </a:prstGeom>
        </p:spPr>
        <p:txBody>
          <a:bodyPr anchor="t" rtlCol="false" tIns="0" lIns="0" bIns="0" rIns="0">
            <a:spAutoFit/>
          </a:bodyPr>
          <a:lstStyle/>
          <a:p>
            <a:pPr algn="l">
              <a:lnSpc>
                <a:spcPts val="2939"/>
              </a:lnSpc>
              <a:spcBef>
                <a:spcPct val="0"/>
              </a:spcBef>
            </a:pPr>
            <a:r>
              <a:rPr lang="en-US" sz="2099">
                <a:solidFill>
                  <a:srgbClr val="FF5757"/>
                </a:solidFill>
                <a:latin typeface="Archivo Black"/>
                <a:ea typeface="Archivo Black"/>
                <a:cs typeface="Archivo Black"/>
                <a:sym typeface="Archivo Black"/>
              </a:rPr>
              <a:t>Level of Analysis for Benchmarking</a:t>
            </a:r>
          </a:p>
          <a:p>
            <a:pPr algn="l">
              <a:lnSpc>
                <a:spcPts val="2939"/>
              </a:lnSpc>
              <a:spcBef>
                <a:spcPct val="0"/>
              </a:spcBef>
            </a:pPr>
            <a:r>
              <a:rPr lang="en-US" sz="2099">
                <a:solidFill>
                  <a:srgbClr val="000000"/>
                </a:solidFill>
                <a:latin typeface="Archivo Black"/>
                <a:ea typeface="Archivo Black"/>
                <a:cs typeface="Archivo Black"/>
                <a:sym typeface="Archivo Black"/>
              </a:rPr>
              <a:t>The sponsor was clear:</a:t>
            </a:r>
          </a:p>
          <a:p>
            <a:pPr algn="l">
              <a:lnSpc>
                <a:spcPts val="2939"/>
              </a:lnSpc>
              <a:spcBef>
                <a:spcPct val="0"/>
              </a:spcBef>
            </a:pPr>
            <a:r>
              <a:rPr lang="en-US" sz="2099">
                <a:solidFill>
                  <a:srgbClr val="000000"/>
                </a:solidFill>
                <a:latin typeface="Archivo Black"/>
                <a:ea typeface="Archivo Black"/>
                <a:cs typeface="Archivo Black"/>
                <a:sym typeface="Archivo Black"/>
              </a:rPr>
              <a:t>•Primary analysis at the contract level</a:t>
            </a:r>
          </a:p>
          <a:p>
            <a:pPr algn="l">
              <a:lnSpc>
                <a:spcPts val="2939"/>
              </a:lnSpc>
              <a:spcBef>
                <a:spcPct val="0"/>
              </a:spcBef>
            </a:pPr>
            <a:r>
              <a:rPr lang="en-US" sz="2099">
                <a:solidFill>
                  <a:srgbClr val="000000"/>
                </a:solidFill>
                <a:latin typeface="Archivo Black"/>
                <a:ea typeface="Archivo Black"/>
                <a:cs typeface="Archivo Black"/>
                <a:sym typeface="Archivo Black"/>
              </a:rPr>
              <a:t>•Roll up to parent organization level for competitive comparisons</a:t>
            </a:r>
          </a:p>
          <a:p>
            <a:pPr algn="l">
              <a:lnSpc>
                <a:spcPts val="2939"/>
              </a:lnSpc>
              <a:spcBef>
                <a:spcPct val="0"/>
              </a:spcBef>
            </a:pPr>
            <a:r>
              <a:rPr lang="en-US" sz="2099">
                <a:solidFill>
                  <a:srgbClr val="000000"/>
                </a:solidFill>
                <a:latin typeface="Archivo Black"/>
                <a:ea typeface="Archivo Black"/>
                <a:cs typeface="Archivo Black"/>
                <a:sym typeface="Archivo Black"/>
              </a:rPr>
              <a:t>•The crosswalk file is the critical linking tool — maps ACHP contracts to parent organizations including Athena, United, and other national carriers</a:t>
            </a:r>
          </a:p>
        </p:txBody>
      </p:sp>
      <p:sp>
        <p:nvSpPr>
          <p:cNvPr name="TextBox 7" id="7"/>
          <p:cNvSpPr txBox="true"/>
          <p:nvPr/>
        </p:nvSpPr>
        <p:spPr>
          <a:xfrm rot="0">
            <a:off x="398033" y="5777865"/>
            <a:ext cx="7127379" cy="365760"/>
          </a:xfrm>
          <a:prstGeom prst="rect">
            <a:avLst/>
          </a:prstGeom>
        </p:spPr>
        <p:txBody>
          <a:bodyPr anchor="t" rtlCol="false" tIns="0" lIns="0" bIns="0" rIns="0">
            <a:spAutoFit/>
          </a:bodyPr>
          <a:lstStyle/>
          <a:p>
            <a:pPr algn="ctr">
              <a:lnSpc>
                <a:spcPts val="2939"/>
              </a:lnSpc>
              <a:spcBef>
                <a:spcPct val="0"/>
              </a:spcBef>
            </a:pPr>
            <a:r>
              <a:rPr lang="en-US" sz="2099">
                <a:solidFill>
                  <a:srgbClr val="FF5757"/>
                </a:solidFill>
                <a:latin typeface="Archivo Black"/>
                <a:ea typeface="Archivo Black"/>
                <a:cs typeface="Archivo Black"/>
                <a:sym typeface="Archivo Black"/>
              </a:rPr>
              <a:t>The sponsor flagged three major pressure areas:</a:t>
            </a:r>
          </a:p>
        </p:txBody>
      </p:sp>
      <p:sp>
        <p:nvSpPr>
          <p:cNvPr name="TextBox 8" id="8"/>
          <p:cNvSpPr txBox="true"/>
          <p:nvPr/>
        </p:nvSpPr>
        <p:spPr>
          <a:xfrm rot="0">
            <a:off x="14865772" y="9210675"/>
            <a:ext cx="2194279" cy="3327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Archivo Black"/>
                <a:ea typeface="Archivo Black"/>
                <a:cs typeface="Archivo Black"/>
                <a:sym typeface="Archivo Black"/>
              </a:rPr>
              <a:t>Shaibah Raiyan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077684" y="2745513"/>
            <a:ext cx="5454396" cy="1509419"/>
          </a:xfrm>
          <a:prstGeom prst="rect">
            <a:avLst/>
          </a:prstGeom>
        </p:spPr>
        <p:txBody>
          <a:bodyPr anchor="t" rtlCol="false" tIns="0" lIns="0" bIns="0" rIns="0">
            <a:spAutoFit/>
          </a:bodyPr>
          <a:lstStyle/>
          <a:p>
            <a:pPr algn="r">
              <a:lnSpc>
                <a:spcPts val="12353"/>
              </a:lnSpc>
              <a:spcBef>
                <a:spcPct val="0"/>
              </a:spcBef>
            </a:pPr>
            <a:r>
              <a:rPr lang="en-US" sz="8824">
                <a:solidFill>
                  <a:srgbClr val="000000"/>
                </a:solidFill>
                <a:latin typeface="League Spartan"/>
                <a:ea typeface="League Spartan"/>
                <a:cs typeface="League Spartan"/>
                <a:sym typeface="League Spartan"/>
              </a:rPr>
              <a:t>THANK</a:t>
            </a:r>
          </a:p>
        </p:txBody>
      </p:sp>
      <p:sp>
        <p:nvSpPr>
          <p:cNvPr name="TextBox 3" id="3"/>
          <p:cNvSpPr txBox="true"/>
          <p:nvPr/>
        </p:nvSpPr>
        <p:spPr>
          <a:xfrm rot="0">
            <a:off x="9783686" y="2745513"/>
            <a:ext cx="4688690" cy="1509419"/>
          </a:xfrm>
          <a:prstGeom prst="rect">
            <a:avLst/>
          </a:prstGeom>
        </p:spPr>
        <p:txBody>
          <a:bodyPr anchor="t" rtlCol="false" tIns="0" lIns="0" bIns="0" rIns="0">
            <a:spAutoFit/>
          </a:bodyPr>
          <a:lstStyle/>
          <a:p>
            <a:pPr algn="l">
              <a:lnSpc>
                <a:spcPts val="12353"/>
              </a:lnSpc>
              <a:spcBef>
                <a:spcPct val="0"/>
              </a:spcBef>
            </a:pPr>
            <a:r>
              <a:rPr lang="en-US" sz="8824">
                <a:solidFill>
                  <a:srgbClr val="004AAD"/>
                </a:solidFill>
                <a:latin typeface="League Spartan"/>
                <a:ea typeface="League Spartan"/>
                <a:cs typeface="League Spartan"/>
                <a:sym typeface="League Spartan"/>
              </a:rPr>
              <a:t>YOU</a:t>
            </a:r>
          </a:p>
        </p:txBody>
      </p:sp>
      <p:sp>
        <p:nvSpPr>
          <p:cNvPr name="AutoShape 4" id="4"/>
          <p:cNvSpPr/>
          <p:nvPr/>
        </p:nvSpPr>
        <p:spPr>
          <a:xfrm rot="0">
            <a:off x="5132705" y="4235516"/>
            <a:ext cx="7508240" cy="0"/>
          </a:xfrm>
          <a:prstGeom prst="line">
            <a:avLst/>
          </a:prstGeom>
          <a:ln cap="flat" w="38100">
            <a:solidFill>
              <a:srgbClr val="000000"/>
            </a:solidFill>
            <a:prstDash val="solid"/>
            <a:headEnd type="none" len="sm" w="sm"/>
            <a:tailEnd type="none" len="sm" w="sm"/>
          </a:ln>
        </p:spPr>
      </p:sp>
      <p:grpSp>
        <p:nvGrpSpPr>
          <p:cNvPr name="Group 5" id="5"/>
          <p:cNvGrpSpPr/>
          <p:nvPr/>
        </p:nvGrpSpPr>
        <p:grpSpPr>
          <a:xfrm rot="0">
            <a:off x="-495300" y="0"/>
            <a:ext cx="1028700" cy="4235516"/>
            <a:chOff x="0" y="0"/>
            <a:chExt cx="270933" cy="1115527"/>
          </a:xfrm>
        </p:grpSpPr>
        <p:sp>
          <p:nvSpPr>
            <p:cNvPr name="Freeform 6" id="6"/>
            <p:cNvSpPr/>
            <p:nvPr/>
          </p:nvSpPr>
          <p:spPr>
            <a:xfrm flipH="false" flipV="false" rot="0">
              <a:off x="0" y="0"/>
              <a:ext cx="270933" cy="1115527"/>
            </a:xfrm>
            <a:custGeom>
              <a:avLst/>
              <a:gdLst/>
              <a:ahLst/>
              <a:cxnLst/>
              <a:rect r="r" b="b" t="t" l="l"/>
              <a:pathLst>
                <a:path h="1115527" w="270933">
                  <a:moveTo>
                    <a:pt x="0" y="0"/>
                  </a:moveTo>
                  <a:lnTo>
                    <a:pt x="270933" y="0"/>
                  </a:lnTo>
                  <a:lnTo>
                    <a:pt x="270933" y="1115527"/>
                  </a:lnTo>
                  <a:lnTo>
                    <a:pt x="0" y="1115527"/>
                  </a:lnTo>
                  <a:close/>
                </a:path>
              </a:pathLst>
            </a:custGeom>
            <a:solidFill>
              <a:srgbClr val="EFEF89"/>
            </a:solidFill>
          </p:spPr>
        </p:sp>
        <p:sp>
          <p:nvSpPr>
            <p:cNvPr name="TextBox 7" id="7"/>
            <p:cNvSpPr txBox="true"/>
            <p:nvPr/>
          </p:nvSpPr>
          <p:spPr>
            <a:xfrm>
              <a:off x="0" y="-47625"/>
              <a:ext cx="270933" cy="116315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95300" y="4664983"/>
            <a:ext cx="1028700" cy="1048907"/>
            <a:chOff x="0" y="0"/>
            <a:chExt cx="270933" cy="276255"/>
          </a:xfrm>
        </p:grpSpPr>
        <p:sp>
          <p:nvSpPr>
            <p:cNvPr name="Freeform 9" id="9"/>
            <p:cNvSpPr/>
            <p:nvPr/>
          </p:nvSpPr>
          <p:spPr>
            <a:xfrm flipH="false" flipV="false" rot="0">
              <a:off x="0" y="0"/>
              <a:ext cx="270933" cy="276255"/>
            </a:xfrm>
            <a:custGeom>
              <a:avLst/>
              <a:gdLst/>
              <a:ahLst/>
              <a:cxnLst/>
              <a:rect r="r" b="b" t="t" l="l"/>
              <a:pathLst>
                <a:path h="276255" w="270933">
                  <a:moveTo>
                    <a:pt x="0" y="0"/>
                  </a:moveTo>
                  <a:lnTo>
                    <a:pt x="270933" y="0"/>
                  </a:lnTo>
                  <a:lnTo>
                    <a:pt x="270933" y="276255"/>
                  </a:lnTo>
                  <a:lnTo>
                    <a:pt x="0" y="276255"/>
                  </a:lnTo>
                  <a:close/>
                </a:path>
              </a:pathLst>
            </a:custGeom>
            <a:solidFill>
              <a:srgbClr val="EFEF89"/>
            </a:solidFill>
          </p:spPr>
        </p:sp>
        <p:sp>
          <p:nvSpPr>
            <p:cNvPr name="TextBox 10" id="10"/>
            <p:cNvSpPr txBox="true"/>
            <p:nvPr/>
          </p:nvSpPr>
          <p:spPr>
            <a:xfrm>
              <a:off x="0" y="-47625"/>
              <a:ext cx="270933" cy="32388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10800000">
            <a:off x="17754349" y="6051484"/>
            <a:ext cx="1028700" cy="4235516"/>
            <a:chOff x="0" y="0"/>
            <a:chExt cx="270933" cy="1115527"/>
          </a:xfrm>
        </p:grpSpPr>
        <p:sp>
          <p:nvSpPr>
            <p:cNvPr name="Freeform 12" id="12"/>
            <p:cNvSpPr/>
            <p:nvPr/>
          </p:nvSpPr>
          <p:spPr>
            <a:xfrm flipH="false" flipV="false" rot="0">
              <a:off x="0" y="0"/>
              <a:ext cx="270933" cy="1115527"/>
            </a:xfrm>
            <a:custGeom>
              <a:avLst/>
              <a:gdLst/>
              <a:ahLst/>
              <a:cxnLst/>
              <a:rect r="r" b="b" t="t" l="l"/>
              <a:pathLst>
                <a:path h="1115527" w="270933">
                  <a:moveTo>
                    <a:pt x="0" y="0"/>
                  </a:moveTo>
                  <a:lnTo>
                    <a:pt x="270933" y="0"/>
                  </a:lnTo>
                  <a:lnTo>
                    <a:pt x="270933" y="1115527"/>
                  </a:lnTo>
                  <a:lnTo>
                    <a:pt x="0" y="1115527"/>
                  </a:lnTo>
                  <a:close/>
                </a:path>
              </a:pathLst>
            </a:custGeom>
            <a:solidFill>
              <a:srgbClr val="EFEF89"/>
            </a:solidFill>
          </p:spPr>
        </p:sp>
        <p:sp>
          <p:nvSpPr>
            <p:cNvPr name="TextBox 13" id="13"/>
            <p:cNvSpPr txBox="true"/>
            <p:nvPr/>
          </p:nvSpPr>
          <p:spPr>
            <a:xfrm>
              <a:off x="0" y="-47625"/>
              <a:ext cx="270933" cy="116315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10800000">
            <a:off x="17754349" y="4573111"/>
            <a:ext cx="1028700" cy="1048907"/>
            <a:chOff x="0" y="0"/>
            <a:chExt cx="270933" cy="276255"/>
          </a:xfrm>
        </p:grpSpPr>
        <p:sp>
          <p:nvSpPr>
            <p:cNvPr name="Freeform 15" id="15"/>
            <p:cNvSpPr/>
            <p:nvPr/>
          </p:nvSpPr>
          <p:spPr>
            <a:xfrm flipH="false" flipV="false" rot="0">
              <a:off x="0" y="0"/>
              <a:ext cx="270933" cy="276255"/>
            </a:xfrm>
            <a:custGeom>
              <a:avLst/>
              <a:gdLst/>
              <a:ahLst/>
              <a:cxnLst/>
              <a:rect r="r" b="b" t="t" l="l"/>
              <a:pathLst>
                <a:path h="276255" w="270933">
                  <a:moveTo>
                    <a:pt x="0" y="0"/>
                  </a:moveTo>
                  <a:lnTo>
                    <a:pt x="270933" y="0"/>
                  </a:lnTo>
                  <a:lnTo>
                    <a:pt x="270933" y="276255"/>
                  </a:lnTo>
                  <a:lnTo>
                    <a:pt x="0" y="276255"/>
                  </a:lnTo>
                  <a:close/>
                </a:path>
              </a:pathLst>
            </a:custGeom>
            <a:solidFill>
              <a:srgbClr val="EFEF89"/>
            </a:solidFill>
          </p:spPr>
        </p:sp>
        <p:sp>
          <p:nvSpPr>
            <p:cNvPr name="TextBox 16" id="16"/>
            <p:cNvSpPr txBox="true"/>
            <p:nvPr/>
          </p:nvSpPr>
          <p:spPr>
            <a:xfrm>
              <a:off x="0" y="-47625"/>
              <a:ext cx="270933" cy="32388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5380614" y="1028700"/>
            <a:ext cx="1878686" cy="469671"/>
          </a:xfrm>
          <a:custGeom>
            <a:avLst/>
            <a:gdLst/>
            <a:ahLst/>
            <a:cxnLst/>
            <a:rect r="r" b="b" t="t" l="l"/>
            <a:pathLst>
              <a:path h="469671" w="1878686">
                <a:moveTo>
                  <a:pt x="0" y="0"/>
                </a:moveTo>
                <a:lnTo>
                  <a:pt x="1878686" y="0"/>
                </a:lnTo>
                <a:lnTo>
                  <a:pt x="1878686" y="469671"/>
                </a:lnTo>
                <a:lnTo>
                  <a:pt x="0" y="469671"/>
                </a:lnTo>
                <a:lnTo>
                  <a:pt x="0" y="0"/>
                </a:lnTo>
                <a:close/>
              </a:path>
            </a:pathLst>
          </a:custGeom>
          <a:blipFill>
            <a:blip r:embed="rId2">
              <a:alphaModFix amt="69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DAHGgjLtNU0</dc:identifier>
  <dcterms:modified xsi:type="dcterms:W3CDTF">2011-08-01T06:04:30Z</dcterms:modified>
  <cp:revision>1</cp:revision>
  <dc:title>Yellow &amp; white company business presentation</dc:title>
</cp:coreProperties>
</file>